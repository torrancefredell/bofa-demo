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"You just watched the proof of concept — now let's do it for real, in four simple beats. One: we pick what to test — which slice of your Angular 14 estate Devin starts on; the shared library is the natural first pick, but it's your call. Two: the pilot phase — a quick security and data review, then Devin migrates real code, 14 to 18, with your engineers reviewing every PR, same as you saw today. Three: we see how it did — back in this room at week four, measured against success criteria you defined up front. Four: if it earned its keep, we deploy Devin fully — downstream apps in parallel, then the rest of the maintenance backlog. If it didn't, you've spent four weeks finding out."</a:t>
            </a:r>
          </a:p>
          <a:p/>
          <a:p>
            <a:r>
              <a:t>Why the shared library as the pilot slice: it's the root of the dependency tree — proving it there de-risks everything downstream, and it's the exact shape of what they saw in the demo. If they'd rather start on a lower-stakes repo, flex immediately; the structure holds.</a:t>
            </a:r>
          </a:p>
          <a:p/>
          <a:p>
            <a:r>
              <a:t>Assign ownership live: estate scoping → Chief Architect (they know the dependency tree); security review → Security Engineer; sponsorship + success criteria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ectangle 6"/>
          <p:cNvSpPr/>
          <p:nvPr/>
        </p:nvSpPr>
        <p:spPr>
          <a:xfrm>
            <a:off x="502920" y="1801368"/>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Isolated</a:t>
            </a:r>
          </a:p>
        </p:txBody>
      </p:sp>
      <p:sp>
        <p:nvSpPr>
          <p:cNvPr id="9" name="TextBox 8"/>
          <p:cNvSpPr txBox="1"/>
          <p:nvPr/>
        </p:nvSpPr>
        <p:spPr>
          <a:xfrm>
            <a:off x="4069080" y="1691640"/>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One isolated machine per session — encrypted in transit &amp; at rest.</a:t>
            </a:r>
          </a:p>
        </p:txBody>
      </p:sp>
      <p:sp>
        <p:nvSpPr>
          <p:cNvPr id="10" name="Rectangle 9"/>
          <p:cNvSpPr/>
          <p:nvPr/>
        </p:nvSpPr>
        <p:spPr>
          <a:xfrm>
            <a:off x="502920" y="2569464"/>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53512"/>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3784"/>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Private</a:t>
            </a:r>
          </a:p>
        </p:txBody>
      </p:sp>
      <p:sp>
        <p:nvSpPr>
          <p:cNvPr id="13" name="TextBox 12"/>
          <p:cNvSpPr txBox="1"/>
          <p:nvPr/>
        </p:nvSpPr>
        <p:spPr>
          <a:xfrm>
            <a:off x="4069080" y="2843784"/>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Enterprise Cloud, or a single-tenant VPC connected via AWS PrivateLink.</a:t>
            </a:r>
          </a:p>
        </p:txBody>
      </p:sp>
      <p:sp>
        <p:nvSpPr>
          <p:cNvPr id="14" name="Rectangle 13"/>
          <p:cNvSpPr/>
          <p:nvPr/>
        </p:nvSpPr>
        <p:spPr>
          <a:xfrm>
            <a:off x="502920" y="3721608"/>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105656"/>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Controlled</a:t>
            </a:r>
          </a:p>
        </p:txBody>
      </p:sp>
      <p:sp>
        <p:nvSpPr>
          <p:cNvPr id="17" name="TextBox 16"/>
          <p:cNvSpPr txBox="1"/>
          <p:nvPr/>
        </p:nvSpPr>
        <p:spPr>
          <a:xfrm>
            <a:off x="4069080" y="3995928"/>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SSO (Okta / Entra / SAML) — and nothing merges without your review.</a:t>
            </a:r>
          </a:p>
        </p:txBody>
      </p:sp>
      <p:sp>
        <p:nvSpPr>
          <p:cNvPr id="18" name="Rectangle 17"/>
          <p:cNvSpPr/>
          <p:nvPr/>
        </p:nvSpPr>
        <p:spPr>
          <a:xfrm>
            <a:off x="0" y="5349240"/>
            <a:ext cx="12191695" cy="9144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13832"/>
            <a:ext cx="10698480" cy="594360"/>
          </a:xfrm>
          <a:prstGeom prst="rect">
            <a:avLst/>
          </a:prstGeom>
          <a:noFill/>
        </p:spPr>
        <p:txBody>
          <a:bodyPr wrap="square" anchor="ctr">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44752"/>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719072"/>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83080"/>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1</a:t>
            </a:r>
          </a:p>
        </p:txBody>
      </p:sp>
      <p:sp>
        <p:nvSpPr>
          <p:cNvPr id="10" name="TextBox 9"/>
          <p:cNvSpPr txBox="1"/>
          <p:nvPr/>
        </p:nvSpPr>
        <p:spPr>
          <a:xfrm>
            <a:off x="1508760" y="1444752"/>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This week</a:t>
            </a:r>
          </a:p>
        </p:txBody>
      </p:sp>
      <p:sp>
        <p:nvSpPr>
          <p:cNvPr id="11" name="TextBox 10"/>
          <p:cNvSpPr txBox="1"/>
          <p:nvPr/>
        </p:nvSpPr>
        <p:spPr>
          <a:xfrm>
            <a:off x="3017520" y="1444752"/>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Pick what to test</a:t>
            </a:r>
          </a:p>
          <a:p>
            <a:pPr algn="l">
              <a:lnSpc>
                <a:spcPct val="100000"/>
              </a:lnSpc>
              <a:spcAft>
                <a:spcPts val="600"/>
              </a:spcAft>
            </a:pPr>
            <a:r>
              <a:rPr sz="1200" b="0" i="0">
                <a:solidFill>
                  <a:srgbClr val="1C2430"/>
                </a:solidFill>
                <a:latin typeface="Roboto"/>
              </a:rPr>
              <a:t>Choose the Angular 14.x slice Devin starts on — the shared library is the natural first pick</a:t>
            </a:r>
          </a:p>
        </p:txBody>
      </p:sp>
      <p:sp>
        <p:nvSpPr>
          <p:cNvPr id="12" name="Rounded Rectangle 11"/>
          <p:cNvSpPr/>
          <p:nvPr/>
        </p:nvSpPr>
        <p:spPr>
          <a:xfrm>
            <a:off x="502920" y="2688336"/>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962656"/>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26663"/>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2</a:t>
            </a:r>
          </a:p>
        </p:txBody>
      </p:sp>
      <p:sp>
        <p:nvSpPr>
          <p:cNvPr id="15" name="TextBox 14"/>
          <p:cNvSpPr txBox="1"/>
          <p:nvPr/>
        </p:nvSpPr>
        <p:spPr>
          <a:xfrm>
            <a:off x="1508760" y="2688336"/>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Weeks 1–4</a:t>
            </a:r>
          </a:p>
        </p:txBody>
      </p:sp>
      <p:sp>
        <p:nvSpPr>
          <p:cNvPr id="16" name="TextBox 15"/>
          <p:cNvSpPr txBox="1"/>
          <p:nvPr/>
        </p:nvSpPr>
        <p:spPr>
          <a:xfrm>
            <a:off x="3017520" y="2688336"/>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Pilot phase</a:t>
            </a:r>
          </a:p>
          <a:p>
            <a:pPr algn="l">
              <a:lnSpc>
                <a:spcPct val="100000"/>
              </a:lnSpc>
              <a:spcAft>
                <a:spcPts val="600"/>
              </a:spcAft>
            </a:pPr>
            <a:r>
              <a:rPr sz="1200" b="0" i="0">
                <a:solidFill>
                  <a:srgbClr val="1C2430"/>
                </a:solidFill>
                <a:latin typeface="Roboto"/>
              </a:rPr>
              <a:t>Security review, then Devin migrates real code 14 → 18 — your engineers review every PR</a:t>
            </a:r>
          </a:p>
        </p:txBody>
      </p:sp>
      <p:sp>
        <p:nvSpPr>
          <p:cNvPr id="17" name="Rounded Rectangle 16"/>
          <p:cNvSpPr/>
          <p:nvPr/>
        </p:nvSpPr>
        <p:spPr>
          <a:xfrm>
            <a:off x="502920" y="3931920"/>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4206240"/>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70248"/>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3</a:t>
            </a:r>
          </a:p>
        </p:txBody>
      </p:sp>
      <p:sp>
        <p:nvSpPr>
          <p:cNvPr id="20" name="TextBox 19"/>
          <p:cNvSpPr txBox="1"/>
          <p:nvPr/>
        </p:nvSpPr>
        <p:spPr>
          <a:xfrm>
            <a:off x="1508760" y="3931920"/>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 4</a:t>
            </a:r>
          </a:p>
        </p:txBody>
      </p:sp>
      <p:sp>
        <p:nvSpPr>
          <p:cNvPr id="21" name="TextBox 20"/>
          <p:cNvSpPr txBox="1"/>
          <p:nvPr/>
        </p:nvSpPr>
        <p:spPr>
          <a:xfrm>
            <a:off x="3017520" y="3931920"/>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See how it does</a:t>
            </a:r>
          </a:p>
          <a:p>
            <a:pPr algn="l">
              <a:lnSpc>
                <a:spcPct val="100000"/>
              </a:lnSpc>
              <a:spcAft>
                <a:spcPts val="600"/>
              </a:spcAft>
            </a:pPr>
            <a:r>
              <a:rPr sz="1200" b="0" i="0">
                <a:solidFill>
                  <a:srgbClr val="1C2430"/>
                </a:solidFill>
                <a:latin typeface="Roboto"/>
              </a:rPr>
              <a:t>Readout against your success criteria, in front of this room</a:t>
            </a:r>
          </a:p>
        </p:txBody>
      </p:sp>
      <p:sp>
        <p:nvSpPr>
          <p:cNvPr id="22" name="Rounded Rectangle 21"/>
          <p:cNvSpPr/>
          <p:nvPr/>
        </p:nvSpPr>
        <p:spPr>
          <a:xfrm>
            <a:off x="502920" y="5175504"/>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5449824"/>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513832"/>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4</a:t>
            </a:r>
          </a:p>
        </p:txBody>
      </p:sp>
      <p:sp>
        <p:nvSpPr>
          <p:cNvPr id="25" name="TextBox 24"/>
          <p:cNvSpPr txBox="1"/>
          <p:nvPr/>
        </p:nvSpPr>
        <p:spPr>
          <a:xfrm>
            <a:off x="1508760" y="5175504"/>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After</a:t>
            </a:r>
          </a:p>
        </p:txBody>
      </p:sp>
      <p:sp>
        <p:nvSpPr>
          <p:cNvPr id="26" name="TextBox 25"/>
          <p:cNvSpPr txBox="1"/>
          <p:nvPr/>
        </p:nvSpPr>
        <p:spPr>
          <a:xfrm>
            <a:off x="3017520" y="5175504"/>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Deploy Devin fully</a:t>
            </a:r>
          </a:p>
          <a:p>
            <a:pPr algn="l">
              <a:lnSpc>
                <a:spcPct val="100000"/>
              </a:lnSpc>
              <a:spcAft>
                <a:spcPts val="600"/>
              </a:spcAft>
            </a:pPr>
            <a:r>
              <a:rPr sz="1200" b="0" i="0">
                <a:solidFill>
                  <a:srgbClr val="1C2430"/>
                </a:solidFill>
                <a:latin typeface="Roboto"/>
              </a:rPr>
              <a:t>Downstream apps in parallel — then the rest of the maintenance backlog</a:t>
            </a:r>
          </a:p>
        </p:txBody>
      </p:sp>
      <p:sp>
        <p:nvSpPr>
          <p:cNvPr id="27" name="TextBox 26"/>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