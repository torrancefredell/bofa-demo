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warm and casual — thank them for the time before you touch the deck.</a:t>
            </a:r>
          </a:p>
          <a:p/>
          <a:p>
            <a:r>
              <a:t>"Thanks for making time — I know 45 minutes on your calendars is expensive, so I promise to spend most of it on your actual problem, not on marketing slides."</a:t>
            </a:r>
          </a:p>
          <a:p/>
          <a:p>
            <a:r>
              <a:t>Personal hook (say it here, expand on slide 3): "Quick context on me — before Cognition I was a software engineer at Capital One, so I've lived inside a big bank's SDLC. A lot of what we'll talk about today is stuff I personally lost weekends to."</a:t>
            </a:r>
          </a:p>
          <a:p/>
          <a:p>
            <a:r>
              <a:t>[RESEARCH BEFORE MEETING]</a:t>
            </a:r>
          </a:p>
          <a:p>
            <a:r>
              <a:t>- Confirm exact Angular 14 EOL date your security policy keys off (community EOL was Nov 2023; confirm whether BofA has extended support via HeroDevs/OpenLogic or an internal exception process — this changes the urgency framing).</a:t>
            </a:r>
          </a:p>
          <a:p>
            <a:r>
              <a:t>- Fill in your name/date, and get the attendees' actual names ahead of time — greet by name.</a:t>
            </a:r>
          </a:p>
          <a:p/>
          <a:p>
            <a:r>
              <a:t>[PAUSE] after intro — ask: "Before I dive in: has anything changed since you reached out after the conference? Anything you want to make sure we cover?" Write down what they say and visibly come back to it later — that's how you keep opinionated execs engaged.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flight plan. Two things to call out: the demo is real — live product, on a codebase structured like yours, not a video. And a third of this meeting is reserved for you talking, not me."</a:t>
            </a:r>
          </a:p>
          <a:p/>
          <a:p>
            <a:r>
              <a:t>[ASK] "Does this split work for everyone? If you'd rather go straight to the demo, I'm happy to reshuffle."</a:t>
            </a:r>
          </a:p>
          <a:p/>
          <a:p>
            <a:r>
              <a:t>DERAIL-PREP: This slide is your steering wheel. If the conversation goes sideways later, point back here: "Great question — that's exactly section 5, can I park it for 10 minutes so I can answer it properly?" Parking with a named return time keeps control without shutting anyone down.</a:t>
            </a:r>
          </a:p>
          <a:p/>
          <a:p>
            <a:r>
              <a:t>--- "WHY I'M HERE" — delivered verbally off this slide, ~2 min, no dedicated slide. Keep it brief; you represent Cognition, not your biography:</a:t>
            </a:r>
          </a:p>
          <a:p/>
          <a:p>
            <a:r>
              <a:t>"Quick context on me before we dig in: before Cognition I was a software engineer at Capital One, so I've been on your side of the table — I was the engineer who got voluntold for framework migrations. Spreadsheets of deprecations, chasing a dozen teams for sign-off on shared library changes, compliance deadlines eating weekends. So when I show you Devin today, it's not abstract for me — this is the work I wished someone would take off my plate."</a:t>
            </a:r>
          </a:p>
          <a:p/>
          <a:p>
            <a:r>
              <a:t>Don't make the full why-BofA case here — that now has its own slide (slide 4, right after the problem slide, part of agenda item 2). Just tee it up in one breath: "And I'll say a word in a minute about why I think BofA specifically is the right place for this."</a:t>
            </a:r>
          </a:p>
          <a:p/>
          <a:p>
            <a:r>
              <a:t>[ASK the room] "Who owns the Angular upgrade today — and what did they stop doing to own it?" Then actually wait. The VP of Engineering will usually answer. If they name a person/team, refer back to them later ("so Priya's team gets their roadmap back").</a:t>
            </a:r>
          </a:p>
          <a:p/>
          <a:p>
            <a:r>
              <a:t>[RESEARCH BEFORE MEETING]</a:t>
            </a:r>
          </a:p>
          <a:p>
            <a:r>
              <a:t>- Verify the current BofA tech budget figure (~$13.5B total, $4B+ on new initiatives per BofA Fast Facts) from their most recent earnings call / newsroom.</a:t>
            </a:r>
          </a:p>
          <a:p>
            <a:r>
              <a:t>- Erica stats (2B+ interactions cited publicly), AI patent counts, exec quotes (Aditya Bhasin, Hari Gopalkrishnan) on GenAI for developers.</a:t>
            </a:r>
          </a:p>
          <a:p>
            <a:r>
              <a:t>- Keep the Capital One story factual — they may probe.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non-demo slide. Keep it general — the specific Angular 14→18 story is the demo's job; here you're naming the pattern they live with every day.</a:t>
            </a:r>
          </a:p>
          <a:p/>
          <a:p>
            <a:r>
              <a:t>Talk track: "Here's the pattern I suspect you know well. Frameworks and platforms age out — Angular, Java versions, Spring, on-prem stacks — and your own security policy says unsupported software can't run in production. So upgrades arrive with hard compliance deadlines, they land on your most experienced engineers, and every one of them displaces greenfield work. The backlog doesn't shrink; it compounds. The cruel part: the better your engineers are, the more of them you burn on maintenance nobody will ever see."</a:t>
            </a:r>
          </a:p>
          <a:p/>
          <a:p>
            <a:r>
              <a:t>The "run the bank" number is your credibility anchor — deliver it slowly: "Consistent with industry benchmarks — McKinsey and Gartner both put it here — roughly 70% of a major bank's IT budget goes to 'run the bank' operational maintenance, leaving limited capacity for the work that actually differentiates you. Applied to your own public numbers — $13.5B in tech spend, $4B+ on new initiatives — that maintenance baseline is on the order of $9.5B a year. That is exactly the category of work Devin takes on."</a:t>
            </a:r>
          </a:p>
          <a:p/>
          <a:p>
            <a:r>
              <a:t>McKinsey quote if they want the source verbatim: "'run the bank' and 'mandatory change' spending often represents up to 70 percent of technology budgets... leaving only limited capacity for investments that can drive competitive differentiation."</a:t>
            </a:r>
          </a:p>
          <a:p/>
          <a:p>
            <a:r>
              <a:t>SOURCES (have these open in a tab):</a:t>
            </a:r>
          </a:p>
          <a:p>
            <a:r>
              <a:t>- BofA Fast Facts — $13.5B tech, $4B+ new initiatives: https://newsroom.bankofamerica.com/content/newsroom/company-overview/bank-of-america-fast-facts.html</a:t>
            </a:r>
          </a:p>
          <a:p>
            <a:r>
              <a:t>- McKinsey, "Unlocking value from technology in banking": https://www.mckinsey.com/industries/financial-services/our-insights/unlocking-value-from-technology-in-banking-an-investor-lens</a:t>
            </a:r>
          </a:p>
          <a:p>
            <a:r>
              <a:t>Be clear the ~$9.5B is your own illustrative math (70% of $13.5B), not a figure BofA published — present it as "on the order of," not a hard number, in case someone checks.</a:t>
            </a:r>
          </a:p>
          <a:p/>
          <a:p>
            <a:r>
              <a:t>Bridge to the demo (one line, don't dwell): "Today's concrete example is your Angular 14→18 migration — hard EOL deadline, millions of customers, a shared library with 12+ downstream teams. We'll dig into that live in the demo."</a:t>
            </a:r>
          </a:p>
          <a:p/>
          <a:p>
            <a:r>
              <a:t>Spend real time here and let THEM correct you — being corrected is a win, it means engagement and better intel.</a:t>
            </a:r>
          </a:p>
          <a:p/>
          <a:p>
            <a:r>
              <a:t>[ASK, by persona]</a:t>
            </a:r>
          </a:p>
          <a:p>
            <a:r>
              <a:t>- VP Eng: "How much of your team's capacity goes to maintenance and upgrades versus new build? What's the number you wish it was?"</a:t>
            </a:r>
          </a:p>
          <a:p>
            <a:r>
              <a:t>- Security: "What does your policy actually require when something goes EOL — remediation plan? exception filing? What's your audit exposure today?"</a:t>
            </a:r>
          </a:p>
          <a:p>
            <a:r>
              <a:t>- Architect: "Where's the next EOL clock ticking in your estate — and how does that upgrade propagate through shared dependencies?"</a:t>
            </a:r>
          </a:p>
          <a:p/>
          <a:p>
            <a:r>
              <a:t>[ASK] Check-my-math question: "Is that a fair picture of where this stands? What am I missing or getting wrong about your environment?" [PAUSE] after it. Silence is fine. Whatever they say, write it down visibly.</a:t>
            </a:r>
          </a:p>
          <a:p/>
          <a:p>
            <a:r>
              <a:t>DERAIL-PREP: If someone says "we already have a plan / Nx / internal tooling for this" — don't argue. "That's great — Devin doesn't replace that plan, it executes it faster. Let me show you what I mean in the demo."</a:t>
            </a:r>
          </a:p>
          <a:p/>
          <a:p>
            <a:r>
              <a:t>[RESEARCH BEFORE MEETING]</a:t>
            </a:r>
          </a:p>
          <a:p>
            <a:r>
              <a:t>- Confirm public info on BofA's front-end stack (job postings are a goldmine: BofA postings frequently list Angular for digital banking roles — pull 2–3 current examples so 'you're an Angular shop' is grounded, not guessed).</a:t>
            </a:r>
          </a:p>
          <a:p>
            <a:r>
              <a:t>- Check whether BofA has publicly discussed extended LTS vendors (HeroDevs NES etc.) — if they've bought extended support, reframe urgency around cost of extension rather than policy violation.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"why are we the ones hearing this pitch?" — and flatters honestly, with facts.</a:t>
            </a:r>
          </a:p>
          <a:p/>
          <a:p>
            <a:r>
              <a:t>Talk track: "Three reasons this conversation makes more sense here than almost anywhere else. First, scale: at ~$13.5B a year in tech, even a small percentage of engineering capacity reclaimed from maintenance is enormous in absolute terms. Second, you're not AI-skeptics — Erica, the patent portfolio, your leadership's public statements — the organizational muscle to adopt this already exists. Third, and counterintuitively: your regulated environment is an advantage. Devin works through pull requests and leaves a complete session log — it was built for places where every change needs a paper trail."</a:t>
            </a:r>
          </a:p>
          <a:p/>
          <a:p>
            <a:r>
              <a:t>[ASK] "Where do you feel the maintenance-vs-greenfield squeeze most acutely right now?" — their answer tells you which use cases to propose in next steps. Write it down.</a:t>
            </a:r>
          </a:p>
          <a:p/>
          <a:p>
            <a:r>
              <a:t>Adoption / "easy to pick up" point (land it on the VP Eng and Architect): "There's almost no new tool for your engineers to learn. Devin works through the same GitHub, the same pull requests, the same CI you already run. Your team's day-to-day changes from writing migrations by hand to reviewing PRs — something every engineer here already does all day. Onboarding is measured in hours, not a training program."</a:t>
            </a:r>
          </a:p>
          <a:p/>
          <a:p>
            <a:r>
              <a:t>Similar customers (social proof): "And you wouldn't be the first regulated enterprise to do this — [name the specific comparable customers/logos Cognition is cleared to reference here]." Only say names you are 100% authorized to share; if you can't name any, keep it general ("large regulated enterprises") rather than implying more than you can back up.</a:t>
            </a:r>
          </a:p>
          <a:p/>
          <a:p>
            <a:r>
              <a:t>DERAIL-PREP: If someone says "scale cuts both ways — our estate is too messy for this": "That's exactly why we start with a bounded pilot on one slice, not a big-bang rollout. Messy is normal; we'll see how Devin handles it on your code."</a:t>
            </a:r>
          </a:p>
          <a:p/>
          <a:p>
            <a:r>
              <a:t>[RESEARCH BEFORE MEETING]</a:t>
            </a:r>
          </a:p>
          <a:p>
            <a:r>
              <a:t>- Verify the tech-spend figure and Erica stats from the latest earnings call (same items as the agenda-slide checklist).</a:t>
            </a:r>
          </a:p>
          <a:p>
            <a:r>
              <a:t>- Find 1–2 public BofA exec quotes on GenAI for developers to cite verbatim.</a:t>
            </a:r>
          </a:p>
          <a:p>
            <a:r>
              <a:t>- Confirm which comparable enterprise/financial-services customers Cognition is cleared to name out loud, and have 1–2 ready.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SHORT — five minutes max. Execs don't want an architecture lecture; they want to know what it is, where it fits, and what stays under their control.</a:t>
            </a:r>
          </a:p>
          <a:p/>
          <a:p>
            <a:r>
              <a:t>Key distinction to land: "You've probably all used or evaluated Copilot-style tools. Those make an engineer type faster. Devin is different — you hand it the whole task. 'Upgrade this repo from Angular 14 to 18, keep tests green' — and it comes back with reviewed-ready PRs."</a:t>
            </a:r>
          </a:p>
          <a:p/>
          <a:p>
            <a:r>
              <a:t>Compliance hook for the Security Engineer: "Everything Devin does is captured in a session log — every command, every file change, every test run. For a bank, that's a better audit trail than most human engineers leave behind."</a:t>
            </a:r>
          </a:p>
          <a:p/>
          <a:p>
            <a:r>
              <a:t>[ASK] calibration question: "What's your mental model of tools like this — copilot, contractor, or something else? I'll calibrate to that." It surfaces skepticism early, on your terms, instead of mid-demo.</a:t>
            </a:r>
          </a:p>
          <a:p/>
          <a:p>
            <a:r>
              <a:t>DERAIL-PREP:</a:t>
            </a:r>
          </a:p>
          <a:p>
            <a:r>
              <a:t>- "We tried AI coding tools and they hallucinate": "Fair — most tools generate code and hope. Devin runs the code. It compiles, executes tests, and iterates until they pass. You'll see that live in about 60 seconds."</a:t>
            </a:r>
          </a:p>
          <a:p>
            <a:r>
              <a:t>- "What model is it? Where does our code go?": Don't improvise. "Great question — deployment options include VPC and data-isolation controls; I'll bring our security team for a proper review as part of next steps." [RESEARCH: know Cognition's current enterprise deployment/data-residency story cold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Address this TO the Security Engineer, by name, before they have to raise it. Getting ahead of the security question is the single biggest trust move in the room.</a:t>
            </a:r>
          </a:p>
          <a:p/>
          <a:p>
            <a:r>
              <a:t>Architecture talk track: "Two components. The 'brain' — the intelligence — is a stateless service in Cognition's cloud, same architectural pattern as GitHub Copilot. The 'Devbox' — where code actually gets checked out, built, and tested — is a secure, isolated virtual environment. Every session runs on its own isolated machine; customer data is segregated by default and encrypted in transit and at rest."</a:t>
            </a:r>
          </a:p>
          <a:p/>
          <a:p>
            <a:r>
              <a:t>Deployment talk track (the part that matters for BofA): "Two deployment models. Enterprise Cloud — both pieces in Cognition's secure multi-tenant cloud, running in minutes. For a bank like you, the more likely fit is Customer Dedicated: Cognition hosts Devin in a single-tenant VPC isolated just for you, connected to your network over AWS PrivateLink or an IPSec tunnel. That's how Devin reaches privately networked resources — internal GitHub Enterprise, Artifactory — without anything being exposed publicly. MFA VPN access to internal resources is supported in that model."</a:t>
            </a:r>
          </a:p>
          <a:p/>
          <a:p>
            <a:r>
              <a:t>Controls: SSO via Okta, Microsoft Entra ID, or any SAML/OIDC IdP. And the control that matters most is the one they already have: Devin only ever proposes PRs — their review, CI, and release gates are unchanged.</a:t>
            </a:r>
          </a:p>
          <a:p/>
          <a:p>
            <a:r>
              <a:t>[ASK the Security Engineer] "What would your vendor-risk process need to see to get comfortable — architecture review, pen-test reports, a questionnaire? Let's make that the first next step." — this converts the toughest stakeholder into the owner of step 1.</a:t>
            </a:r>
          </a:p>
          <a:p/>
          <a:p>
            <a:r>
              <a:t>DERAIL-PREP:</a:t>
            </a:r>
          </a:p>
          <a:p>
            <a:r>
              <a:t>- "Does our code train your models?" — don't improvise; bring Cognition's current data-usage/retention answer in writing. [RESEARCH: get the exact current policy language from the security team before the meeting.]</a:t>
            </a:r>
          </a:p>
          <a:p>
            <a:r>
              <a:t>- "Can we run it fully on-prem / air-gapped?" — be honest: the brain runs in Cognition's cloud; the dedicated model gives tenant isolation + private networking, not on-prem. Offer the security deep-dive rather than overpromising.</a:t>
            </a:r>
          </a:p>
          <a:p>
            <a:r>
              <a:t>- "Can we use our own LLM keys?" — No: Devin is a compound AI system and doesn't take third-party LLM keys. Say it plainly; evasiveness here costs credibility.</a:t>
            </a:r>
          </a:p>
          <a:p/>
          <a:p>
            <a:r>
              <a:t>[RESEARCH BEFORE MEETING]</a:t>
            </a:r>
          </a:p>
          <a:p>
            <a:r>
              <a:t>- Cognition's current compliance posture (SOC 2 etc.), pen-test/report availability, and data-retention policy — have the documents ready to send same-day.</a:t>
            </a:r>
          </a:p>
          <a:p>
            <a:r>
              <a:t>- Whether BofA's SCM is internal GitHub Enterprise Server (likely) — that makes the PrivateLink/dedicated story the headline; rehearse it.</a:t>
            </a:r>
          </a:p>
          <a:p>
            <a:r>
              <a:t>- Docs to cite: https://docs.devin.ai (Enterprise Deployment page).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your engagement insurance policy. Naming each person's likely concern out loud — before they raise it — earns trust and takes the wind out of ambushes.</a:t>
            </a:r>
          </a:p>
          <a:p/>
          <a:p>
            <a:r>
              <a:t>Delivery tip: address each column TO that person, by name, with eye contact. "For you, [VP name], my guess is the question is team capacity..." Then [ASK]: "I took a guess at what each of you cares about. Did I get it roughly right — and what did I miss? I'd rather demo to your real concerns than my imagined ones." Let each of the three respond. Budget 3–4 minutes; this is where buy-in starts.</a:t>
            </a:r>
          </a:p>
          <a:p/>
          <a:p>
            <a:r>
              <a:t>DERAIL-PREP (opinionated execs):</a:t>
            </a:r>
          </a:p>
          <a:p>
            <a:r>
              <a:t>- If one person dominates: "That's a thread I want to pull on — but I want to make sure I hear [other person]'s take before the demo, since it changes what I show."</a:t>
            </a:r>
          </a:p>
          <a:p>
            <a:r>
              <a:t>- If someone is openly skeptical/hostile: don't defend, redirect to evidence. "Totally fair to be skeptical. Can I earn the benefit of the doubt with the demo? If it doesn't hold up, tear it apart."</a:t>
            </a:r>
          </a:p>
          <a:p>
            <a:r>
              <a:t>- If they push into pricing/procurement early: "I'll cover commercial structure in next steps — short version: we typically start with a bounded pilot so you're not buying on faith."</a:t>
            </a:r>
          </a:p>
          <a:p/>
          <a:p>
            <a:r>
              <a:t>[RESEARCH BEFORE MEETING]</a:t>
            </a:r>
          </a:p>
          <a:p>
            <a:r>
              <a:t>- Get the attendees' actual names/backgrounds (LinkedIn) — tailor each column's phrasing to how their org actually talks.</a:t>
            </a:r>
          </a:p>
          <a:p>
            <a:r>
              <a:t>- Check BofA's public statements on responsible-AI governance (they have an internal AI governance framework) — mirror their language when talking about human oversight.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live demo here (the !bofa_demo playbook flow). This slide is the map you leave up briefly so they know what they're about to see, then you go live.</a:t>
            </a:r>
          </a:p>
          <a:p/>
          <a:p>
            <a:r>
              <a:t>While it runs, invite interaction: "Shout out anything you'd want to inspect — a diff, a test, a log. This is your demo, not my script."</a:t>
            </a:r>
          </a:p>
          <a:p/>
          <a:p>
            <a:r>
              <a:t>Narrate value, not syntax: each of the 5 patterns has a business hook —</a:t>
            </a:r>
          </a:p>
          <a:p>
            <a:r>
              <a:t>1. HttpParams → "API evolution handled systematically, not by grep-and-pray."</a:t>
            </a:r>
          </a:p>
          <a:p>
            <a:r>
              <a:t>2. Standalone components → "Adopting Angular 18 the right way, not just compiling on it."</a:t>
            </a:r>
          </a:p>
          <a:p>
            <a:r>
              <a:t>3. TestBed → "Your test suite migrates too — most manual upgrades leave tests rotting."</a:t>
            </a:r>
          </a:p>
          <a:p>
            <a:r>
              <a:t>4. any types in financial models → point at the Security Engineer: "Type safety on money-handling code. This is a defect class disappearing."</a:t>
            </a:r>
          </a:p>
          <a:p>
            <a:r>
              <a:t>5. *ngFor → @for → point at the Architect: "Template modernization applied identically across the whole library — consistency at scale."</a:t>
            </a:r>
          </a:p>
          <a:p/>
          <a:p>
            <a:r>
              <a:t>Pattern 4 and the downstream-teams story are your strongest moments — slow down there.</a:t>
            </a:r>
          </a:p>
          <a:p/>
          <a:p>
            <a:r>
              <a:t>[PAUSE] moments: after the baseline goes green ("that's the safety net"), and after the final validation scan ("zero legacy patterns — that's the compliance evidence your audit file wants").</a:t>
            </a:r>
          </a:p>
          <a:p/>
          <a:p>
            <a:r>
              <a:t>DERAIL-PREP:</a:t>
            </a:r>
          </a:p>
          <a:p>
            <a:r>
              <a:t>- Demo breaks: stay calm, it's rehearsed — you have git-reset recovery branches and a recorded run as backup. "Live demos, right? Here's the recorded run while I reset."</a:t>
            </a:r>
          </a:p>
          <a:p>
            <a:r>
              <a:t>- "This demo repo is toy-sized; ours is 100x bigger": "Completely true — and that's the point of the pilot: we prove it on a real slice of YOUR codebase in week one. Scale is Devin's advantage: it parallelizes; humans don't."</a:t>
            </a:r>
          </a:p>
          <a:p>
            <a:r>
              <a:t>- "Devin wrote this demo repo, of course it can fix it": "Fair — which is why next step is your code, not mine."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demo to their world: "What you just saw on five patterns is exactly what runs across your real repos — the difference is scale, and scale is where this gets interesting."</a:t>
            </a:r>
          </a:p>
          <a:p/>
          <a:p>
            <a:r>
              <a:t>The killer point for the Architect is step 3: parallelization. "A human team upgrades one repo at a time and coordinates by meeting. Devin runs one session per downstream app simultaneously. Your critical path goes from 'sum of 12 teams' calendars' to 'longest single review cycle.'"</a:t>
            </a:r>
          </a:p>
          <a:p/>
          <a:p>
            <a:r>
              <a:t>For the Security Engineer, step 4: "You don't build the audit story at the end — every session IS the audit story."</a:t>
            </a:r>
          </a:p>
          <a:p/>
          <a:p>
            <a:r>
              <a:t>[ASK] the Architect directly: "If we upgraded the shared library first and handed each consuming team a passing PR, what would still worry you?" — whatever they say becomes a pilot success criterion. Write it down.</a:t>
            </a:r>
          </a:p>
          <a:p/>
          <a:p>
            <a:r>
              <a:t>DERAIL-PREP:</a:t>
            </a:r>
          </a:p>
          <a:p>
            <a:r>
              <a:t>- "Our repos are on internal GitHub Enterprise / restricted network": "Supported — deployment specifics are exactly what the week-0 security review covers." [RESEARCH: confirm Cognition's current GHE/VPC/network-isolation options before the meeting so you don't overpromise.]</a:t>
            </a:r>
          </a:p>
          <a:p>
            <a:r>
              <a:t>- "Who's liable if Devin introduces a bug?": "Same person as today — the reviewing engineer and your existing release process. Devin doesn't get commit rights your policies wouldn't give a contractor."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Paint the after-picture in THEIR terms, one beat per persona:</a:t>
            </a:r>
          </a:p>
          <a:p>
            <a:r>
              <a:t>- VP Eng: capacity back + deadline met without roadmap carnage.</a:t>
            </a:r>
          </a:p>
          <a:p>
            <a:r>
              <a:t>- Security: policy violation resolved, plus a standing audit trail for every future change.</a:t>
            </a:r>
          </a:p>
          <a:p>
            <a:r>
              <a:t>- Architect: consistency enforced mechanically across the estate; migrations become boring (the highest compliment in architecture).</a:t>
            </a:r>
          </a:p>
          <a:p/>
          <a:p>
            <a:r>
              <a:t>The third card is deliberately the expansion story — mention the other two use cases from their own list (cloud migration, test coverage) briefly: "And to be direct, the same machinery applies to the Lambda migration and the OCC test-coverage push you mentioned. But let's earn that with this one first." Referencing their own pre-shared initiatives shows you listened.</a:t>
            </a:r>
          </a:p>
          <a:p/>
          <a:p>
            <a:r>
              <a:t>[ASK] gut-check: "If this end state showed up on time, what would it be worth to your org? I'm asking seriously — it should anchor how we scope the pilot." [PAUSE] and let them put a number or a feeling on it. Whatever value they articulate becomes YOUR value framing in follow-up emails — their words, not yours.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 specific, low-risk ask and assign owners in the room — that's what turns a nice meeting into a pipeline.</a:t>
            </a:r>
          </a:p>
          <a:p/>
          <a:p>
            <a:r>
              <a:t>Talk track: "You just watched the proof of concept — now let's do it for real, in four simple beats. One: we sit down with your team and pick three Angular 14 apps for Devin to fix — you know which ones hurt the most; a mix of a lower-stakes app and something meaty like the shared library works well. Two: the pilot phase — a quick security and data review, then Devin migrates that real code, 14 to 18, with your engineers reviewing every PR, same as you saw today. Three: we see how it did — back in this room at week four, measured against success criteria you defined up front. Four: if it earned its keep, we deploy Devin fully — the rest of the Angular estate in parallel, then the broader maintenance backlog. If it didn't, you've spent four weeks finding out."</a:t>
            </a:r>
          </a:p>
          <a:p/>
          <a:p>
            <a:r>
              <a:t>Why three apps: one app feels like a science experiment; three makes it a representative sample — and gets them invested in a roadmap. Steer the mix: one low-stakes, one typical, one hard (e.g. the shared library). If they push to start with just one, flex immediately; the structure holds.</a:t>
            </a:r>
          </a:p>
          <a:p/>
          <a:p>
            <a:r>
              <a:t>Assign ownership live: the three-app shortlist → Chief Architect (they know the dependency tree); security review → Security Engineer; sponsorship + success criteria → VP Eng. People who own a step show up to the next meeting.</a:t>
            </a:r>
          </a:p>
          <a:p/>
          <a:p>
            <a:r>
              <a:t>[ASK] the closing question and get a name and a date before you leave the room. "Who should I follow up with, and does end of this week work for the security call?"</a:t>
            </a:r>
          </a:p>
          <a:p/>
          <a:p>
            <a:r>
              <a:t>DERAIL-PREP:</a:t>
            </a:r>
          </a:p>
          <a:p>
            <a:r>
              <a:t>- "We need to run this through procurement/vendor risk first": "Understood — that's exactly why step 1 is the security review; it feeds your vendor-risk process. Can we start that in parallel?"</a:t>
            </a:r>
          </a:p>
          <a:p>
            <a:r>
              <a:t>- "Send us materials and we'll get back to you": counter gently with a smaller yes: "Happy to — can I also pencil the security call so materials land with momentum? Easy to cancel."</a:t>
            </a:r>
          </a:p>
          <a:p>
            <a:r>
              <a:t>- If the room is split (one enthusiast, one skeptic): scope the pilot around the skeptic's concern explicitly — "Let's make [skeptic]'s question the primary success criterion."</a:t>
            </a:r>
          </a:p>
          <a:p/>
          <a:p>
            <a:r>
              <a:t>Post-meeting: send notes + promised materials within 24–48h, restate the owners and dates they agreed 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slides are for your prep only — hide them (right-click → Hide slide) or delete before presenting. Keep them in your back pocket; if the meeting goes deep on an objection, you'll have rehearsed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derailment playbook (for opinionated execs):</a:t>
            </a:r>
          </a:p>
          <a:p>
            <a:r>
              <a:t>1. Never argue — agree with the valid kernel, then redirect to evidence ("fair concern; here's what we can measure").</a:t>
            </a:r>
          </a:p>
          <a:p>
            <a:r>
              <a:t>2. Park with a return time: "Great question — that's next-steps territory; give me 8 minutes and I'll answer it properly." Then ACTUALLY return to it, by name.</a:t>
            </a:r>
          </a:p>
          <a:p>
            <a:r>
              <a:t>3. If two execs start debating each other, don't referee — extract the requirement: "Sounds like the pilot needs to prove X to satisfy both of you. Noted."</a:t>
            </a:r>
          </a:p>
          <a:p>
            <a:r>
              <a:t>4. If someone tries to turn it into a vendor bake-off ("how do you compare to X?"): "Happy to do a feature comparison async — in the room, the fastest way to compare is a pilot on the same repo."</a:t>
            </a:r>
          </a:p>
          <a:p>
            <a:r>
              <a:t>5. Protect the demo time. If discovery is running long, cut slides 8–9 short, never the demo — the demo is what they'll remember.</a:t>
            </a:r>
          </a:p>
          <a:p>
            <a:r>
              <a:t>6. If the meeting is fully derailed by one topic (e.g., security), embrace it: "Let's make this the security deep-dive, and I'll get you the demo recording + a follow-up demo slot." A derailed meeting where one stakeholder gets deeply satisfied still advances the deal.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your homework list — everything the deck references that needs verification or that I (Devin) couldn't confirm as current fact. Delete before presenting.</a:t>
            </a:r>
          </a:p>
          <a:p/>
          <a:p>
            <a:r>
              <a:t>Highest priority items:</a:t>
            </a:r>
          </a:p>
          <a:p>
            <a:r>
              <a:t>1. The ~$13.5B tech budget and Erica stats — these are your two 'I did my homework' credibility numbers; get them current and sourced.</a:t>
            </a:r>
          </a:p>
          <a:p>
            <a:r>
              <a:t>2. Cognition's enterprise security/deployment answers — the Security Engineer WILL ask, and a fumbled answer undoes the whole demo.</a:t>
            </a:r>
          </a:p>
          <a:p>
            <a:r>
              <a:t>3. Attendee names/backgrounds — the personas slide is dramatically stronger delivered to real people by name.</a:t>
            </a:r>
          </a:p>
          <a:p>
            <a:r>
              <a:t>4. The extended-LTS question — if BofA already bought Angular extended support, your urgency pitch shifts from 'policy violation' to 'you're paying rent on dead software; here's the exit.'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24528"/>
            <a:ext cx="12191695" cy="5486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31720"/>
            <a:ext cx="10607040" cy="10972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Roboto"/>
              </a:rPr>
              <a:t>Bank of America  ×  Cognition</a:t>
            </a:r>
          </a:p>
        </p:txBody>
      </p:sp>
      <p:sp>
        <p:nvSpPr>
          <p:cNvPr id="5" name="TextBox 4"/>
          <p:cNvSpPr txBox="1"/>
          <p:nvPr/>
        </p:nvSpPr>
        <p:spPr>
          <a:xfrm>
            <a:off x="822960" y="3291840"/>
            <a:ext cx="10058400" cy="548640"/>
          </a:xfrm>
          <a:prstGeom prst="rect">
            <a:avLst/>
          </a:prstGeom>
          <a:noFill/>
        </p:spPr>
        <p:txBody>
          <a:bodyPr wrap="square" anchor="t">
            <a:spAutoFit/>
          </a:bodyPr>
          <a:lstStyle/>
          <a:p>
            <a:pPr algn="l">
              <a:lnSpc>
                <a:spcPct val="100000"/>
              </a:lnSpc>
              <a:spcAft>
                <a:spcPts val="600"/>
              </a:spcAft>
            </a:pPr>
            <a:r>
              <a:rPr sz="1700" b="0" i="0">
                <a:solidFill>
                  <a:srgbClr val="C9D4EC"/>
                </a:solidFill>
                <a:latin typeface="Roboto"/>
              </a:rPr>
              <a:t>A working session with Devin, the AI software engineer.</a:t>
            </a:r>
          </a:p>
        </p:txBody>
      </p:sp>
      <p:sp>
        <p:nvSpPr>
          <p:cNvPr id="6" name="TextBox 5"/>
          <p:cNvSpPr txBox="1"/>
          <p:nvPr/>
        </p:nvSpPr>
        <p:spPr>
          <a:xfrm>
            <a:off x="822960" y="4526280"/>
            <a:ext cx="10058400" cy="1097280"/>
          </a:xfrm>
          <a:prstGeom prst="rect">
            <a:avLst/>
          </a:prstGeom>
          <a:noFill/>
        </p:spPr>
        <p:txBody>
          <a:bodyPr wrap="square" anchor="t">
            <a:spAutoFit/>
          </a:bodyPr>
          <a:lstStyle/>
          <a:p>
            <a:pPr algn="l">
              <a:lnSpc>
                <a:spcPct val="100000"/>
              </a:lnSpc>
              <a:spcAft>
                <a:spcPts val="600"/>
              </a:spcAft>
            </a:pPr>
            <a:r>
              <a:rPr sz="1500" b="1" i="0">
                <a:solidFill>
                  <a:srgbClr val="FFFFFF"/>
                </a:solidFill>
                <a:latin typeface="Roboto"/>
              </a:rPr>
              <a:t>[Your Name]  ·  Forward Deployed Engineer, Cognition</a:t>
            </a:r>
          </a:p>
          <a:p>
            <a:pPr algn="l">
              <a:lnSpc>
                <a:spcPct val="100000"/>
              </a:lnSpc>
              <a:spcAft>
                <a:spcPts val="600"/>
              </a:spcAft>
            </a:pPr>
            <a:r>
              <a:rPr sz="1300" b="0" i="0">
                <a:solidFill>
                  <a:srgbClr val="C9D4EC"/>
                </a:solidFill>
                <a:latin typeface="Roboto"/>
              </a:rPr>
              <a:t>[Date]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SO YOU KNOW WHERE WE'RE GOING</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How we'll spend the next 45 minutes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2</a:t>
            </a:r>
          </a:p>
        </p:txBody>
      </p:sp>
      <p:sp>
        <p:nvSpPr>
          <p:cNvPr id="7" name="Rounded Rectangle 6"/>
          <p:cNvSpPr/>
          <p:nvPr/>
        </p:nvSpPr>
        <p:spPr>
          <a:xfrm>
            <a:off x="502920" y="1481328"/>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58368" y="1627632"/>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664208"/>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1</a:t>
            </a:r>
          </a:p>
        </p:txBody>
      </p:sp>
      <p:sp>
        <p:nvSpPr>
          <p:cNvPr id="10" name="TextBox 9"/>
          <p:cNvSpPr txBox="1"/>
          <p:nvPr/>
        </p:nvSpPr>
        <p:spPr>
          <a:xfrm>
            <a:off x="1261872" y="1563624"/>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Why I'm here</a:t>
            </a:r>
          </a:p>
        </p:txBody>
      </p:sp>
      <p:sp>
        <p:nvSpPr>
          <p:cNvPr id="11" name="TextBox 10"/>
          <p:cNvSpPr txBox="1"/>
          <p:nvPr/>
        </p:nvSpPr>
        <p:spPr>
          <a:xfrm>
            <a:off x="1261872" y="1865376"/>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Brief context, then straight to your problem</a:t>
            </a:r>
          </a:p>
        </p:txBody>
      </p:sp>
      <p:sp>
        <p:nvSpPr>
          <p:cNvPr id="12" name="TextBox 11"/>
          <p:cNvSpPr txBox="1"/>
          <p:nvPr/>
        </p:nvSpPr>
        <p:spPr>
          <a:xfrm>
            <a:off x="10378440" y="1664208"/>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~2 min</a:t>
            </a:r>
          </a:p>
        </p:txBody>
      </p:sp>
      <p:sp>
        <p:nvSpPr>
          <p:cNvPr id="13" name="Rounded Rectangle 12"/>
          <p:cNvSpPr/>
          <p:nvPr/>
        </p:nvSpPr>
        <p:spPr>
          <a:xfrm>
            <a:off x="502920" y="2286000"/>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58368" y="2432304"/>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468880"/>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2</a:t>
            </a:r>
          </a:p>
        </p:txBody>
      </p:sp>
      <p:sp>
        <p:nvSpPr>
          <p:cNvPr id="16" name="TextBox 15"/>
          <p:cNvSpPr txBox="1"/>
          <p:nvPr/>
        </p:nvSpPr>
        <p:spPr>
          <a:xfrm>
            <a:off x="1261872" y="2368296"/>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Your problem — and why BofA</a:t>
            </a:r>
          </a:p>
        </p:txBody>
      </p:sp>
      <p:sp>
        <p:nvSpPr>
          <p:cNvPr id="17" name="TextBox 16"/>
          <p:cNvSpPr txBox="1"/>
          <p:nvPr/>
        </p:nvSpPr>
        <p:spPr>
          <a:xfrm>
            <a:off x="1261872" y="2670048"/>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Legacy debt, compliance clocks — you talk, I listen</a:t>
            </a:r>
          </a:p>
        </p:txBody>
      </p:sp>
      <p:sp>
        <p:nvSpPr>
          <p:cNvPr id="18" name="TextBox 17"/>
          <p:cNvSpPr txBox="1"/>
          <p:nvPr/>
        </p:nvSpPr>
        <p:spPr>
          <a:xfrm>
            <a:off x="10378440" y="2468880"/>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~7 min</a:t>
            </a:r>
          </a:p>
        </p:txBody>
      </p:sp>
      <p:sp>
        <p:nvSpPr>
          <p:cNvPr id="19" name="Rounded Rectangle 18"/>
          <p:cNvSpPr/>
          <p:nvPr/>
        </p:nvSpPr>
        <p:spPr>
          <a:xfrm>
            <a:off x="502920" y="3090672"/>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8368" y="3236976"/>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273552"/>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3</a:t>
            </a:r>
          </a:p>
        </p:txBody>
      </p:sp>
      <p:sp>
        <p:nvSpPr>
          <p:cNvPr id="22" name="TextBox 21"/>
          <p:cNvSpPr txBox="1"/>
          <p:nvPr/>
        </p:nvSpPr>
        <p:spPr>
          <a:xfrm>
            <a:off x="1261872" y="3172968"/>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What Devin is</a:t>
            </a:r>
          </a:p>
        </p:txBody>
      </p:sp>
      <p:sp>
        <p:nvSpPr>
          <p:cNvPr id="23" name="TextBox 22"/>
          <p:cNvSpPr txBox="1"/>
          <p:nvPr/>
        </p:nvSpPr>
        <p:spPr>
          <a:xfrm>
            <a:off x="1261872" y="3474720"/>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The honest 2-minute version</a:t>
            </a:r>
          </a:p>
        </p:txBody>
      </p:sp>
      <p:sp>
        <p:nvSpPr>
          <p:cNvPr id="24" name="TextBox 23"/>
          <p:cNvSpPr txBox="1"/>
          <p:nvPr/>
        </p:nvSpPr>
        <p:spPr>
          <a:xfrm>
            <a:off x="10378440" y="3273552"/>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~5 min</a:t>
            </a:r>
          </a:p>
        </p:txBody>
      </p:sp>
      <p:sp>
        <p:nvSpPr>
          <p:cNvPr id="25" name="Rounded Rectangle 24"/>
          <p:cNvSpPr/>
          <p:nvPr/>
        </p:nvSpPr>
        <p:spPr>
          <a:xfrm>
            <a:off x="502920" y="3895344"/>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4041648"/>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4078224"/>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4</a:t>
            </a:r>
          </a:p>
        </p:txBody>
      </p:sp>
      <p:sp>
        <p:nvSpPr>
          <p:cNvPr id="28" name="TextBox 27"/>
          <p:cNvSpPr txBox="1"/>
          <p:nvPr/>
        </p:nvSpPr>
        <p:spPr>
          <a:xfrm>
            <a:off x="1261872" y="3977639"/>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Live demo</a:t>
            </a:r>
          </a:p>
        </p:txBody>
      </p:sp>
      <p:sp>
        <p:nvSpPr>
          <p:cNvPr id="29" name="TextBox 28"/>
          <p:cNvSpPr txBox="1"/>
          <p:nvPr/>
        </p:nvSpPr>
        <p:spPr>
          <a:xfrm>
            <a:off x="1261872" y="4279392"/>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A real framework migration, live</a:t>
            </a:r>
          </a:p>
        </p:txBody>
      </p:sp>
      <p:sp>
        <p:nvSpPr>
          <p:cNvPr id="30" name="TextBox 29"/>
          <p:cNvSpPr txBox="1"/>
          <p:nvPr/>
        </p:nvSpPr>
        <p:spPr>
          <a:xfrm>
            <a:off x="10378440" y="4078224"/>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~15 min</a:t>
            </a:r>
          </a:p>
        </p:txBody>
      </p:sp>
      <p:sp>
        <p:nvSpPr>
          <p:cNvPr id="31" name="Rounded Rectangle 30"/>
          <p:cNvSpPr/>
          <p:nvPr/>
        </p:nvSpPr>
        <p:spPr>
          <a:xfrm>
            <a:off x="502920" y="4700016"/>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8368" y="4846320"/>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4882896"/>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5</a:t>
            </a:r>
          </a:p>
        </p:txBody>
      </p:sp>
      <p:sp>
        <p:nvSpPr>
          <p:cNvPr id="34" name="TextBox 33"/>
          <p:cNvSpPr txBox="1"/>
          <p:nvPr/>
        </p:nvSpPr>
        <p:spPr>
          <a:xfrm>
            <a:off x="1261872" y="4782312"/>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What it means for each of you</a:t>
            </a:r>
          </a:p>
        </p:txBody>
      </p:sp>
      <p:sp>
        <p:nvSpPr>
          <p:cNvPr id="35" name="TextBox 34"/>
          <p:cNvSpPr txBox="1"/>
          <p:nvPr/>
        </p:nvSpPr>
        <p:spPr>
          <a:xfrm>
            <a:off x="1261872" y="5084064"/>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Capacity · audit · architecture</a:t>
            </a:r>
          </a:p>
        </p:txBody>
      </p:sp>
      <p:sp>
        <p:nvSpPr>
          <p:cNvPr id="36" name="TextBox 35"/>
          <p:cNvSpPr txBox="1"/>
          <p:nvPr/>
        </p:nvSpPr>
        <p:spPr>
          <a:xfrm>
            <a:off x="10378440" y="4882896"/>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~10 min</a:t>
            </a:r>
          </a:p>
        </p:txBody>
      </p:sp>
      <p:sp>
        <p:nvSpPr>
          <p:cNvPr id="37" name="Rounded Rectangle 36"/>
          <p:cNvSpPr/>
          <p:nvPr/>
        </p:nvSpPr>
        <p:spPr>
          <a:xfrm>
            <a:off x="502920" y="5504688"/>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58368" y="5650992"/>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5687568"/>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6</a:t>
            </a:r>
          </a:p>
        </p:txBody>
      </p:sp>
      <p:sp>
        <p:nvSpPr>
          <p:cNvPr id="40" name="TextBox 39"/>
          <p:cNvSpPr txBox="1"/>
          <p:nvPr/>
        </p:nvSpPr>
        <p:spPr>
          <a:xfrm>
            <a:off x="1261872" y="5586983"/>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Next steps</a:t>
            </a:r>
          </a:p>
        </p:txBody>
      </p:sp>
      <p:sp>
        <p:nvSpPr>
          <p:cNvPr id="41" name="TextBox 40"/>
          <p:cNvSpPr txBox="1"/>
          <p:nvPr/>
        </p:nvSpPr>
        <p:spPr>
          <a:xfrm>
            <a:off x="1261872" y="5888736"/>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A concrete pilot proposal</a:t>
            </a:r>
          </a:p>
        </p:txBody>
      </p:sp>
      <p:sp>
        <p:nvSpPr>
          <p:cNvPr id="42" name="TextBox 41"/>
          <p:cNvSpPr txBox="1"/>
          <p:nvPr/>
        </p:nvSpPr>
        <p:spPr>
          <a:xfrm>
            <a:off x="10378440" y="5687568"/>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~5 min</a:t>
            </a:r>
          </a:p>
        </p:txBody>
      </p:sp>
      <p:sp>
        <p:nvSpPr>
          <p:cNvPr id="43" name="TextBox 42"/>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LET'S GET STRAIGHT TO IT</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The problem: legacy debt is eating your roadmap</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3</a:t>
            </a:r>
          </a:p>
        </p:txBody>
      </p:sp>
      <p:sp>
        <p:nvSpPr>
          <p:cNvPr id="7" name="TextBox 6"/>
          <p:cNvSpPr txBox="1"/>
          <p:nvPr/>
        </p:nvSpPr>
        <p:spPr>
          <a:xfrm>
            <a:off x="502920" y="1371600"/>
            <a:ext cx="11201400" cy="502920"/>
          </a:xfrm>
          <a:prstGeom prst="rect">
            <a:avLst/>
          </a:prstGeom>
          <a:noFill/>
        </p:spPr>
        <p:txBody>
          <a:bodyPr wrap="square" anchor="t">
            <a:spAutoFit/>
          </a:bodyPr>
          <a:lstStyle/>
          <a:p>
            <a:pPr algn="l">
              <a:lnSpc>
                <a:spcPct val="100000"/>
              </a:lnSpc>
              <a:spcAft>
                <a:spcPts val="600"/>
              </a:spcAft>
            </a:pPr>
            <a:r>
              <a:rPr sz="1700" b="1" i="0">
                <a:solidFill>
                  <a:srgbClr val="E31837"/>
                </a:solidFill>
                <a:latin typeface="Roboto"/>
              </a:rPr>
              <a:t>Frameworks age out </a:t>
            </a:r>
            <a:r>
              <a:rPr sz="1700" b="0" i="0">
                <a:solidFill>
                  <a:srgbClr val="1C2430"/>
                </a:solidFill>
                <a:latin typeface="Roboto"/>
              </a:rPr>
              <a:t>— and running unsupported software in production violates your own security policy.</a:t>
            </a:r>
          </a:p>
        </p:txBody>
      </p:sp>
      <p:sp>
        <p:nvSpPr>
          <p:cNvPr id="8" name="Rounded Rectangle 7"/>
          <p:cNvSpPr/>
          <p:nvPr/>
        </p:nvSpPr>
        <p:spPr>
          <a:xfrm>
            <a:off x="50292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debt</a:t>
            </a:r>
          </a:p>
        </p:txBody>
      </p:sp>
      <p:sp>
        <p:nvSpPr>
          <p:cNvPr id="11" name="TextBox 10"/>
          <p:cNvSpPr txBox="1"/>
          <p:nvPr/>
        </p:nvSpPr>
        <p:spPr>
          <a:xfrm>
            <a:off x="70408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Outdated frameworks across the estate</a:t>
            </a:r>
          </a:p>
          <a:p>
            <a:pPr algn="l">
              <a:lnSpc>
                <a:spcPct val="105000"/>
              </a:lnSpc>
              <a:spcAft>
                <a:spcPts val="500"/>
              </a:spcAft>
            </a:pPr>
            <a:r>
              <a:rPr sz="1400" b="0" i="0">
                <a:solidFill>
                  <a:srgbClr val="1C2430"/>
                </a:solidFill>
                <a:latin typeface="Roboto"/>
              </a:rPr>
              <a:t>Every deferred upgrade compounds</a:t>
            </a:r>
          </a:p>
        </p:txBody>
      </p:sp>
      <p:sp>
        <p:nvSpPr>
          <p:cNvPr id="12" name="Rounded Rectangle 11"/>
          <p:cNvSpPr/>
          <p:nvPr/>
        </p:nvSpPr>
        <p:spPr>
          <a:xfrm>
            <a:off x="429768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clock</a:t>
            </a:r>
          </a:p>
        </p:txBody>
      </p:sp>
      <p:sp>
        <p:nvSpPr>
          <p:cNvPr id="15" name="TextBox 14"/>
          <p:cNvSpPr txBox="1"/>
          <p:nvPr/>
        </p:nvSpPr>
        <p:spPr>
          <a:xfrm>
            <a:off x="449884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Compliance-driven EOL deadlines</a:t>
            </a:r>
          </a:p>
          <a:p>
            <a:pPr algn="l">
              <a:lnSpc>
                <a:spcPct val="105000"/>
              </a:lnSpc>
              <a:spcAft>
                <a:spcPts val="500"/>
              </a:spcAft>
            </a:pPr>
            <a:r>
              <a:rPr sz="1400" b="0" i="0">
                <a:solidFill>
                  <a:srgbClr val="1C2430"/>
                </a:solidFill>
                <a:latin typeface="Roboto"/>
              </a:rPr>
              <a:t>Audit exposure while you wait</a:t>
            </a:r>
          </a:p>
        </p:txBody>
      </p:sp>
      <p:sp>
        <p:nvSpPr>
          <p:cNvPr id="16" name="Rounded Rectangle 15"/>
          <p:cNvSpPr/>
          <p:nvPr/>
        </p:nvSpPr>
        <p:spPr>
          <a:xfrm>
            <a:off x="809244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cost</a:t>
            </a:r>
          </a:p>
        </p:txBody>
      </p:sp>
      <p:sp>
        <p:nvSpPr>
          <p:cNvPr id="19" name="TextBox 18"/>
          <p:cNvSpPr txBox="1"/>
          <p:nvPr/>
        </p:nvSpPr>
        <p:spPr>
          <a:xfrm>
            <a:off x="829360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Backlog grows, greenfield stalls</a:t>
            </a:r>
          </a:p>
          <a:p>
            <a:pPr algn="l">
              <a:lnSpc>
                <a:spcPct val="105000"/>
              </a:lnSpc>
              <a:spcAft>
                <a:spcPts val="500"/>
              </a:spcAft>
            </a:pPr>
            <a:r>
              <a:rPr sz="1400" b="0" i="0">
                <a:solidFill>
                  <a:srgbClr val="1C2430"/>
                </a:solidFill>
                <a:latin typeface="Roboto"/>
              </a:rPr>
              <a:t>Best engineers stuck on upkeep</a:t>
            </a:r>
          </a:p>
        </p:txBody>
      </p:sp>
      <p:sp>
        <p:nvSpPr>
          <p:cNvPr id="20" name="Rounded Rectangle 19"/>
          <p:cNvSpPr/>
          <p:nvPr/>
        </p:nvSpPr>
        <p:spPr>
          <a:xfrm>
            <a:off x="502920" y="4526280"/>
            <a:ext cx="11201400" cy="1234440"/>
          </a:xfrm>
          <a:prstGeom prst="roundRect">
            <a:avLst>
              <a:gd name="adj" fmla="val 9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736592"/>
            <a:ext cx="2468880" cy="868680"/>
          </a:xfrm>
          <a:prstGeom prst="rect">
            <a:avLst/>
          </a:prstGeom>
          <a:noFill/>
        </p:spPr>
        <p:txBody>
          <a:bodyPr wrap="square" anchor="ctr">
            <a:spAutoFit/>
          </a:bodyPr>
          <a:lstStyle/>
          <a:p>
            <a:pPr algn="l">
              <a:lnSpc>
                <a:spcPct val="100000"/>
              </a:lnSpc>
              <a:spcAft>
                <a:spcPts val="600"/>
              </a:spcAft>
            </a:pPr>
            <a:r>
              <a:rPr sz="4200" b="1" i="0">
                <a:solidFill>
                  <a:srgbClr val="E31837"/>
                </a:solidFill>
                <a:latin typeface="Roboto"/>
              </a:rPr>
              <a:t>~70%</a:t>
            </a:r>
          </a:p>
        </p:txBody>
      </p:sp>
      <p:sp>
        <p:nvSpPr>
          <p:cNvPr id="22" name="TextBox 21"/>
          <p:cNvSpPr txBox="1"/>
          <p:nvPr/>
        </p:nvSpPr>
        <p:spPr>
          <a:xfrm>
            <a:off x="3200400" y="4736592"/>
            <a:ext cx="8229600" cy="868680"/>
          </a:xfrm>
          <a:prstGeom prst="rect">
            <a:avLst/>
          </a:prstGeom>
          <a:noFill/>
        </p:spPr>
        <p:txBody>
          <a:bodyPr wrap="square" anchor="ctr">
            <a:spAutoFit/>
          </a:bodyPr>
          <a:lstStyle/>
          <a:p>
            <a:pPr algn="l">
              <a:lnSpc>
                <a:spcPct val="100000"/>
              </a:lnSpc>
              <a:spcAft>
                <a:spcPts val="600"/>
              </a:spcAft>
            </a:pPr>
            <a:r>
              <a:rPr sz="1500" b="1" i="0">
                <a:solidFill>
                  <a:srgbClr val="FFFFFF"/>
                </a:solidFill>
                <a:latin typeface="Roboto"/>
              </a:rPr>
              <a:t>of a major bank's tech budget goes to “running the bank,” not building it.</a:t>
            </a:r>
          </a:p>
          <a:p>
            <a:pPr algn="l">
              <a:lnSpc>
                <a:spcPct val="100000"/>
              </a:lnSpc>
              <a:spcAft>
                <a:spcPts val="600"/>
              </a:spcAft>
            </a:pPr>
            <a:r>
              <a:rPr sz="1250" b="0" i="0">
                <a:solidFill>
                  <a:srgbClr val="C9D4EC"/>
                </a:solidFill>
                <a:latin typeface="Roboto"/>
              </a:rPr>
              <a:t>For BofA that's ~$9.5B of $13.5B — the exact work Devin absorbs.</a:t>
            </a:r>
          </a:p>
        </p:txBody>
      </p:sp>
      <p:sp>
        <p:nvSpPr>
          <p:cNvPr id="23" name="TextBox 22"/>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WHY THIS CONVERSATION, HERE</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Why Bank of America is a strong candidate</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4</a:t>
            </a:r>
          </a:p>
        </p:txBody>
      </p:sp>
      <p:sp>
        <p:nvSpPr>
          <p:cNvPr id="7" name="Rounded Rectangle 6"/>
          <p:cNvSpPr/>
          <p:nvPr/>
        </p:nvSpPr>
        <p:spPr>
          <a:xfrm>
            <a:off x="50292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scale</a:t>
            </a:r>
          </a:p>
        </p:txBody>
      </p:sp>
      <p:sp>
        <p:nvSpPr>
          <p:cNvPr id="10" name="TextBox 9"/>
          <p:cNvSpPr txBox="1"/>
          <p:nvPr/>
        </p:nvSpPr>
        <p:spPr>
          <a:xfrm>
            <a:off x="70408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~$13.5B annual tech spend</a:t>
            </a:r>
          </a:p>
          <a:p>
            <a:pPr algn="l">
              <a:lnSpc>
                <a:spcPct val="105000"/>
              </a:lnSpc>
              <a:spcAft>
                <a:spcPts val="500"/>
              </a:spcAft>
            </a:pPr>
            <a:r>
              <a:rPr sz="1400" b="0" i="0">
                <a:solidFill>
                  <a:srgbClr val="1C2430"/>
                </a:solidFill>
                <a:latin typeface="Roboto"/>
              </a:rPr>
              <a:t>One of the largest engineering orgs anywhere</a:t>
            </a:r>
          </a:p>
        </p:txBody>
      </p:sp>
      <p:sp>
        <p:nvSpPr>
          <p:cNvPr id="11" name="Rounded Rectangle 10"/>
          <p:cNvSpPr/>
          <p:nvPr/>
        </p:nvSpPr>
        <p:spPr>
          <a:xfrm>
            <a:off x="429768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AI posture</a:t>
            </a:r>
          </a:p>
        </p:txBody>
      </p:sp>
      <p:sp>
        <p:nvSpPr>
          <p:cNvPr id="14" name="TextBox 13"/>
          <p:cNvSpPr txBox="1"/>
          <p:nvPr/>
        </p:nvSpPr>
        <p:spPr>
          <a:xfrm>
            <a:off x="449884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Erica · AI patent leader</a:t>
            </a:r>
          </a:p>
          <a:p>
            <a:pPr algn="l">
              <a:lnSpc>
                <a:spcPct val="105000"/>
              </a:lnSpc>
              <a:spcAft>
                <a:spcPts val="500"/>
              </a:spcAft>
            </a:pPr>
            <a:r>
              <a:rPr sz="1400" b="0" i="0">
                <a:solidFill>
                  <a:srgbClr val="1C2430"/>
                </a:solidFill>
                <a:latin typeface="Roboto"/>
              </a:rPr>
              <a:t>Exec buy-in for AI already exists</a:t>
            </a:r>
          </a:p>
        </p:txBody>
      </p:sp>
      <p:sp>
        <p:nvSpPr>
          <p:cNvPr id="15" name="Rounded Rectangle 14"/>
          <p:cNvSpPr/>
          <p:nvPr/>
        </p:nvSpPr>
        <p:spPr>
          <a:xfrm>
            <a:off x="809244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fit</a:t>
            </a:r>
          </a:p>
        </p:txBody>
      </p:sp>
      <p:sp>
        <p:nvSpPr>
          <p:cNvPr id="18" name="TextBox 17"/>
          <p:cNvSpPr txBox="1"/>
          <p:nvPr/>
        </p:nvSpPr>
        <p:spPr>
          <a:xfrm>
            <a:off x="829360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Regulated, audit-first culture</a:t>
            </a:r>
          </a:p>
          <a:p>
            <a:pPr algn="l">
              <a:lnSpc>
                <a:spcPct val="105000"/>
              </a:lnSpc>
              <a:spcAft>
                <a:spcPts val="500"/>
              </a:spcAft>
            </a:pPr>
            <a:r>
              <a:rPr sz="1400" b="0" i="0">
                <a:solidFill>
                  <a:srgbClr val="1C2430"/>
                </a:solidFill>
                <a:latin typeface="Roboto"/>
              </a:rPr>
              <a:t>Engineers keep their GitHub + PR flow</a:t>
            </a:r>
          </a:p>
        </p:txBody>
      </p:sp>
      <p:sp>
        <p:nvSpPr>
          <p:cNvPr id="19" name="Rounded Rectangle 18"/>
          <p:cNvSpPr/>
          <p:nvPr/>
        </p:nvSpPr>
        <p:spPr>
          <a:xfrm>
            <a:off x="502920" y="4343400"/>
            <a:ext cx="11201400" cy="868680"/>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553712"/>
            <a:ext cx="10698480" cy="594360"/>
          </a:xfrm>
          <a:prstGeom prst="rect">
            <a:avLst/>
          </a:prstGeom>
          <a:noFill/>
        </p:spPr>
        <p:txBody>
          <a:bodyPr wrap="square" anchor="t">
            <a:spAutoFit/>
          </a:bodyPr>
          <a:lstStyle/>
          <a:p>
            <a:pPr algn="l">
              <a:lnSpc>
                <a:spcPct val="100000"/>
              </a:lnSpc>
              <a:spcAft>
                <a:spcPts val="600"/>
              </a:spcAft>
            </a:pPr>
            <a:r>
              <a:rPr sz="1600" b="1" i="0">
                <a:solidFill>
                  <a:srgbClr val="012169"/>
                </a:solidFill>
                <a:latin typeface="Roboto"/>
              </a:rPr>
              <a:t>Low switching cost — and already proven at large, regulated enterprises.</a:t>
            </a:r>
          </a:p>
        </p:txBody>
      </p:sp>
      <p:sp>
        <p:nvSpPr>
          <p:cNvPr id="21" name="TextBox 20"/>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THE 2-MINUTE VERSION</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What is Devin?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5</a:t>
            </a:r>
          </a:p>
        </p:txBody>
      </p:sp>
      <p:sp>
        <p:nvSpPr>
          <p:cNvPr id="7" name="TextBox 6"/>
          <p:cNvSpPr txBox="1"/>
          <p:nvPr/>
        </p:nvSpPr>
        <p:spPr>
          <a:xfrm>
            <a:off x="502920" y="1371600"/>
            <a:ext cx="11201400" cy="548640"/>
          </a:xfrm>
          <a:prstGeom prst="rect">
            <a:avLst/>
          </a:prstGeom>
          <a:noFill/>
        </p:spPr>
        <p:txBody>
          <a:bodyPr wrap="square" anchor="t">
            <a:spAutoFit/>
          </a:bodyPr>
          <a:lstStyle/>
          <a:p>
            <a:pPr algn="l">
              <a:lnSpc>
                <a:spcPct val="100000"/>
              </a:lnSpc>
              <a:spcAft>
                <a:spcPts val="600"/>
              </a:spcAft>
            </a:pPr>
            <a:r>
              <a:rPr sz="1800" b="1" i="0">
                <a:solidFill>
                  <a:srgbClr val="012169"/>
                </a:solidFill>
                <a:latin typeface="Roboto"/>
              </a:rPr>
              <a:t>An AI software engineer</a:t>
            </a:r>
            <a:r>
              <a:rPr sz="1800" b="0" i="0">
                <a:solidFill>
                  <a:srgbClr val="1C2430"/>
                </a:solidFill>
                <a:latin typeface="Roboto"/>
              </a:rPr>
              <a:t> — you assign the task; it plans, codes, tests, and ships a PR.</a:t>
            </a:r>
          </a:p>
        </p:txBody>
      </p:sp>
      <p:sp>
        <p:nvSpPr>
          <p:cNvPr id="8" name="Rounded Rectangle 7"/>
          <p:cNvSpPr/>
          <p:nvPr/>
        </p:nvSpPr>
        <p:spPr>
          <a:xfrm>
            <a:off x="50292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Works like an engineer</a:t>
            </a:r>
          </a:p>
        </p:txBody>
      </p:sp>
      <p:sp>
        <p:nvSpPr>
          <p:cNvPr id="11" name="TextBox 10"/>
          <p:cNvSpPr txBox="1"/>
          <p:nvPr/>
        </p:nvSpPr>
        <p:spPr>
          <a:xfrm>
            <a:off x="70408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Own shell, editor, browser</a:t>
            </a:r>
          </a:p>
          <a:p>
            <a:pPr algn="l">
              <a:lnSpc>
                <a:spcPct val="105000"/>
              </a:lnSpc>
              <a:spcAft>
                <a:spcPts val="500"/>
              </a:spcAft>
            </a:pPr>
            <a:r>
              <a:rPr sz="1400" b="0" i="0">
                <a:solidFill>
                  <a:srgbClr val="1C2430"/>
                </a:solidFill>
                <a:latin typeface="Roboto"/>
              </a:rPr>
              <a:t>Runs builds &amp; tests as it goes</a:t>
            </a:r>
          </a:p>
        </p:txBody>
      </p:sp>
      <p:sp>
        <p:nvSpPr>
          <p:cNvPr id="12" name="Rounded Rectangle 11"/>
          <p:cNvSpPr/>
          <p:nvPr/>
        </p:nvSpPr>
        <p:spPr>
          <a:xfrm>
            <a:off x="429768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Fits your SDLC</a:t>
            </a:r>
          </a:p>
        </p:txBody>
      </p:sp>
      <p:sp>
        <p:nvSpPr>
          <p:cNvPr id="15" name="TextBox 14"/>
          <p:cNvSpPr txBox="1"/>
          <p:nvPr/>
        </p:nvSpPr>
        <p:spPr>
          <a:xfrm>
            <a:off x="449884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Everything lands as a PR</a:t>
            </a:r>
          </a:p>
          <a:p>
            <a:pPr algn="l">
              <a:lnSpc>
                <a:spcPct val="105000"/>
              </a:lnSpc>
              <a:spcAft>
                <a:spcPts val="500"/>
              </a:spcAft>
            </a:pPr>
            <a:r>
              <a:rPr sz="1400" b="0" i="0">
                <a:solidFill>
                  <a:srgbClr val="1C2430"/>
                </a:solidFill>
                <a:latin typeface="Roboto"/>
              </a:rPr>
              <a:t>Your CI, your approvals — unchanged</a:t>
            </a:r>
          </a:p>
        </p:txBody>
      </p:sp>
      <p:sp>
        <p:nvSpPr>
          <p:cNvPr id="16" name="Rounded Rectangle 15"/>
          <p:cNvSpPr/>
          <p:nvPr/>
        </p:nvSpPr>
        <p:spPr>
          <a:xfrm>
            <a:off x="809244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Built for this work</a:t>
            </a:r>
          </a:p>
        </p:txBody>
      </p:sp>
      <p:sp>
        <p:nvSpPr>
          <p:cNvPr id="19" name="TextBox 18"/>
          <p:cNvSpPr txBox="1"/>
          <p:nvPr/>
        </p:nvSpPr>
        <p:spPr>
          <a:xfrm>
            <a:off x="829360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Migrations, upgrades, refactors</a:t>
            </a:r>
          </a:p>
          <a:p>
            <a:pPr algn="l">
              <a:lnSpc>
                <a:spcPct val="105000"/>
              </a:lnSpc>
              <a:spcAft>
                <a:spcPts val="500"/>
              </a:spcAft>
            </a:pPr>
            <a:r>
              <a:rPr sz="1400" b="0" i="0">
                <a:solidFill>
                  <a:srgbClr val="1C2430"/>
                </a:solidFill>
                <a:latin typeface="Roboto"/>
              </a:rPr>
              <a:t>Parallel sessions · full audit log</a:t>
            </a:r>
          </a:p>
        </p:txBody>
      </p:sp>
      <p:sp>
        <p:nvSpPr>
          <p:cNvPr id="20" name="Rounded Rectangle 19"/>
          <p:cNvSpPr/>
          <p:nvPr/>
        </p:nvSpPr>
        <p:spPr>
          <a:xfrm>
            <a:off x="502920" y="4617720"/>
            <a:ext cx="11201400" cy="868680"/>
          </a:xfrm>
          <a:prstGeom prst="roundRect">
            <a:avLst>
              <a:gd name="adj" fmla="val 10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828032"/>
            <a:ext cx="10698480" cy="594360"/>
          </a:xfrm>
          <a:prstGeom prst="rect">
            <a:avLst/>
          </a:prstGeom>
          <a:noFill/>
        </p:spPr>
        <p:txBody>
          <a:bodyPr wrap="square" anchor="t">
            <a:spAutoFit/>
          </a:bodyPr>
          <a:lstStyle/>
          <a:p>
            <a:pPr algn="l">
              <a:lnSpc>
                <a:spcPct val="100000"/>
              </a:lnSpc>
              <a:spcAft>
                <a:spcPts val="600"/>
              </a:spcAft>
            </a:pPr>
            <a:r>
              <a:rPr sz="1600" b="1" i="0">
                <a:solidFill>
                  <a:srgbClr val="FFFFFF"/>
                </a:solidFill>
                <a:latin typeface="Roboto"/>
              </a:rPr>
              <a:t>Your engineers stop being typists and become reviewers.</a:t>
            </a:r>
          </a:p>
        </p:txBody>
      </p:sp>
      <p:sp>
        <p:nvSpPr>
          <p:cNvPr id="22" name="TextBox 21"/>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BEFORE YOU ASK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Devin &amp; security</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6</a:t>
            </a:r>
          </a:p>
        </p:txBody>
      </p:sp>
      <p:sp>
        <p:nvSpPr>
          <p:cNvPr id="7" name="Rectangle 6"/>
          <p:cNvSpPr/>
          <p:nvPr/>
        </p:nvSpPr>
        <p:spPr>
          <a:xfrm>
            <a:off x="502920" y="1801368"/>
            <a:ext cx="128016" cy="658368"/>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691640"/>
            <a:ext cx="3017520" cy="868680"/>
          </a:xfrm>
          <a:prstGeom prst="rect">
            <a:avLst/>
          </a:prstGeom>
          <a:noFill/>
        </p:spPr>
        <p:txBody>
          <a:bodyPr wrap="square" anchor="ctr">
            <a:spAutoFit/>
          </a:bodyPr>
          <a:lstStyle/>
          <a:p>
            <a:pPr algn="l">
              <a:lnSpc>
                <a:spcPct val="100000"/>
              </a:lnSpc>
              <a:spcAft>
                <a:spcPts val="600"/>
              </a:spcAft>
            </a:pPr>
            <a:r>
              <a:rPr sz="2600" b="1" i="0">
                <a:solidFill>
                  <a:srgbClr val="012169"/>
                </a:solidFill>
                <a:latin typeface="Roboto"/>
              </a:rPr>
              <a:t>Isolated</a:t>
            </a:r>
          </a:p>
        </p:txBody>
      </p:sp>
      <p:sp>
        <p:nvSpPr>
          <p:cNvPr id="9" name="TextBox 8"/>
          <p:cNvSpPr txBox="1"/>
          <p:nvPr/>
        </p:nvSpPr>
        <p:spPr>
          <a:xfrm>
            <a:off x="4069080" y="1691640"/>
            <a:ext cx="7635240" cy="868680"/>
          </a:xfrm>
          <a:prstGeom prst="rect">
            <a:avLst/>
          </a:prstGeom>
          <a:noFill/>
        </p:spPr>
        <p:txBody>
          <a:bodyPr wrap="square" anchor="ctr">
            <a:spAutoFit/>
          </a:bodyPr>
          <a:lstStyle/>
          <a:p>
            <a:pPr algn="l">
              <a:lnSpc>
                <a:spcPct val="100000"/>
              </a:lnSpc>
              <a:spcAft>
                <a:spcPts val="600"/>
              </a:spcAft>
            </a:pPr>
            <a:r>
              <a:rPr sz="1500" b="0" i="0">
                <a:solidFill>
                  <a:srgbClr val="1C2430"/>
                </a:solidFill>
                <a:latin typeface="Roboto"/>
              </a:rPr>
              <a:t>One isolated machine per session — encrypted in transit &amp; at rest.</a:t>
            </a:r>
          </a:p>
        </p:txBody>
      </p:sp>
      <p:sp>
        <p:nvSpPr>
          <p:cNvPr id="10" name="Rectangle 9"/>
          <p:cNvSpPr/>
          <p:nvPr/>
        </p:nvSpPr>
        <p:spPr>
          <a:xfrm>
            <a:off x="502920" y="2569464"/>
            <a:ext cx="11201400" cy="14630"/>
          </a:xfrm>
          <a:prstGeom prst="rect">
            <a:avLst/>
          </a:prstGeom>
          <a:solidFill>
            <a:srgbClr val="D5D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953512"/>
            <a:ext cx="128016" cy="658368"/>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43784"/>
            <a:ext cx="3017520" cy="868680"/>
          </a:xfrm>
          <a:prstGeom prst="rect">
            <a:avLst/>
          </a:prstGeom>
          <a:noFill/>
        </p:spPr>
        <p:txBody>
          <a:bodyPr wrap="square" anchor="ctr">
            <a:spAutoFit/>
          </a:bodyPr>
          <a:lstStyle/>
          <a:p>
            <a:pPr algn="l">
              <a:lnSpc>
                <a:spcPct val="100000"/>
              </a:lnSpc>
              <a:spcAft>
                <a:spcPts val="600"/>
              </a:spcAft>
            </a:pPr>
            <a:r>
              <a:rPr sz="2600" b="1" i="0">
                <a:solidFill>
                  <a:srgbClr val="012169"/>
                </a:solidFill>
                <a:latin typeface="Roboto"/>
              </a:rPr>
              <a:t>Private</a:t>
            </a:r>
          </a:p>
        </p:txBody>
      </p:sp>
      <p:sp>
        <p:nvSpPr>
          <p:cNvPr id="13" name="TextBox 12"/>
          <p:cNvSpPr txBox="1"/>
          <p:nvPr/>
        </p:nvSpPr>
        <p:spPr>
          <a:xfrm>
            <a:off x="4069080" y="2843784"/>
            <a:ext cx="7635240" cy="868680"/>
          </a:xfrm>
          <a:prstGeom prst="rect">
            <a:avLst/>
          </a:prstGeom>
          <a:noFill/>
        </p:spPr>
        <p:txBody>
          <a:bodyPr wrap="square" anchor="ctr">
            <a:spAutoFit/>
          </a:bodyPr>
          <a:lstStyle/>
          <a:p>
            <a:pPr algn="l">
              <a:lnSpc>
                <a:spcPct val="100000"/>
              </a:lnSpc>
              <a:spcAft>
                <a:spcPts val="600"/>
              </a:spcAft>
            </a:pPr>
            <a:r>
              <a:rPr sz="1500" b="0" i="0">
                <a:solidFill>
                  <a:srgbClr val="1C2430"/>
                </a:solidFill>
                <a:latin typeface="Roboto"/>
              </a:rPr>
              <a:t>Enterprise Cloud, or a single-tenant VPC connected via AWS PrivateLink.</a:t>
            </a:r>
          </a:p>
        </p:txBody>
      </p:sp>
      <p:sp>
        <p:nvSpPr>
          <p:cNvPr id="14" name="Rectangle 13"/>
          <p:cNvSpPr/>
          <p:nvPr/>
        </p:nvSpPr>
        <p:spPr>
          <a:xfrm>
            <a:off x="502920" y="3721608"/>
            <a:ext cx="11201400" cy="14630"/>
          </a:xfrm>
          <a:prstGeom prst="rect">
            <a:avLst/>
          </a:prstGeom>
          <a:solidFill>
            <a:srgbClr val="D5D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4105656"/>
            <a:ext cx="128016" cy="658368"/>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995928"/>
            <a:ext cx="3017520" cy="868680"/>
          </a:xfrm>
          <a:prstGeom prst="rect">
            <a:avLst/>
          </a:prstGeom>
          <a:noFill/>
        </p:spPr>
        <p:txBody>
          <a:bodyPr wrap="square" anchor="ctr">
            <a:spAutoFit/>
          </a:bodyPr>
          <a:lstStyle/>
          <a:p>
            <a:pPr algn="l">
              <a:lnSpc>
                <a:spcPct val="100000"/>
              </a:lnSpc>
              <a:spcAft>
                <a:spcPts val="600"/>
              </a:spcAft>
            </a:pPr>
            <a:r>
              <a:rPr sz="2600" b="1" i="0">
                <a:solidFill>
                  <a:srgbClr val="012169"/>
                </a:solidFill>
                <a:latin typeface="Roboto"/>
              </a:rPr>
              <a:t>Controlled</a:t>
            </a:r>
          </a:p>
        </p:txBody>
      </p:sp>
      <p:sp>
        <p:nvSpPr>
          <p:cNvPr id="17" name="TextBox 16"/>
          <p:cNvSpPr txBox="1"/>
          <p:nvPr/>
        </p:nvSpPr>
        <p:spPr>
          <a:xfrm>
            <a:off x="4069080" y="3995928"/>
            <a:ext cx="7635240" cy="868680"/>
          </a:xfrm>
          <a:prstGeom prst="rect">
            <a:avLst/>
          </a:prstGeom>
          <a:noFill/>
        </p:spPr>
        <p:txBody>
          <a:bodyPr wrap="square" anchor="ctr">
            <a:spAutoFit/>
          </a:bodyPr>
          <a:lstStyle/>
          <a:p>
            <a:pPr algn="l">
              <a:lnSpc>
                <a:spcPct val="100000"/>
              </a:lnSpc>
              <a:spcAft>
                <a:spcPts val="600"/>
              </a:spcAft>
            </a:pPr>
            <a:r>
              <a:rPr sz="1500" b="0" i="0">
                <a:solidFill>
                  <a:srgbClr val="1C2430"/>
                </a:solidFill>
                <a:latin typeface="Roboto"/>
              </a:rPr>
              <a:t>SSO (Okta / Entra / SAML) — and nothing merges without your review.</a:t>
            </a:r>
          </a:p>
        </p:txBody>
      </p:sp>
      <p:sp>
        <p:nvSpPr>
          <p:cNvPr id="18" name="Rectangle 17"/>
          <p:cNvSpPr/>
          <p:nvPr/>
        </p:nvSpPr>
        <p:spPr>
          <a:xfrm>
            <a:off x="0" y="5349240"/>
            <a:ext cx="12191695" cy="9144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5513832"/>
            <a:ext cx="10698480" cy="594360"/>
          </a:xfrm>
          <a:prstGeom prst="rect">
            <a:avLst/>
          </a:prstGeom>
          <a:noFill/>
        </p:spPr>
        <p:txBody>
          <a:bodyPr wrap="square" anchor="ctr">
            <a:spAutoFit/>
          </a:bodyPr>
          <a:lstStyle/>
          <a:p>
            <a:pPr algn="l">
              <a:lnSpc>
                <a:spcPct val="100000"/>
              </a:lnSpc>
              <a:spcAft>
                <a:spcPts val="600"/>
              </a:spcAft>
            </a:pPr>
            <a:r>
              <a:rPr sz="1600" b="1" i="0">
                <a:solidFill>
                  <a:srgbClr val="FFFFFF"/>
                </a:solidFill>
                <a:latin typeface="Roboto"/>
              </a:rPr>
              <a:t>Every command, file change, and test run — logged and replayable.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ADDRESSING THE ELEPHANTS IN THE ROOM</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What each of you is probably thinking</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7</a:t>
            </a:r>
          </a:p>
        </p:txBody>
      </p:sp>
      <p:sp>
        <p:nvSpPr>
          <p:cNvPr id="7" name="Rounded Rectangle 6"/>
          <p:cNvSpPr/>
          <p:nvPr/>
        </p:nvSpPr>
        <p:spPr>
          <a:xfrm>
            <a:off x="50292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VP of Engineering</a:t>
            </a:r>
          </a:p>
        </p:txBody>
      </p:sp>
      <p:sp>
        <p:nvSpPr>
          <p:cNvPr id="10" name="TextBox 9"/>
          <p:cNvSpPr txBox="1"/>
          <p:nvPr/>
        </p:nvSpPr>
        <p:spPr>
          <a:xfrm>
            <a:off x="70408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“Is this a time-saver or a babysitting job?”</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Reviewing ≪ writing</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Roadmap keeps moving</a:t>
            </a:r>
          </a:p>
        </p:txBody>
      </p:sp>
      <p:sp>
        <p:nvSpPr>
          <p:cNvPr id="11" name="Rounded Rectangle 10"/>
          <p:cNvSpPr/>
          <p:nvPr/>
        </p:nvSpPr>
        <p:spPr>
          <a:xfrm>
            <a:off x="429768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Security Engineer</a:t>
            </a:r>
          </a:p>
        </p:txBody>
      </p:sp>
      <p:sp>
        <p:nvSpPr>
          <p:cNvPr id="14" name="TextBox 13"/>
          <p:cNvSpPr txBox="1"/>
          <p:nvPr/>
        </p:nvSpPr>
        <p:spPr>
          <a:xfrm>
            <a:off x="449884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“An autonomous agent in a bank's codebase?”</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Nothing merges without human approval</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Every action logged &amp; replayable</a:t>
            </a:r>
          </a:p>
        </p:txBody>
      </p:sp>
      <p:sp>
        <p:nvSpPr>
          <p:cNvPr id="15" name="Rounded Rectangle 14"/>
          <p:cNvSpPr/>
          <p:nvPr/>
        </p:nvSpPr>
        <p:spPr>
          <a:xfrm>
            <a:off x="809244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Chief Architect</a:t>
            </a:r>
          </a:p>
        </p:txBody>
      </p:sp>
      <p:sp>
        <p:nvSpPr>
          <p:cNvPr id="18" name="TextBox 17"/>
          <p:cNvSpPr txBox="1"/>
          <p:nvPr/>
        </p:nvSpPr>
        <p:spPr>
          <a:xfrm>
            <a:off x="829360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“Will it respect our standards?”</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Your conventions, applied consistently</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Library validated before downstream</a:t>
            </a:r>
          </a:p>
        </p:txBody>
      </p:sp>
      <p:sp>
        <p:nvSpPr>
          <p:cNvPr id="19" name="TextBox 18"/>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ENOUGH SLIDES — LET'S WATCH IT WORK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Live demo: Devin migrates a BofA-shaped banking app, 14 → 18</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8</a:t>
            </a:r>
          </a:p>
        </p:txBody>
      </p:sp>
      <p:sp>
        <p:nvSpPr>
          <p:cNvPr id="7" name="Rounded Rectangle 6"/>
          <p:cNvSpPr/>
          <p:nvPr/>
        </p:nvSpPr>
        <p:spPr>
          <a:xfrm>
            <a:off x="502920" y="1481328"/>
            <a:ext cx="4846320" cy="393192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71246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4480559"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 codebase shaped like yours</a:t>
            </a:r>
          </a:p>
        </p:txBody>
      </p:sp>
      <p:sp>
        <p:nvSpPr>
          <p:cNvPr id="10" name="TextBox 9"/>
          <p:cNvSpPr txBox="1"/>
          <p:nvPr/>
        </p:nvSpPr>
        <p:spPr>
          <a:xfrm>
            <a:off x="704088" y="1956816"/>
            <a:ext cx="4480559" cy="3337560"/>
          </a:xfrm>
          <a:prstGeom prst="rect">
            <a:avLst/>
          </a:prstGeom>
          <a:noFill/>
        </p:spPr>
        <p:txBody>
          <a:bodyPr wrap="square" anchor="t">
            <a:spAutoFit/>
          </a:bodyPr>
          <a:lstStyle/>
          <a:p>
            <a:pPr algn="l">
              <a:lnSpc>
                <a:spcPct val="105000"/>
              </a:lnSpc>
              <a:spcAft>
                <a:spcPts val="500"/>
              </a:spcAft>
            </a:pPr>
            <a:r>
              <a:rPr sz="1400" b="1" i="0">
                <a:solidFill>
                  <a:srgbClr val="1C2430"/>
                </a:solidFill>
                <a:latin typeface="Roboto"/>
              </a:rPr>
              <a:t>Shared component library</a:t>
            </a:r>
          </a:p>
          <a:p>
            <a:pPr algn="l">
              <a:lnSpc>
                <a:spcPct val="105000"/>
              </a:lnSpc>
              <a:spcAft>
                <a:spcPts val="500"/>
              </a:spcAft>
            </a:pPr>
            <a:r>
              <a:rPr sz="1400" b="0" i="0">
                <a:solidFill>
                  <a:srgbClr val="1C2430"/>
                </a:solidFill>
                <a:latin typeface="Roboto"/>
              </a:rPr>
              <a:t>SSO/MFA · analytics SDK · financial data</a:t>
            </a:r>
          </a:p>
          <a:p>
            <a:pPr algn="l">
              <a:lnSpc>
                <a:spcPct val="105000"/>
              </a:lnSpc>
              <a:spcAft>
                <a:spcPts val="500"/>
              </a:spcAft>
            </a:pPr>
            <a:r>
              <a:rPr sz="1400" b="0" i="0">
                <a:solidFill>
                  <a:srgbClr val="1C2430"/>
                </a:solidFill>
                <a:latin typeface="Roboto"/>
              </a:rPr>
              <a:t>Custom design system on Angular Material</a:t>
            </a:r>
          </a:p>
          <a:p>
            <a:pPr algn="l">
              <a:lnSpc>
                <a:spcPct val="105000"/>
              </a:lnSpc>
              <a:spcAft>
                <a:spcPts val="500"/>
              </a:spcAft>
            </a:pPr>
            <a:r>
              <a:rPr sz="1400" b="0" i="1">
                <a:solidFill>
                  <a:srgbClr val="5A6472"/>
                </a:solidFill>
                <a:latin typeface="Roboto"/>
              </a:rPr>
              <a:t>Mock code, real architecture.</a:t>
            </a:r>
          </a:p>
        </p:txBody>
      </p:sp>
      <p:sp>
        <p:nvSpPr>
          <p:cNvPr id="11" name="Rounded Rectangle 10"/>
          <p:cNvSpPr/>
          <p:nvPr/>
        </p:nvSpPr>
        <p:spPr>
          <a:xfrm>
            <a:off x="5532120" y="1481328"/>
            <a:ext cx="6172200" cy="393192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532120" y="1591056"/>
            <a:ext cx="54864" cy="371246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33288" y="1591056"/>
            <a:ext cx="58064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What Devin will do</a:t>
            </a:r>
          </a:p>
        </p:txBody>
      </p:sp>
      <p:sp>
        <p:nvSpPr>
          <p:cNvPr id="14" name="TextBox 13"/>
          <p:cNvSpPr txBox="1"/>
          <p:nvPr/>
        </p:nvSpPr>
        <p:spPr>
          <a:xfrm>
            <a:off x="5733288" y="1956816"/>
            <a:ext cx="5806440" cy="3337560"/>
          </a:xfrm>
          <a:prstGeom prst="rect">
            <a:avLst/>
          </a:prstGeom>
          <a:noFill/>
        </p:spPr>
        <p:txBody>
          <a:bodyPr wrap="square" anchor="t">
            <a:spAutoFit/>
          </a:bodyPr>
          <a:lstStyle/>
          <a:p>
            <a:pPr algn="l">
              <a:lnSpc>
                <a:spcPct val="105000"/>
              </a:lnSpc>
              <a:spcAft>
                <a:spcPts val="500"/>
              </a:spcAft>
            </a:pPr>
            <a:r>
              <a:rPr sz="1400" b="1" i="0">
                <a:solidFill>
                  <a:srgbClr val="E31837"/>
                </a:solidFill>
                <a:latin typeface="Roboto"/>
              </a:rPr>
              <a:t>1. </a:t>
            </a:r>
            <a:r>
              <a:rPr sz="1400" b="0" i="0">
                <a:solidFill>
                  <a:srgbClr val="1C2430"/>
                </a:solidFill>
                <a:latin typeface="Roboto"/>
              </a:rPr>
              <a:t>Baseline — build + tests green</a:t>
            </a:r>
          </a:p>
          <a:p>
            <a:pPr algn="l">
              <a:lnSpc>
                <a:spcPct val="105000"/>
              </a:lnSpc>
              <a:spcAft>
                <a:spcPts val="500"/>
              </a:spcAft>
            </a:pPr>
            <a:r>
              <a:rPr sz="1400" b="1" i="0">
                <a:solidFill>
                  <a:srgbClr val="E31837"/>
                </a:solidFill>
                <a:latin typeface="Roboto"/>
              </a:rPr>
              <a:t>2. </a:t>
            </a:r>
            <a:r>
              <a:rPr sz="1400" b="0" i="0">
                <a:solidFill>
                  <a:srgbClr val="1C2430"/>
                </a:solidFill>
                <a:latin typeface="Roboto"/>
              </a:rPr>
              <a:t>Stepwise ng update 14→15→16→17→18</a:t>
            </a:r>
          </a:p>
          <a:p>
            <a:pPr algn="l">
              <a:lnSpc>
                <a:spcPct val="105000"/>
              </a:lnSpc>
              <a:spcAft>
                <a:spcPts val="500"/>
              </a:spcAft>
            </a:pPr>
            <a:r>
              <a:rPr sz="1400" b="1" i="0">
                <a:solidFill>
                  <a:srgbClr val="E31837"/>
                </a:solidFill>
                <a:latin typeface="Roboto"/>
              </a:rPr>
              <a:t>3. </a:t>
            </a:r>
            <a:r>
              <a:rPr sz="1400" b="0" i="0">
                <a:solidFill>
                  <a:srgbClr val="1C2430"/>
                </a:solidFill>
                <a:latin typeface="Roboto"/>
              </a:rPr>
              <a:t>Modernize 5 legacy patterns</a:t>
            </a:r>
          </a:p>
          <a:p>
            <a:pPr algn="l">
              <a:lnSpc>
                <a:spcPct val="105000"/>
              </a:lnSpc>
              <a:spcAft>
                <a:spcPts val="500"/>
              </a:spcAft>
            </a:pPr>
            <a:r>
              <a:rPr sz="1400" b="1" i="0">
                <a:solidFill>
                  <a:srgbClr val="E31837"/>
                </a:solidFill>
                <a:latin typeface="Roboto"/>
              </a:rPr>
              <a:t>4. </a:t>
            </a:r>
            <a:r>
              <a:rPr sz="1400" b="0" i="0">
                <a:solidFill>
                  <a:srgbClr val="1C2430"/>
                </a:solidFill>
                <a:latin typeface="Roboto"/>
              </a:rPr>
              <a:t>Validate — zero legacy patterns remain</a:t>
            </a:r>
          </a:p>
          <a:p>
            <a:pPr algn="l">
              <a:lnSpc>
                <a:spcPct val="105000"/>
              </a:lnSpc>
              <a:spcAft>
                <a:spcPts val="500"/>
              </a:spcAft>
            </a:pPr>
            <a:r>
              <a:rPr sz="1400" b="1" i="0">
                <a:solidFill>
                  <a:srgbClr val="E31837"/>
                </a:solidFill>
                <a:latin typeface="Roboto"/>
              </a:rPr>
              <a:t>5. </a:t>
            </a:r>
            <a:r>
              <a:rPr sz="1400" b="0" i="0">
                <a:solidFill>
                  <a:srgbClr val="1C2430"/>
                </a:solidFill>
                <a:latin typeface="Roboto"/>
              </a:rPr>
              <a:t>Deliver — reviewable PRs</a:t>
            </a:r>
          </a:p>
        </p:txBody>
      </p:sp>
      <p:sp>
        <p:nvSpPr>
          <p:cNvPr id="15" name="TextBox 14"/>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FROM DEMO TO YOUR REALITY</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How this maps to BofA's actual migration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9</a:t>
            </a:r>
          </a:p>
        </p:txBody>
      </p:sp>
      <p:sp>
        <p:nvSpPr>
          <p:cNvPr id="7" name="Rounded Rectangle 6"/>
          <p:cNvSpPr/>
          <p:nvPr/>
        </p:nvSpPr>
        <p:spPr>
          <a:xfrm>
            <a:off x="502920" y="1481328"/>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645920"/>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83080"/>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 0</a:t>
            </a:r>
          </a:p>
        </p:txBody>
      </p:sp>
      <p:sp>
        <p:nvSpPr>
          <p:cNvPr id="10" name="TextBox 9"/>
          <p:cNvSpPr txBox="1"/>
          <p:nvPr/>
        </p:nvSpPr>
        <p:spPr>
          <a:xfrm>
            <a:off x="2286000" y="1591056"/>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Scope &amp; safety rails</a:t>
            </a:r>
          </a:p>
        </p:txBody>
      </p:sp>
      <p:sp>
        <p:nvSpPr>
          <p:cNvPr id="11" name="TextBox 10"/>
          <p:cNvSpPr txBox="1"/>
          <p:nvPr/>
        </p:nvSpPr>
        <p:spPr>
          <a:xfrm>
            <a:off x="2286000" y="1938528"/>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Security review · success criteria</a:t>
            </a:r>
          </a:p>
        </p:txBody>
      </p:sp>
      <p:sp>
        <p:nvSpPr>
          <p:cNvPr id="12" name="Rounded Rectangle 11"/>
          <p:cNvSpPr/>
          <p:nvPr/>
        </p:nvSpPr>
        <p:spPr>
          <a:xfrm>
            <a:off x="502920" y="2505456"/>
            <a:ext cx="11201400" cy="93268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2670048"/>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807208"/>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Weeks 1–2</a:t>
            </a:r>
          </a:p>
        </p:txBody>
      </p:sp>
      <p:sp>
        <p:nvSpPr>
          <p:cNvPr id="15" name="TextBox 14"/>
          <p:cNvSpPr txBox="1"/>
          <p:nvPr/>
        </p:nvSpPr>
        <p:spPr>
          <a:xfrm>
            <a:off x="2286000" y="2615184"/>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Shared library first</a:t>
            </a:r>
          </a:p>
        </p:txBody>
      </p:sp>
      <p:sp>
        <p:nvSpPr>
          <p:cNvPr id="16" name="TextBox 15"/>
          <p:cNvSpPr txBox="1"/>
          <p:nvPr/>
        </p:nvSpPr>
        <p:spPr>
          <a:xfrm>
            <a:off x="2286000" y="2962656"/>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Root of the dependency tree — your team reviews every PR</a:t>
            </a:r>
          </a:p>
        </p:txBody>
      </p:sp>
      <p:sp>
        <p:nvSpPr>
          <p:cNvPr id="17" name="Rounded Rectangle 16"/>
          <p:cNvSpPr/>
          <p:nvPr/>
        </p:nvSpPr>
        <p:spPr>
          <a:xfrm>
            <a:off x="502920" y="3529584"/>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5800" y="3694176"/>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831336"/>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Weeks 2–3</a:t>
            </a:r>
          </a:p>
        </p:txBody>
      </p:sp>
      <p:sp>
        <p:nvSpPr>
          <p:cNvPr id="20" name="TextBox 19"/>
          <p:cNvSpPr txBox="1"/>
          <p:nvPr/>
        </p:nvSpPr>
        <p:spPr>
          <a:xfrm>
            <a:off x="2286000" y="3639312"/>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Downstream in parallel</a:t>
            </a:r>
          </a:p>
        </p:txBody>
      </p:sp>
      <p:sp>
        <p:nvSpPr>
          <p:cNvPr id="21" name="TextBox 20"/>
          <p:cNvSpPr txBox="1"/>
          <p:nvPr/>
        </p:nvSpPr>
        <p:spPr>
          <a:xfrm>
            <a:off x="2286000" y="3986784"/>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One Devin per consuming app — the coordination tax collapses</a:t>
            </a:r>
          </a:p>
        </p:txBody>
      </p:sp>
      <p:sp>
        <p:nvSpPr>
          <p:cNvPr id="22" name="Rounded Rectangle 21"/>
          <p:cNvSpPr/>
          <p:nvPr/>
        </p:nvSpPr>
        <p:spPr>
          <a:xfrm>
            <a:off x="502920" y="4553712"/>
            <a:ext cx="11201400" cy="93268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85800" y="4718304"/>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855464"/>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Ongoing</a:t>
            </a:r>
          </a:p>
        </p:txBody>
      </p:sp>
      <p:sp>
        <p:nvSpPr>
          <p:cNvPr id="25" name="TextBox 24"/>
          <p:cNvSpPr txBox="1"/>
          <p:nvPr/>
        </p:nvSpPr>
        <p:spPr>
          <a:xfrm>
            <a:off x="2286000" y="4663440"/>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Evidence as you go</a:t>
            </a:r>
          </a:p>
        </p:txBody>
      </p:sp>
      <p:sp>
        <p:nvSpPr>
          <p:cNvPr id="26" name="TextBox 25"/>
          <p:cNvSpPr txBox="1"/>
          <p:nvPr/>
        </p:nvSpPr>
        <p:spPr>
          <a:xfrm>
            <a:off x="2286000" y="5010912"/>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Logs + tests + scans = audit file, automatically</a:t>
            </a:r>
          </a:p>
        </p:txBody>
      </p:sp>
      <p:sp>
        <p:nvSpPr>
          <p:cNvPr id="27" name="Rounded Rectangle 26"/>
          <p:cNvSpPr/>
          <p:nvPr/>
        </p:nvSpPr>
        <p:spPr>
          <a:xfrm>
            <a:off x="502920" y="5669280"/>
            <a:ext cx="11201400" cy="658368"/>
          </a:xfrm>
          <a:prstGeom prst="roundRect">
            <a:avLst>
              <a:gd name="adj" fmla="val 10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788152"/>
            <a:ext cx="10698480" cy="457200"/>
          </a:xfrm>
          <a:prstGeom prst="rect">
            <a:avLst/>
          </a:prstGeom>
          <a:noFill/>
        </p:spPr>
        <p:txBody>
          <a:bodyPr wrap="square" anchor="t">
            <a:spAutoFit/>
          </a:bodyPr>
          <a:lstStyle/>
          <a:p>
            <a:pPr algn="l">
              <a:lnSpc>
                <a:spcPct val="100000"/>
              </a:lnSpc>
              <a:spcAft>
                <a:spcPts val="600"/>
              </a:spcAft>
            </a:pPr>
            <a:r>
              <a:rPr sz="1500" b="1" i="0">
                <a:solidFill>
                  <a:srgbClr val="FFFFFF"/>
                </a:solidFill>
                <a:latin typeface="Roboto"/>
              </a:rPr>
              <a:t>Devin changes who does the labor — never who's in control.</a:t>
            </a:r>
          </a:p>
        </p:txBody>
      </p:sp>
      <p:sp>
        <p:nvSpPr>
          <p:cNvPr id="29" name="TextBox 28"/>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WHAT GOOD LOOKS LIKE</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The end state: BofA running on Devin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10</a:t>
            </a:r>
          </a:p>
        </p:txBody>
      </p:sp>
      <p:sp>
        <p:nvSpPr>
          <p:cNvPr id="7" name="Rounded Rectangle 6"/>
          <p:cNvSpPr/>
          <p:nvPr/>
        </p:nvSpPr>
        <p:spPr>
          <a:xfrm>
            <a:off x="50292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This migration</a:t>
            </a:r>
          </a:p>
        </p:txBody>
      </p:sp>
      <p:sp>
        <p:nvSpPr>
          <p:cNvPr id="10" name="TextBox 9"/>
          <p:cNvSpPr txBox="1"/>
          <p:nvPr/>
        </p:nvSpPr>
        <p:spPr>
          <a:xfrm>
            <a:off x="70408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Angular 18 before the deadline</a:t>
            </a:r>
          </a:p>
          <a:p>
            <a:pPr algn="l">
              <a:lnSpc>
                <a:spcPct val="105000"/>
              </a:lnSpc>
              <a:spcAft>
                <a:spcPts val="500"/>
              </a:spcAft>
            </a:pPr>
            <a:r>
              <a:rPr sz="1400" b="0" i="0">
                <a:solidFill>
                  <a:srgbClr val="1C2430"/>
                </a:solidFill>
                <a:latin typeface="Roboto"/>
              </a:rPr>
              <a:t>12+ teams unbroken</a:t>
            </a:r>
          </a:p>
          <a:p>
            <a:pPr algn="l">
              <a:lnSpc>
                <a:spcPct val="105000"/>
              </a:lnSpc>
              <a:spcAft>
                <a:spcPts val="500"/>
              </a:spcAft>
            </a:pPr>
            <a:r>
              <a:rPr sz="1400" b="0" i="0">
                <a:solidFill>
                  <a:srgbClr val="1C2430"/>
                </a:solidFill>
                <a:latin typeface="Roboto"/>
              </a:rPr>
              <a:t>Audit trail, automatic</a:t>
            </a:r>
          </a:p>
        </p:txBody>
      </p:sp>
      <p:sp>
        <p:nvSpPr>
          <p:cNvPr id="11" name="Rounded Rectangle 10"/>
          <p:cNvSpPr/>
          <p:nvPr/>
        </p:nvSpPr>
        <p:spPr>
          <a:xfrm>
            <a:off x="429768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Your engineers</a:t>
            </a:r>
          </a:p>
        </p:txBody>
      </p:sp>
      <p:sp>
        <p:nvSpPr>
          <p:cNvPr id="14" name="TextBox 13"/>
          <p:cNvSpPr txBox="1"/>
          <p:nvPr/>
        </p:nvSpPr>
        <p:spPr>
          <a:xfrm>
            <a:off x="449884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Back on revenue features</a:t>
            </a:r>
          </a:p>
          <a:p>
            <a:pPr algn="l">
              <a:lnSpc>
                <a:spcPct val="105000"/>
              </a:lnSpc>
              <a:spcAft>
                <a:spcPts val="500"/>
              </a:spcAft>
            </a:pPr>
            <a:r>
              <a:rPr sz="1400" b="0" i="0">
                <a:solidFill>
                  <a:srgbClr val="1C2430"/>
                </a:solidFill>
                <a:latin typeface="Roboto"/>
              </a:rPr>
              <a:t>Reviewing, not hand-migrating</a:t>
            </a:r>
          </a:p>
        </p:txBody>
      </p:sp>
      <p:sp>
        <p:nvSpPr>
          <p:cNvPr id="15" name="Rounded Rectangle 14"/>
          <p:cNvSpPr/>
          <p:nvPr/>
        </p:nvSpPr>
        <p:spPr>
          <a:xfrm>
            <a:off x="809244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bigger unlock</a:t>
            </a:r>
          </a:p>
        </p:txBody>
      </p:sp>
      <p:sp>
        <p:nvSpPr>
          <p:cNvPr id="18" name="TextBox 17"/>
          <p:cNvSpPr txBox="1"/>
          <p:nvPr/>
        </p:nvSpPr>
        <p:spPr>
          <a:xfrm>
            <a:off x="829360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Angular 19, 20… become routine</a:t>
            </a:r>
          </a:p>
          <a:p>
            <a:pPr algn="l">
              <a:lnSpc>
                <a:spcPct val="105000"/>
              </a:lnSpc>
              <a:spcAft>
                <a:spcPts val="500"/>
              </a:spcAft>
            </a:pPr>
            <a:r>
              <a:rPr sz="1400" b="0" i="0">
                <a:solidFill>
                  <a:srgbClr val="1C2430"/>
                </a:solidFill>
                <a:latin typeface="Roboto"/>
              </a:rPr>
              <a:t>Same machinery: cloud migration, test coverage</a:t>
            </a:r>
          </a:p>
        </p:txBody>
      </p:sp>
      <p:sp>
        <p:nvSpPr>
          <p:cNvPr id="19" name="Rounded Rectangle 18"/>
          <p:cNvSpPr/>
          <p:nvPr/>
        </p:nvSpPr>
        <p:spPr>
          <a:xfrm>
            <a:off x="502920" y="4023360"/>
            <a:ext cx="11201400" cy="1051560"/>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224528"/>
            <a:ext cx="10698480" cy="777240"/>
          </a:xfrm>
          <a:prstGeom prst="rect">
            <a:avLst/>
          </a:prstGeom>
          <a:noFill/>
        </p:spPr>
        <p:txBody>
          <a:bodyPr wrap="square" anchor="t">
            <a:spAutoFit/>
          </a:bodyPr>
          <a:lstStyle/>
          <a:p>
            <a:pPr algn="l">
              <a:lnSpc>
                <a:spcPct val="100000"/>
              </a:lnSpc>
              <a:spcAft>
                <a:spcPts val="600"/>
              </a:spcAft>
            </a:pPr>
            <a:r>
              <a:rPr sz="1700" b="1" i="1">
                <a:solidFill>
                  <a:srgbClr val="012169"/>
                </a:solidFill>
                <a:latin typeface="Roboto"/>
              </a:rPr>
              <a:t>“We met a hard compliance deadline without pausing the roadmap.”</a:t>
            </a:r>
          </a:p>
        </p:txBody>
      </p:sp>
      <p:sp>
        <p:nvSpPr>
          <p:cNvPr id="21" name="TextBox 20"/>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LEAVING WITH A DECISION, NOT A DECK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Proposed next steps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11</a:t>
            </a:r>
          </a:p>
        </p:txBody>
      </p:sp>
      <p:sp>
        <p:nvSpPr>
          <p:cNvPr id="7" name="Rounded Rectangle 6"/>
          <p:cNvSpPr/>
          <p:nvPr/>
        </p:nvSpPr>
        <p:spPr>
          <a:xfrm>
            <a:off x="502920" y="1444752"/>
            <a:ext cx="11201400" cy="111556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13232" y="1719072"/>
            <a:ext cx="566928" cy="566928"/>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783080"/>
            <a:ext cx="566928" cy="438912"/>
          </a:xfrm>
          <a:prstGeom prst="rect">
            <a:avLst/>
          </a:prstGeom>
          <a:noFill/>
        </p:spPr>
        <p:txBody>
          <a:bodyPr wrap="square" anchor="t">
            <a:spAutoFit/>
          </a:bodyPr>
          <a:lstStyle/>
          <a:p>
            <a:pPr algn="ctr">
              <a:lnSpc>
                <a:spcPct val="100000"/>
              </a:lnSpc>
              <a:spcAft>
                <a:spcPts val="600"/>
              </a:spcAft>
            </a:pPr>
            <a:r>
              <a:rPr sz="1800" b="1" i="0">
                <a:solidFill>
                  <a:srgbClr val="FFFFFF"/>
                </a:solidFill>
                <a:latin typeface="Roboto"/>
              </a:rPr>
              <a:t>1</a:t>
            </a:r>
          </a:p>
        </p:txBody>
      </p:sp>
      <p:sp>
        <p:nvSpPr>
          <p:cNvPr id="10" name="TextBox 9"/>
          <p:cNvSpPr txBox="1"/>
          <p:nvPr/>
        </p:nvSpPr>
        <p:spPr>
          <a:xfrm>
            <a:off x="1508760" y="1444752"/>
            <a:ext cx="1417320" cy="1115568"/>
          </a:xfrm>
          <a:prstGeom prst="rect">
            <a:avLst/>
          </a:prstGeom>
          <a:noFill/>
        </p:spPr>
        <p:txBody>
          <a:bodyPr wrap="square" anchor="ctr">
            <a:spAutoFit/>
          </a:bodyPr>
          <a:lstStyle/>
          <a:p>
            <a:pPr algn="l">
              <a:lnSpc>
                <a:spcPct val="100000"/>
              </a:lnSpc>
              <a:spcAft>
                <a:spcPts val="600"/>
              </a:spcAft>
            </a:pPr>
            <a:r>
              <a:rPr sz="1200" b="1" i="0">
                <a:solidFill>
                  <a:srgbClr val="E31837"/>
                </a:solidFill>
                <a:latin typeface="Roboto"/>
              </a:rPr>
              <a:t>This week</a:t>
            </a:r>
          </a:p>
        </p:txBody>
      </p:sp>
      <p:sp>
        <p:nvSpPr>
          <p:cNvPr id="11" name="TextBox 10"/>
          <p:cNvSpPr txBox="1"/>
          <p:nvPr/>
        </p:nvSpPr>
        <p:spPr>
          <a:xfrm>
            <a:off x="3017520" y="1444752"/>
            <a:ext cx="8503920" cy="1115568"/>
          </a:xfrm>
          <a:prstGeom prst="rect">
            <a:avLst/>
          </a:prstGeom>
          <a:noFill/>
        </p:spPr>
        <p:txBody>
          <a:bodyPr wrap="square" anchor="ctr">
            <a:spAutoFit/>
          </a:bodyPr>
          <a:lstStyle/>
          <a:p>
            <a:pPr algn="l">
              <a:lnSpc>
                <a:spcPct val="100000"/>
              </a:lnSpc>
              <a:spcAft>
                <a:spcPts val="600"/>
              </a:spcAft>
            </a:pPr>
            <a:r>
              <a:rPr sz="1600" b="1" i="0">
                <a:solidFill>
                  <a:srgbClr val="012169"/>
                </a:solidFill>
                <a:latin typeface="Roboto"/>
              </a:rPr>
              <a:t>Pick 3 Angular apps together</a:t>
            </a:r>
          </a:p>
          <a:p>
            <a:pPr algn="l">
              <a:lnSpc>
                <a:spcPct val="100000"/>
              </a:lnSpc>
              <a:spcAft>
                <a:spcPts val="600"/>
              </a:spcAft>
            </a:pPr>
            <a:r>
              <a:rPr sz="1200" b="0" i="0">
                <a:solidFill>
                  <a:srgbClr val="1C2430"/>
                </a:solidFill>
                <a:latin typeface="Roboto"/>
              </a:rPr>
              <a:t>We sit down with your team and choose three 14.x apps for Devin to fix</a:t>
            </a:r>
          </a:p>
        </p:txBody>
      </p:sp>
      <p:sp>
        <p:nvSpPr>
          <p:cNvPr id="12" name="Rounded Rectangle 11"/>
          <p:cNvSpPr/>
          <p:nvPr/>
        </p:nvSpPr>
        <p:spPr>
          <a:xfrm>
            <a:off x="502920" y="2688336"/>
            <a:ext cx="11201400" cy="111556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962656"/>
            <a:ext cx="566928" cy="566928"/>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026663"/>
            <a:ext cx="566928" cy="438912"/>
          </a:xfrm>
          <a:prstGeom prst="rect">
            <a:avLst/>
          </a:prstGeom>
          <a:noFill/>
        </p:spPr>
        <p:txBody>
          <a:bodyPr wrap="square" anchor="t">
            <a:spAutoFit/>
          </a:bodyPr>
          <a:lstStyle/>
          <a:p>
            <a:pPr algn="ctr">
              <a:lnSpc>
                <a:spcPct val="100000"/>
              </a:lnSpc>
              <a:spcAft>
                <a:spcPts val="600"/>
              </a:spcAft>
            </a:pPr>
            <a:r>
              <a:rPr sz="1800" b="1" i="0">
                <a:solidFill>
                  <a:srgbClr val="FFFFFF"/>
                </a:solidFill>
                <a:latin typeface="Roboto"/>
              </a:rPr>
              <a:t>2</a:t>
            </a:r>
          </a:p>
        </p:txBody>
      </p:sp>
      <p:sp>
        <p:nvSpPr>
          <p:cNvPr id="15" name="TextBox 14"/>
          <p:cNvSpPr txBox="1"/>
          <p:nvPr/>
        </p:nvSpPr>
        <p:spPr>
          <a:xfrm>
            <a:off x="1508760" y="2688336"/>
            <a:ext cx="1417320" cy="1115568"/>
          </a:xfrm>
          <a:prstGeom prst="rect">
            <a:avLst/>
          </a:prstGeom>
          <a:noFill/>
        </p:spPr>
        <p:txBody>
          <a:bodyPr wrap="square" anchor="ctr">
            <a:spAutoFit/>
          </a:bodyPr>
          <a:lstStyle/>
          <a:p>
            <a:pPr algn="l">
              <a:lnSpc>
                <a:spcPct val="100000"/>
              </a:lnSpc>
              <a:spcAft>
                <a:spcPts val="600"/>
              </a:spcAft>
            </a:pPr>
            <a:r>
              <a:rPr sz="1200" b="1" i="0">
                <a:solidFill>
                  <a:srgbClr val="E31837"/>
                </a:solidFill>
                <a:latin typeface="Roboto"/>
              </a:rPr>
              <a:t>Weeks 1–4</a:t>
            </a:r>
          </a:p>
        </p:txBody>
      </p:sp>
      <p:sp>
        <p:nvSpPr>
          <p:cNvPr id="16" name="TextBox 15"/>
          <p:cNvSpPr txBox="1"/>
          <p:nvPr/>
        </p:nvSpPr>
        <p:spPr>
          <a:xfrm>
            <a:off x="3017520" y="2688336"/>
            <a:ext cx="8503920" cy="1115568"/>
          </a:xfrm>
          <a:prstGeom prst="rect">
            <a:avLst/>
          </a:prstGeom>
          <a:noFill/>
        </p:spPr>
        <p:txBody>
          <a:bodyPr wrap="square" anchor="ctr">
            <a:spAutoFit/>
          </a:bodyPr>
          <a:lstStyle/>
          <a:p>
            <a:pPr algn="l">
              <a:lnSpc>
                <a:spcPct val="100000"/>
              </a:lnSpc>
              <a:spcAft>
                <a:spcPts val="600"/>
              </a:spcAft>
            </a:pPr>
            <a:r>
              <a:rPr sz="1600" b="1" i="0">
                <a:solidFill>
                  <a:srgbClr val="012169"/>
                </a:solidFill>
                <a:latin typeface="Roboto"/>
              </a:rPr>
              <a:t>Pilot phase</a:t>
            </a:r>
          </a:p>
          <a:p>
            <a:pPr algn="l">
              <a:lnSpc>
                <a:spcPct val="100000"/>
              </a:lnSpc>
              <a:spcAft>
                <a:spcPts val="600"/>
              </a:spcAft>
            </a:pPr>
            <a:r>
              <a:rPr sz="1200" b="0" i="0">
                <a:solidFill>
                  <a:srgbClr val="1C2430"/>
                </a:solidFill>
                <a:latin typeface="Roboto"/>
              </a:rPr>
              <a:t>Security review, then Devin migrates real code 14 → 18 — your engineers review every PR</a:t>
            </a:r>
          </a:p>
        </p:txBody>
      </p:sp>
      <p:sp>
        <p:nvSpPr>
          <p:cNvPr id="17" name="Rounded Rectangle 16"/>
          <p:cNvSpPr/>
          <p:nvPr/>
        </p:nvSpPr>
        <p:spPr>
          <a:xfrm>
            <a:off x="502920" y="3931920"/>
            <a:ext cx="11201400" cy="111556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4206240"/>
            <a:ext cx="566928" cy="566928"/>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4270248"/>
            <a:ext cx="566928" cy="438912"/>
          </a:xfrm>
          <a:prstGeom prst="rect">
            <a:avLst/>
          </a:prstGeom>
          <a:noFill/>
        </p:spPr>
        <p:txBody>
          <a:bodyPr wrap="square" anchor="t">
            <a:spAutoFit/>
          </a:bodyPr>
          <a:lstStyle/>
          <a:p>
            <a:pPr algn="ctr">
              <a:lnSpc>
                <a:spcPct val="100000"/>
              </a:lnSpc>
              <a:spcAft>
                <a:spcPts val="600"/>
              </a:spcAft>
            </a:pPr>
            <a:r>
              <a:rPr sz="1800" b="1" i="0">
                <a:solidFill>
                  <a:srgbClr val="FFFFFF"/>
                </a:solidFill>
                <a:latin typeface="Roboto"/>
              </a:rPr>
              <a:t>3</a:t>
            </a:r>
          </a:p>
        </p:txBody>
      </p:sp>
      <p:sp>
        <p:nvSpPr>
          <p:cNvPr id="20" name="TextBox 19"/>
          <p:cNvSpPr txBox="1"/>
          <p:nvPr/>
        </p:nvSpPr>
        <p:spPr>
          <a:xfrm>
            <a:off x="1508760" y="3931920"/>
            <a:ext cx="1417320" cy="1115568"/>
          </a:xfrm>
          <a:prstGeom prst="rect">
            <a:avLst/>
          </a:prstGeom>
          <a:noFill/>
        </p:spPr>
        <p:txBody>
          <a:bodyPr wrap="square" anchor="ctr">
            <a:spAutoFit/>
          </a:bodyPr>
          <a:lstStyle/>
          <a:p>
            <a:pPr algn="l">
              <a:lnSpc>
                <a:spcPct val="100000"/>
              </a:lnSpc>
              <a:spcAft>
                <a:spcPts val="600"/>
              </a:spcAft>
            </a:pPr>
            <a:r>
              <a:rPr sz="1200" b="1" i="0">
                <a:solidFill>
                  <a:srgbClr val="E31837"/>
                </a:solidFill>
                <a:latin typeface="Roboto"/>
              </a:rPr>
              <a:t>Week 4</a:t>
            </a:r>
          </a:p>
        </p:txBody>
      </p:sp>
      <p:sp>
        <p:nvSpPr>
          <p:cNvPr id="21" name="TextBox 20"/>
          <p:cNvSpPr txBox="1"/>
          <p:nvPr/>
        </p:nvSpPr>
        <p:spPr>
          <a:xfrm>
            <a:off x="3017520" y="3931920"/>
            <a:ext cx="8503920" cy="1115568"/>
          </a:xfrm>
          <a:prstGeom prst="rect">
            <a:avLst/>
          </a:prstGeom>
          <a:noFill/>
        </p:spPr>
        <p:txBody>
          <a:bodyPr wrap="square" anchor="ctr">
            <a:spAutoFit/>
          </a:bodyPr>
          <a:lstStyle/>
          <a:p>
            <a:pPr algn="l">
              <a:lnSpc>
                <a:spcPct val="100000"/>
              </a:lnSpc>
              <a:spcAft>
                <a:spcPts val="600"/>
              </a:spcAft>
            </a:pPr>
            <a:r>
              <a:rPr sz="1600" b="1" i="0">
                <a:solidFill>
                  <a:srgbClr val="012169"/>
                </a:solidFill>
                <a:latin typeface="Roboto"/>
              </a:rPr>
              <a:t>See how it does</a:t>
            </a:r>
          </a:p>
          <a:p>
            <a:pPr algn="l">
              <a:lnSpc>
                <a:spcPct val="100000"/>
              </a:lnSpc>
              <a:spcAft>
                <a:spcPts val="600"/>
              </a:spcAft>
            </a:pPr>
            <a:r>
              <a:rPr sz="1200" b="0" i="0">
                <a:solidFill>
                  <a:srgbClr val="1C2430"/>
                </a:solidFill>
                <a:latin typeface="Roboto"/>
              </a:rPr>
              <a:t>Readout against your success criteria, in front of this room</a:t>
            </a:r>
          </a:p>
        </p:txBody>
      </p:sp>
      <p:sp>
        <p:nvSpPr>
          <p:cNvPr id="22" name="Rounded Rectangle 21"/>
          <p:cNvSpPr/>
          <p:nvPr/>
        </p:nvSpPr>
        <p:spPr>
          <a:xfrm>
            <a:off x="502920" y="5175504"/>
            <a:ext cx="11201400" cy="111556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13232" y="5449824"/>
            <a:ext cx="566928" cy="566928"/>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5513832"/>
            <a:ext cx="566928" cy="438912"/>
          </a:xfrm>
          <a:prstGeom prst="rect">
            <a:avLst/>
          </a:prstGeom>
          <a:noFill/>
        </p:spPr>
        <p:txBody>
          <a:bodyPr wrap="square" anchor="t">
            <a:spAutoFit/>
          </a:bodyPr>
          <a:lstStyle/>
          <a:p>
            <a:pPr algn="ctr">
              <a:lnSpc>
                <a:spcPct val="100000"/>
              </a:lnSpc>
              <a:spcAft>
                <a:spcPts val="600"/>
              </a:spcAft>
            </a:pPr>
            <a:r>
              <a:rPr sz="1800" b="1" i="0">
                <a:solidFill>
                  <a:srgbClr val="FFFFFF"/>
                </a:solidFill>
                <a:latin typeface="Roboto"/>
              </a:rPr>
              <a:t>4</a:t>
            </a:r>
          </a:p>
        </p:txBody>
      </p:sp>
      <p:sp>
        <p:nvSpPr>
          <p:cNvPr id="25" name="TextBox 24"/>
          <p:cNvSpPr txBox="1"/>
          <p:nvPr/>
        </p:nvSpPr>
        <p:spPr>
          <a:xfrm>
            <a:off x="1508760" y="5175504"/>
            <a:ext cx="1417320" cy="1115568"/>
          </a:xfrm>
          <a:prstGeom prst="rect">
            <a:avLst/>
          </a:prstGeom>
          <a:noFill/>
        </p:spPr>
        <p:txBody>
          <a:bodyPr wrap="square" anchor="ctr">
            <a:spAutoFit/>
          </a:bodyPr>
          <a:lstStyle/>
          <a:p>
            <a:pPr algn="l">
              <a:lnSpc>
                <a:spcPct val="100000"/>
              </a:lnSpc>
              <a:spcAft>
                <a:spcPts val="600"/>
              </a:spcAft>
            </a:pPr>
            <a:r>
              <a:rPr sz="1200" b="1" i="0">
                <a:solidFill>
                  <a:srgbClr val="E31837"/>
                </a:solidFill>
                <a:latin typeface="Roboto"/>
              </a:rPr>
              <a:t>After</a:t>
            </a:r>
          </a:p>
        </p:txBody>
      </p:sp>
      <p:sp>
        <p:nvSpPr>
          <p:cNvPr id="26" name="TextBox 25"/>
          <p:cNvSpPr txBox="1"/>
          <p:nvPr/>
        </p:nvSpPr>
        <p:spPr>
          <a:xfrm>
            <a:off x="3017520" y="5175504"/>
            <a:ext cx="8503920" cy="1115568"/>
          </a:xfrm>
          <a:prstGeom prst="rect">
            <a:avLst/>
          </a:prstGeom>
          <a:noFill/>
        </p:spPr>
        <p:txBody>
          <a:bodyPr wrap="square" anchor="ctr">
            <a:spAutoFit/>
          </a:bodyPr>
          <a:lstStyle/>
          <a:p>
            <a:pPr algn="l">
              <a:lnSpc>
                <a:spcPct val="100000"/>
              </a:lnSpc>
              <a:spcAft>
                <a:spcPts val="600"/>
              </a:spcAft>
            </a:pPr>
            <a:r>
              <a:rPr sz="1600" b="1" i="0">
                <a:solidFill>
                  <a:srgbClr val="012169"/>
                </a:solidFill>
                <a:latin typeface="Roboto"/>
              </a:rPr>
              <a:t>Deploy Devin fully</a:t>
            </a:r>
          </a:p>
          <a:p>
            <a:pPr algn="l">
              <a:lnSpc>
                <a:spcPct val="100000"/>
              </a:lnSpc>
              <a:spcAft>
                <a:spcPts val="600"/>
              </a:spcAft>
            </a:pPr>
            <a:r>
              <a:rPr sz="1200" b="0" i="0">
                <a:solidFill>
                  <a:srgbClr val="1C2430"/>
                </a:solidFill>
                <a:latin typeface="Roboto"/>
              </a:rPr>
              <a:t>Rest of the Angular estate in parallel — then the broader maintenance backlog</a:t>
            </a:r>
          </a:p>
        </p:txBody>
      </p:sp>
      <p:sp>
        <p:nvSpPr>
          <p:cNvPr id="27" name="TextBox 26"/>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566160"/>
            <a:ext cx="12191695" cy="5486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651760"/>
            <a:ext cx="10515600" cy="822960"/>
          </a:xfrm>
          <a:prstGeom prst="rect">
            <a:avLst/>
          </a:prstGeom>
          <a:noFill/>
        </p:spPr>
        <p:txBody>
          <a:bodyPr wrap="square" anchor="t">
            <a:spAutoFit/>
          </a:bodyPr>
          <a:lstStyle/>
          <a:p>
            <a:pPr algn="l">
              <a:lnSpc>
                <a:spcPct val="100000"/>
              </a:lnSpc>
              <a:spcAft>
                <a:spcPts val="600"/>
              </a:spcAft>
            </a:pPr>
            <a:r>
              <a:rPr sz="3400" b="1" i="0">
                <a:solidFill>
                  <a:srgbClr val="FFFFFF"/>
                </a:solidFill>
                <a:latin typeface="Roboto"/>
              </a:rPr>
              <a:t>Appendix — Prep Material (not presented)</a:t>
            </a:r>
          </a:p>
        </p:txBody>
      </p:sp>
      <p:sp>
        <p:nvSpPr>
          <p:cNvPr id="5" name="TextBox 4"/>
          <p:cNvSpPr txBox="1"/>
          <p:nvPr/>
        </p:nvSpPr>
        <p:spPr>
          <a:xfrm>
            <a:off x="822960" y="3794760"/>
            <a:ext cx="10058400" cy="914400"/>
          </a:xfrm>
          <a:prstGeom prst="rect">
            <a:avLst/>
          </a:prstGeom>
          <a:noFill/>
        </p:spPr>
        <p:txBody>
          <a:bodyPr wrap="square" anchor="t">
            <a:spAutoFit/>
          </a:bodyPr>
          <a:lstStyle/>
          <a:p>
            <a:pPr algn="l">
              <a:lnSpc>
                <a:spcPct val="100000"/>
              </a:lnSpc>
              <a:spcAft>
                <a:spcPts val="600"/>
              </a:spcAft>
            </a:pPr>
            <a:r>
              <a:rPr sz="1600" b="0" i="0">
                <a:solidFill>
                  <a:srgbClr val="C9D4EC"/>
                </a:solidFill>
                <a:latin typeface="Roboto"/>
              </a:rPr>
              <a:t>A. Objection handling — if the room pushes back</a:t>
            </a:r>
          </a:p>
          <a:p>
            <a:pPr algn="l">
              <a:lnSpc>
                <a:spcPct val="100000"/>
              </a:lnSpc>
              <a:spcAft>
                <a:spcPts val="600"/>
              </a:spcAft>
            </a:pPr>
            <a:r>
              <a:rPr sz="1600" b="0" i="0">
                <a:solidFill>
                  <a:srgbClr val="C9D4EC"/>
                </a:solidFill>
                <a:latin typeface="Roboto"/>
              </a:rPr>
              <a:t>B. Pre-meeting research checklist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APPENDIX A</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If the room pushes back: objections &amp; responses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A</a:t>
            </a:r>
          </a:p>
        </p:txBody>
      </p:sp>
      <p:sp>
        <p:nvSpPr>
          <p:cNvPr id="7" name="Rounded Rectangle 6"/>
          <p:cNvSpPr/>
          <p:nvPr/>
        </p:nvSpPr>
        <p:spPr>
          <a:xfrm>
            <a:off x="502920" y="141732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47218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“AI writing code for a bank? Our regulators will never allow it.”</a:t>
            </a:r>
          </a:p>
        </p:txBody>
      </p:sp>
      <p:sp>
        <p:nvSpPr>
          <p:cNvPr id="9" name="TextBox 8"/>
          <p:cNvSpPr txBox="1"/>
          <p:nvPr/>
        </p:nvSpPr>
        <p:spPr>
          <a:xfrm>
            <a:off x="5029200" y="147218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Devin changes who types, not who approves. Every change goes through your existing review, CI, and release gates — the same controls you'd apply to a contractor. And it leaves a better audit trail than a human.</a:t>
            </a:r>
          </a:p>
        </p:txBody>
      </p:sp>
      <p:sp>
        <p:nvSpPr>
          <p:cNvPr id="10" name="Rounded Rectangle 9"/>
          <p:cNvSpPr/>
          <p:nvPr/>
        </p:nvSpPr>
        <p:spPr>
          <a:xfrm>
            <a:off x="502920" y="224028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9514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“We already have Copilot / internal AI tools.”</a:t>
            </a:r>
          </a:p>
        </p:txBody>
      </p:sp>
      <p:sp>
        <p:nvSpPr>
          <p:cNvPr id="12" name="TextBox 11"/>
          <p:cNvSpPr txBox="1"/>
          <p:nvPr/>
        </p:nvSpPr>
        <p:spPr>
          <a:xfrm>
            <a:off x="5029200" y="229514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Complementary, not competing. Copilot accelerates an engineer who's already assigned. Devin absorbs whole task categories nobody wants assigned — migrations, upgrades, test debt.</a:t>
            </a:r>
          </a:p>
        </p:txBody>
      </p:sp>
      <p:sp>
        <p:nvSpPr>
          <p:cNvPr id="13" name="Rounded Rectangle 12"/>
          <p:cNvSpPr/>
          <p:nvPr/>
        </p:nvSpPr>
        <p:spPr>
          <a:xfrm>
            <a:off x="502920" y="306324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11810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“Our codebase is far bigger and messier than any demo.”</a:t>
            </a:r>
          </a:p>
        </p:txBody>
      </p:sp>
      <p:sp>
        <p:nvSpPr>
          <p:cNvPr id="15" name="TextBox 14"/>
          <p:cNvSpPr txBox="1"/>
          <p:nvPr/>
        </p:nvSpPr>
        <p:spPr>
          <a:xfrm>
            <a:off x="5029200" y="311810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Agreed — that's why the pilot is on your code, your criteria, in four weeks. Scale actually favors Devin: it parallelizes across repos; humans don't.</a:t>
            </a:r>
          </a:p>
        </p:txBody>
      </p:sp>
      <p:sp>
        <p:nvSpPr>
          <p:cNvPr id="16" name="Rounded Rectangle 15"/>
          <p:cNvSpPr/>
          <p:nvPr/>
        </p:nvSpPr>
        <p:spPr>
          <a:xfrm>
            <a:off x="502920" y="388620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941063"/>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“What about hallucinations / wrong code?”</a:t>
            </a:r>
          </a:p>
        </p:txBody>
      </p:sp>
      <p:sp>
        <p:nvSpPr>
          <p:cNvPr id="18" name="TextBox 17"/>
          <p:cNvSpPr txBox="1"/>
          <p:nvPr/>
        </p:nvSpPr>
        <p:spPr>
          <a:xfrm>
            <a:off x="5029200" y="3941063"/>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Devin executes what it writes — builds, tests, and iterates until green before opening a PR. Wrong code fails your test suite and never reaches a human's desk, let alone production.</a:t>
            </a:r>
          </a:p>
        </p:txBody>
      </p:sp>
      <p:sp>
        <p:nvSpPr>
          <p:cNvPr id="19" name="Rounded Rectangle 18"/>
          <p:cNvSpPr/>
          <p:nvPr/>
        </p:nvSpPr>
        <p:spPr>
          <a:xfrm>
            <a:off x="502920" y="470916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76402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“Is this going to replace my engineers?”</a:t>
            </a:r>
          </a:p>
        </p:txBody>
      </p:sp>
      <p:sp>
        <p:nvSpPr>
          <p:cNvPr id="21" name="TextBox 20"/>
          <p:cNvSpPr txBox="1"/>
          <p:nvPr/>
        </p:nvSpPr>
        <p:spPr>
          <a:xfrm>
            <a:off x="5029200" y="476402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It replaces the work your engineers resent, not the engineers. The pitch to your team: nobody hand-migrates *ngFor loops anymore; everyone reviews, designs, and ships features.</a:t>
            </a:r>
          </a:p>
        </p:txBody>
      </p:sp>
      <p:sp>
        <p:nvSpPr>
          <p:cNvPr id="22" name="Rounded Rectangle 21"/>
          <p:cNvSpPr/>
          <p:nvPr/>
        </p:nvSpPr>
        <p:spPr>
          <a:xfrm>
            <a:off x="502920" y="553212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8698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“Where does our code go? Data security?”</a:t>
            </a:r>
          </a:p>
        </p:txBody>
      </p:sp>
      <p:sp>
        <p:nvSpPr>
          <p:cNvPr id="24" name="TextBox 23"/>
          <p:cNvSpPr txBox="1"/>
          <p:nvPr/>
        </p:nvSpPr>
        <p:spPr>
          <a:xfrm>
            <a:off x="5029200" y="558698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Answered properly in the week-0 security review — enterprise deployment and data-isolation options exist. Don't accept a hand-wave from me; bring your security team.</a:t>
            </a:r>
          </a:p>
        </p:txBody>
      </p:sp>
      <p:sp>
        <p:nvSpPr>
          <p:cNvPr id="25" name="TextBox 24"/>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APPENDIX B</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Pre-meeting research checklist (do before the room)</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B</a:t>
            </a:r>
          </a:p>
        </p:txBody>
      </p:sp>
      <p:sp>
        <p:nvSpPr>
          <p:cNvPr id="7" name="Rounded Rectangle 6"/>
          <p:cNvSpPr/>
          <p:nvPr/>
        </p:nvSpPr>
        <p:spPr>
          <a:xfrm>
            <a:off x="502920" y="1481328"/>
            <a:ext cx="5486400" cy="42062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98678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51206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About Bank of America</a:t>
            </a:r>
          </a:p>
        </p:txBody>
      </p:sp>
      <p:sp>
        <p:nvSpPr>
          <p:cNvPr id="10" name="TextBox 9"/>
          <p:cNvSpPr txBox="1"/>
          <p:nvPr/>
        </p:nvSpPr>
        <p:spPr>
          <a:xfrm>
            <a:off x="704088" y="1956816"/>
            <a:ext cx="5120640" cy="3611879"/>
          </a:xfrm>
          <a:prstGeom prst="rect">
            <a:avLst/>
          </a:prstGeom>
          <a:noFill/>
        </p:spPr>
        <p:txBody>
          <a:bodyPr wrap="square" anchor="t">
            <a:spAutoFit/>
          </a:bodyPr>
          <a:lstStyle/>
          <a:p>
            <a:pPr algn="l">
              <a:lnSpc>
                <a:spcPct val="105000"/>
              </a:lnSpc>
              <a:spcAft>
                <a:spcPts val="500"/>
              </a:spcAft>
            </a:pPr>
            <a:r>
              <a:rPr sz="1150" b="0" i="0">
                <a:solidFill>
                  <a:srgbClr val="1C2430"/>
                </a:solidFill>
                <a:latin typeface="Roboto"/>
              </a:rPr>
              <a:t>BofA tech budget: verify latest figure (~$13.5B total, $4B+ new initiatives per BofA Fast Facts) from most recent earnings call / newsroom.</a:t>
            </a:r>
          </a:p>
          <a:p>
            <a:pPr algn="l">
              <a:lnSpc>
                <a:spcPct val="105000"/>
              </a:lnSpc>
              <a:spcAft>
                <a:spcPts val="500"/>
              </a:spcAft>
            </a:pPr>
            <a:r>
              <a:rPr sz="1150" b="0" i="0">
                <a:solidFill>
                  <a:srgbClr val="1C2430"/>
                </a:solidFill>
                <a:latin typeface="Roboto"/>
              </a:rPr>
              <a:t>Erica + AI posture: current interaction stats, AI patent counts, exec quotes (Aditya Bhasin, Hari Gopalkrishnan) on GenAI for developers.</a:t>
            </a:r>
          </a:p>
          <a:p>
            <a:pPr algn="l">
              <a:lnSpc>
                <a:spcPct val="105000"/>
              </a:lnSpc>
              <a:spcAft>
                <a:spcPts val="500"/>
              </a:spcAft>
            </a:pPr>
            <a:r>
              <a:rPr sz="1150" b="0" i="0">
                <a:solidFill>
                  <a:srgbClr val="1C2430"/>
                </a:solidFill>
                <a:latin typeface="Roboto"/>
              </a:rPr>
              <a:t>Angular evidence: pull 2–3 live BofA job postings listing Angular for digital banking — grounds the 'your stack' claim.</a:t>
            </a:r>
          </a:p>
          <a:p>
            <a:pPr algn="l">
              <a:lnSpc>
                <a:spcPct val="105000"/>
              </a:lnSpc>
              <a:spcAft>
                <a:spcPts val="500"/>
              </a:spcAft>
            </a:pPr>
            <a:r>
              <a:rPr sz="1150" b="0" i="0">
                <a:solidFill>
                  <a:srgbClr val="1C2430"/>
                </a:solidFill>
                <a:latin typeface="Roboto"/>
              </a:rPr>
              <a:t>Angular 14 EOL specifics: community EOL Nov 2023; check if BofA uses extended LTS (HeroDevs NES etc.) — changes urgency framing.</a:t>
            </a:r>
          </a:p>
          <a:p>
            <a:pPr algn="l">
              <a:lnSpc>
                <a:spcPct val="105000"/>
              </a:lnSpc>
              <a:spcAft>
                <a:spcPts val="500"/>
              </a:spcAft>
            </a:pPr>
            <a:r>
              <a:rPr sz="1150" b="0" i="0">
                <a:solidFill>
                  <a:srgbClr val="1C2430"/>
                </a:solidFill>
                <a:latin typeface="Roboto"/>
              </a:rPr>
              <a:t>Attendees: names, LinkedIn backgrounds, org context for all three; adjust the personas slide phrasing to match.</a:t>
            </a:r>
          </a:p>
        </p:txBody>
      </p:sp>
      <p:sp>
        <p:nvSpPr>
          <p:cNvPr id="11" name="Rounded Rectangle 10"/>
          <p:cNvSpPr/>
          <p:nvPr/>
        </p:nvSpPr>
        <p:spPr>
          <a:xfrm>
            <a:off x="6217920" y="1481328"/>
            <a:ext cx="5486400" cy="42062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91056"/>
            <a:ext cx="54864" cy="398678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1591056"/>
            <a:ext cx="51206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About Cognition / logistics</a:t>
            </a:r>
          </a:p>
        </p:txBody>
      </p:sp>
      <p:sp>
        <p:nvSpPr>
          <p:cNvPr id="14" name="TextBox 13"/>
          <p:cNvSpPr txBox="1"/>
          <p:nvPr/>
        </p:nvSpPr>
        <p:spPr>
          <a:xfrm>
            <a:off x="6419088" y="1956816"/>
            <a:ext cx="5120640" cy="3611879"/>
          </a:xfrm>
          <a:prstGeom prst="rect">
            <a:avLst/>
          </a:prstGeom>
          <a:noFill/>
        </p:spPr>
        <p:txBody>
          <a:bodyPr wrap="square" anchor="t">
            <a:spAutoFit/>
          </a:bodyPr>
          <a:lstStyle/>
          <a:p>
            <a:pPr algn="l">
              <a:lnSpc>
                <a:spcPct val="105000"/>
              </a:lnSpc>
              <a:spcAft>
                <a:spcPts val="500"/>
              </a:spcAft>
            </a:pPr>
            <a:r>
              <a:rPr sz="1150" b="0" i="0">
                <a:solidFill>
                  <a:srgbClr val="1C2430"/>
                </a:solidFill>
                <a:latin typeface="Roboto"/>
              </a:rPr>
              <a:t>Cognition enterprise story: deployment options (VPC/isolation), data residency, SOC 2 / compliance posture — know it cold for security Qs.</a:t>
            </a:r>
          </a:p>
          <a:p>
            <a:pPr algn="l">
              <a:lnSpc>
                <a:spcPct val="105000"/>
              </a:lnSpc>
              <a:spcAft>
                <a:spcPts val="500"/>
              </a:spcAft>
            </a:pPr>
            <a:r>
              <a:rPr sz="1150" b="0" i="0">
                <a:solidFill>
                  <a:srgbClr val="1C2430"/>
                </a:solidFill>
                <a:latin typeface="Roboto"/>
              </a:rPr>
              <a:t>Public financial-services references or case studies you're allowed to cite (banks, regulated industries).</a:t>
            </a:r>
          </a:p>
          <a:p>
            <a:pPr algn="l">
              <a:lnSpc>
                <a:spcPct val="105000"/>
              </a:lnSpc>
              <a:spcAft>
                <a:spcPts val="500"/>
              </a:spcAft>
            </a:pPr>
            <a:r>
              <a:rPr sz="1150" b="0" i="0">
                <a:solidFill>
                  <a:srgbClr val="1C2430"/>
                </a:solidFill>
                <a:latin typeface="Roboto"/>
              </a:rPr>
              <a:t>BofA AI governance: their published responsible-AI framework language — mirror it when discussing oversight.</a:t>
            </a:r>
          </a:p>
          <a:p>
            <a:pPr algn="l">
              <a:lnSpc>
                <a:spcPct val="105000"/>
              </a:lnSpc>
              <a:spcAft>
                <a:spcPts val="500"/>
              </a:spcAft>
            </a:pPr>
            <a:r>
              <a:rPr sz="1150" b="0" i="0">
                <a:solidFill>
                  <a:srgbClr val="1C2430"/>
                </a:solidFill>
                <a:latin typeface="Roboto"/>
              </a:rPr>
              <a:t>Pricing/pilot structure: know the current pilot commercial model so 'what does it cost' gets a confident one-liner.</a:t>
            </a:r>
          </a:p>
          <a:p>
            <a:pPr algn="l">
              <a:lnSpc>
                <a:spcPct val="105000"/>
              </a:lnSpc>
              <a:spcAft>
                <a:spcPts val="500"/>
              </a:spcAft>
            </a:pPr>
            <a:r>
              <a:rPr sz="1150" b="0" i="0">
                <a:solidFill>
                  <a:srgbClr val="1C2430"/>
                </a:solidFill>
                <a:latin typeface="Roboto"/>
              </a:rPr>
              <a:t>Rehearse demo failure recovery: git reset branches + recorded backup run tested on the presentation machine.</a:t>
            </a:r>
          </a:p>
        </p:txBody>
      </p:sp>
      <p:sp>
        <p:nvSpPr>
          <p:cNvPr id="15" name="TextBox 14"/>
          <p:cNvSpPr txBox="1"/>
          <p:nvPr/>
        </p:nvSpPr>
        <p:spPr>
          <a:xfrm>
            <a:off x="502920" y="5806440"/>
            <a:ext cx="11201400" cy="457200"/>
          </a:xfrm>
          <a:prstGeom prst="rect">
            <a:avLst/>
          </a:prstGeom>
          <a:noFill/>
        </p:spPr>
        <p:txBody>
          <a:bodyPr wrap="square" anchor="t">
            <a:spAutoFit/>
          </a:bodyPr>
          <a:lstStyle/>
          <a:p>
            <a:pPr algn="l">
              <a:lnSpc>
                <a:spcPct val="100000"/>
              </a:lnSpc>
              <a:spcAft>
                <a:spcPts val="600"/>
              </a:spcAft>
            </a:pPr>
            <a:r>
              <a:rPr sz="1200" b="1" i="0">
                <a:solidFill>
                  <a:srgbClr val="E31837"/>
                </a:solidFill>
                <a:latin typeface="Roboto"/>
              </a:rPr>
              <a:t>Rule of thumb: </a:t>
            </a:r>
            <a:r>
              <a:rPr sz="1200" b="0" i="1">
                <a:solidFill>
                  <a:srgbClr val="1C2430"/>
                </a:solidFill>
                <a:latin typeface="Roboto"/>
              </a:rPr>
              <a:t>every number you say out loud in that room should have a source you checked within the last month.</a:t>
            </a:r>
          </a:p>
        </p:txBody>
      </p:sp>
      <p:sp>
        <p:nvSpPr>
          <p:cNvPr id="16" name="TextBox 15"/>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