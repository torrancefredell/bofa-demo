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warm and casual — thank them for the time before you touch the deck.</a:t>
            </a:r>
          </a:p>
          <a:p/>
          <a:p>
            <a:r>
              <a:t>"Thanks for making time — I know 45 minutes on your calendars is expensive, so I promise to spend most of it on your actual problem, not on marketing slides."</a:t>
            </a:r>
          </a:p>
          <a:p/>
          <a:p>
            <a:r>
              <a:t>Personal hook (say it here, expand on slide 3): "Quick context on me — before Cognition I was a software engineer at Capital One, so I've lived inside a big bank's SDLC. A lot of what we'll talk about today is stuff I personally lost weekends to."</a:t>
            </a:r>
          </a:p>
          <a:p/>
          <a:p>
            <a:r>
              <a:t>[RESEARCH BEFORE MEETING]</a:t>
            </a:r>
          </a:p>
          <a:p>
            <a:r>
              <a:t>- Confirm exact Angular 14 EOL date your security policy keys off (community EOL was Nov 2023; confirm whether BofA has extended support via HeroDevs/OpenLogic or an internal exception process — this changes the urgency framing).</a:t>
            </a:r>
          </a:p>
          <a:p>
            <a:r>
              <a:t>- Fill in your name/date, and get the attendees' actual names ahead of time — greet by name.</a:t>
            </a:r>
          </a:p>
          <a:p/>
          <a:p>
            <a:r>
              <a:t>[PAUSE] after intro — ask: "Before I dive in: has anything changed since you reached out after the conference? Anything you want to make sure we cover?" Write down what they say and visibly come back to it later — that's how you keep opinionated execs engaged.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flight plan. Two things to call out: the demo is real — live product, on a codebase structured like yours, not a video. And a third of this meeting is reserved for you talking, not me."</a:t>
            </a:r>
          </a:p>
          <a:p/>
          <a:p>
            <a:r>
              <a:t>[ASK] "Does this split work for everyone? If you'd rather go straight to the demo, I'm happy to reshuffle."</a:t>
            </a:r>
          </a:p>
          <a:p/>
          <a:p>
            <a:r>
              <a:t>DERAIL-PREP: This slide is your steering wheel. If the conversation goes sideways later, point back here: "Great question — that's exactly section 5, can I park it for 10 minutes so I can answer it properly?" Parking with a named return time keeps control without shutting anyone down.</a:t>
            </a:r>
          </a:p>
          <a:p/>
          <a:p>
            <a:r>
              <a:t>--- "WHY I'M HERE (AND WHY BOFA)" — delivered verbally off this slide, ~2 min, no dedicated slide. Keep it brief; you represent Cognition, not your biography:</a:t>
            </a:r>
          </a:p>
          <a:p/>
          <a:p>
            <a:r>
              <a:t>"Quick context on me before we dig in: before Cognition I was a software engineer at Capital One, so I've been on your side of the table — I was the engineer who got voluntold for framework migrations. Spreadsheets of deprecations, chasing a dozen teams for sign-off on shared library changes, compliance deadlines eating weekends. So when I show you Devin today, it's not abstract for me — this is the work I wished someone would take off my plate."</a:t>
            </a:r>
          </a:p>
          <a:p/>
          <a:p>
            <a:r>
              <a:t>Then pivot to why BofA (one breath, then move on): "And BofA is exactly where this matters most — you're one of the biggest engineering orgs on the planet, ~$13B a year in tech, already AI-forward with Erica. At your scale, a systematic, fully-logged way to do this work isn't a nice-to-have."</a:t>
            </a:r>
          </a:p>
          <a:p/>
          <a:p>
            <a:r>
              <a:t>[ASK the room] "Who owns the Angular upgrade today — and what did they stop doing to own it?" Then actually wait. The VP of Engineering will usually answer. If they name a person/team, refer back to them later ("so Priya's team gets their roadmap back").</a:t>
            </a:r>
          </a:p>
          <a:p/>
          <a:p>
            <a:r>
              <a:t>[RESEARCH BEFORE MEETING]</a:t>
            </a:r>
          </a:p>
          <a:p>
            <a:r>
              <a:t>- Verify the current BofA tech budget figure (~$12–13B cited publicly; ~$3.5–4B on new initiatives) from their most recent earnings call.</a:t>
            </a:r>
          </a:p>
          <a:p>
            <a:r>
              <a:t>- Erica stats (2B+ interactions cited publicly), AI patent counts, exec quotes (Aditya Bhasin, Hari Gopalkrishnan) on GenAI for developers.</a:t>
            </a:r>
          </a:p>
          <a:p>
            <a:r>
              <a:t>- Keep the Capital One story factual — they may probe.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non-demo slide. Spend real time here and let THEM correct you — being corrected is a win, it means engagement and better intel.</a:t>
            </a:r>
          </a:p>
          <a:p/>
          <a:p>
            <a:r>
              <a:t>Talk track: "Here's my understanding of what you're up against — please red-pen this. You have a hard, policy-driven deadline on an app you cannot afford to destabilize, and the thing that makes it slow isn't typing code, it's the coordination tax across a dozen consuming teams."</a:t>
            </a:r>
          </a:p>
          <a:p/>
          <a:p>
            <a:r>
              <a:t>[ASK, by persona]</a:t>
            </a:r>
          </a:p>
          <a:p>
            <a:r>
              <a:t>- VP Eng: "What's the current internal estimate for the upgrade, and what's it displacing on the roadmap?"</a:t>
            </a:r>
          </a:p>
          <a:p>
            <a:r>
              <a:t>- Security: "What does your policy actually require when a framework goes EOL — remediation plan? exception filing? What's your audit exposure today?"</a:t>
            </a:r>
          </a:p>
          <a:p>
            <a:r>
              <a:t>- Architect: "How do downstream teams consume the library today — pinned versions? monorepo? That changes the rollout strategy."</a:t>
            </a:r>
          </a:p>
          <a:p/>
          <a:p>
            <a:r>
              <a:t>[ASK] Check-my-math question: "Is that a fair picture of where this stands? What am I missing or getting wrong about your environment?" [PAUSE] after it. Silence is fine. Whatever they say, write it down visibly.</a:t>
            </a:r>
          </a:p>
          <a:p/>
          <a:p>
            <a:r>
              <a:t>DERAIL-PREP: If someone says "we already have a plan / Nx / internal tooling for this" — don't argue. "That's great — Devin doesn't replace that plan, it executes it faster. Let me show you what I mean in the demo."</a:t>
            </a:r>
          </a:p>
          <a:p/>
          <a:p>
            <a:r>
              <a:t>[RESEARCH BEFORE MEETING]</a:t>
            </a:r>
          </a:p>
          <a:p>
            <a:r>
              <a:t>- Confirm public info on BofA's front-end stack (job postings are a goldmine: BofA postings frequently list Angular for digital banking roles — pull 2–3 current examples so 'you're an Angular shop' is grounded, not guessed).</a:t>
            </a:r>
          </a:p>
          <a:p>
            <a:r>
              <a:t>- Check whether BofA has publicly discussed extended LTS vendors (HeroDevs NES etc.) — if they've bought extended support, reframe urgency around cost of extension rather than policy violation.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SHORT — five minutes max. Execs don't want an architecture lecture; they want to know what it is, where it fits, and what stays under their control.</a:t>
            </a:r>
          </a:p>
          <a:p/>
          <a:p>
            <a:r>
              <a:t>Key distinction to land: "You've probably all used or evaluated Copilot-style tools. Those make an engineer type faster. Devin is different — you hand it the whole task. 'Upgrade this repo from Angular 14 to 18, keep tests green' — and it comes back with reviewed-ready PRs."</a:t>
            </a:r>
          </a:p>
          <a:p/>
          <a:p>
            <a:r>
              <a:t>Compliance hook for the Security Engineer: "Everything Devin does is captured in a session log — every command, every file change, every test run. For a bank, that's a better audit trail than most human engineers leave behind."</a:t>
            </a:r>
          </a:p>
          <a:p/>
          <a:p>
            <a:r>
              <a:t>[ASK] calibration question: "What's your mental model of tools like this — copilot, contractor, or something else? I'll calibrate to that." It surfaces skepticism early, on your terms, instead of mid-demo.</a:t>
            </a:r>
          </a:p>
          <a:p/>
          <a:p>
            <a:r>
              <a:t>DERAIL-PREP:</a:t>
            </a:r>
          </a:p>
          <a:p>
            <a:r>
              <a:t>- "We tried AI coding tools and they hallucinate": "Fair — most tools generate code and hope. Devin runs the code. It compiles, executes tests, and iterates until they pass. You'll see that live in about 60 seconds."</a:t>
            </a:r>
          </a:p>
          <a:p>
            <a:r>
              <a:t>- "What model is it? Where does our code go?": Don't improvise. "Great question — deployment options include VPC and data-isolation controls; I'll bring our security team for a proper review as part of next steps." [RESEARCH: know Cognition's current enterprise deployment/data-residency story cold before the meeting.]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your engagement insurance policy. Naming each person's likely concern out loud — before they raise it — earns trust and takes the wind out of ambushes.</a:t>
            </a:r>
          </a:p>
          <a:p/>
          <a:p>
            <a:r>
              <a:t>Delivery tip: address each column TO that person, by name, with eye contact. "For you, [VP name], my guess is the question is team capacity..." Then [ASK]: "I took a guess at what each of you cares about. Did I get it roughly right — and what did I miss? I'd rather demo to your real concerns than my imagined ones." Let each of the three respond. Budget 3–4 minutes; this is where buy-in starts.</a:t>
            </a:r>
          </a:p>
          <a:p/>
          <a:p>
            <a:r>
              <a:t>DERAIL-PREP (opinionated execs):</a:t>
            </a:r>
          </a:p>
          <a:p>
            <a:r>
              <a:t>- If one person dominates: "That's a thread I want to pull on — but I want to make sure I hear [other person]'s take before the demo, since it changes what I show."</a:t>
            </a:r>
          </a:p>
          <a:p>
            <a:r>
              <a:t>- If someone is openly skeptical/hostile: don't defend, redirect to evidence. "Totally fair to be skeptical. Can I earn the benefit of the doubt with the demo? If it doesn't hold up, tear it apart."</a:t>
            </a:r>
          </a:p>
          <a:p>
            <a:r>
              <a:t>- If they push into pricing/procurement early: "I'll cover commercial structure in next steps — short version: we typically start with a bounded pilot so you're not buying on faith."</a:t>
            </a:r>
          </a:p>
          <a:p/>
          <a:p>
            <a:r>
              <a:t>[RESEARCH BEFORE MEETING]</a:t>
            </a:r>
          </a:p>
          <a:p>
            <a:r>
              <a:t>- Get the attendees' actual names/backgrounds (LinkedIn) — tailor each column's phrasing to how their org actually talks.</a:t>
            </a:r>
          </a:p>
          <a:p>
            <a:r>
              <a:t>- Check BofA's public statements on responsible-AI governance (they have an internal AI governance framework) — mirror their language when talking about human oversight.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to the live demo here (the !bofa_demo playbook flow). This slide is the map you leave up briefly so they know what they're about to see, then you go live.</a:t>
            </a:r>
          </a:p>
          <a:p/>
          <a:p>
            <a:r>
              <a:t>While it runs, invite interaction: "Shout out anything you'd want to inspect — a diff, a test, a log. This is your demo, not my script."</a:t>
            </a:r>
          </a:p>
          <a:p/>
          <a:p>
            <a:r>
              <a:t>Narrate value, not syntax: each of the 5 patterns has a business hook —</a:t>
            </a:r>
          </a:p>
          <a:p>
            <a:r>
              <a:t>1. HttpParams → "API evolution handled systematically, not by grep-and-pray."</a:t>
            </a:r>
          </a:p>
          <a:p>
            <a:r>
              <a:t>2. Standalone components → "Adopting Angular 18 the right way, not just compiling on it."</a:t>
            </a:r>
          </a:p>
          <a:p>
            <a:r>
              <a:t>3. TestBed → "Your test suite migrates too — most manual upgrades leave tests rotting."</a:t>
            </a:r>
          </a:p>
          <a:p>
            <a:r>
              <a:t>4. any types in financial models → point at the Security Engineer: "Type safety on money-handling code. This is a defect class disappearing."</a:t>
            </a:r>
          </a:p>
          <a:p>
            <a:r>
              <a:t>5. *ngFor → @for → point at the Architect: "Template modernization applied identically across the whole library — consistency at scale."</a:t>
            </a:r>
          </a:p>
          <a:p/>
          <a:p>
            <a:r>
              <a:t>Pattern 4 and the downstream-teams story are your strongest moments — slow down there.</a:t>
            </a:r>
          </a:p>
          <a:p/>
          <a:p>
            <a:r>
              <a:t>[PAUSE] moments: after the baseline goes green ("that's the safety net"), and after the final validation scan ("zero legacy patterns — that's the compliance evidence your audit file wants").</a:t>
            </a:r>
          </a:p>
          <a:p/>
          <a:p>
            <a:r>
              <a:t>DERAIL-PREP:</a:t>
            </a:r>
          </a:p>
          <a:p>
            <a:r>
              <a:t>- Demo breaks: stay calm, it's rehearsed — you have git-reset recovery branches and a recorded run as backup. "Live demos, right? Here's the recorded run while I reset."</a:t>
            </a:r>
          </a:p>
          <a:p>
            <a:r>
              <a:t>- "This demo repo is toy-sized; ours is 100x bigger": "Completely true — and that's the point of the pilot: we prove it on a real slice of YOUR codebase in week one. Scale is Devin's advantage: it parallelizes; humans don't."</a:t>
            </a:r>
          </a:p>
          <a:p>
            <a:r>
              <a:t>- "Devin wrote this demo repo, of course it can fix it": "Fair — which is why next step is your code, not mine."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from demo to their world: "What you just saw on five patterns is exactly what runs across your real repos — the difference is scale, and scale is where this gets interesting."</a:t>
            </a:r>
          </a:p>
          <a:p/>
          <a:p>
            <a:r>
              <a:t>The killer point for the Architect is step 3: parallelization. "A human team upgrades one repo at a time and coordinates by meeting. Devin runs one session per downstream app simultaneously. Your critical path goes from 'sum of 12 teams' calendars' to 'longest single review cycle.'"</a:t>
            </a:r>
          </a:p>
          <a:p/>
          <a:p>
            <a:r>
              <a:t>For the Security Engineer, step 4: "You don't build the audit story at the end — every session IS the audit story."</a:t>
            </a:r>
          </a:p>
          <a:p/>
          <a:p>
            <a:r>
              <a:t>[ASK] the Architect directly: "If we upgraded the shared library first and handed each consuming team a passing PR, what would still worry you?" — whatever they say becomes a pilot success criterion. Write it down.</a:t>
            </a:r>
          </a:p>
          <a:p/>
          <a:p>
            <a:r>
              <a:t>DERAIL-PREP:</a:t>
            </a:r>
          </a:p>
          <a:p>
            <a:r>
              <a:t>- "Our repos are on internal GitHub Enterprise / restricted network": "Supported — deployment specifics are exactly what the week-0 security review covers." [RESEARCH: confirm Cognition's current GHE/VPC/network-isolation options before the meeting so you don't overpromise.]</a:t>
            </a:r>
          </a:p>
          <a:p>
            <a:r>
              <a:t>- "Who's liable if Devin introduces a bug?": "Same person as today — the reviewing engineer and your existing release process. Devin doesn't get commit rights your policies wouldn't give a contractor."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Paint the after-picture in THEIR terms, one beat per persona:</a:t>
            </a:r>
          </a:p>
          <a:p>
            <a:r>
              <a:t>- VP Eng: capacity back + deadline met without roadmap carnage.</a:t>
            </a:r>
          </a:p>
          <a:p>
            <a:r>
              <a:t>- Security: policy violation resolved, plus a standing audit trail for every future change.</a:t>
            </a:r>
          </a:p>
          <a:p>
            <a:r>
              <a:t>- Architect: consistency enforced mechanically across the estate; migrations become boring (the highest compliment in architecture).</a:t>
            </a:r>
          </a:p>
          <a:p/>
          <a:p>
            <a:r>
              <a:t>The third card is deliberately the expansion story — mention the other two use cases from their own list (cloud migration, test coverage) briefly: "And to be direct, the same machinery applies to the Lambda migration and the OCC test-coverage push you mentioned. But let's earn that with this one first." Referencing their own pre-shared initiatives shows you listened.</a:t>
            </a:r>
          </a:p>
          <a:p/>
          <a:p>
            <a:r>
              <a:t>[ASK] gut-check: "If this end state showed up on time, what would it be worth to your org? I'm asking seriously — it should anchor how we scope the pilot." [PAUSE] and let them put a number or a feeling on it. Whatever value they articulate becomes YOUR value framing in follow-up emails — their words, not yours.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with a specific, low-risk ask and assign owners in the room — that's what turns a nice meeting into a pipeline.</a:t>
            </a:r>
          </a:p>
          <a:p/>
          <a:p>
            <a:r>
              <a:t>Talk track: "I'm not asking you to bet the bank. I'm asking for one repo and four weeks, measured against criteria YOU define. If Devin doesn't earn its keep, you've spent almost nothing finding out."</a:t>
            </a:r>
          </a:p>
          <a:p/>
          <a:p>
            <a:r>
              <a:t>Assign ownership live: security review → Security Engineer; pilot repo + success criteria → Chief Architect; sponsorship/capacity → VP Eng. People who own a step show up to the next meeting.</a:t>
            </a:r>
          </a:p>
          <a:p/>
          <a:p>
            <a:r>
              <a:t>[ASK] the closing question and get a name and a date before you leave the room. "Who should I follow up with, and does end of this week work for the security call?"</a:t>
            </a:r>
          </a:p>
          <a:p/>
          <a:p>
            <a:r>
              <a:t>DERAIL-PREP:</a:t>
            </a:r>
          </a:p>
          <a:p>
            <a:r>
              <a:t>- "We need to run this through procurement/vendor risk first": "Understood — that's exactly why step 1 is the security review; it feeds your vendor-risk process. Can we start that in parallel?"</a:t>
            </a:r>
          </a:p>
          <a:p>
            <a:r>
              <a:t>- "Send us materials and we'll get back to you": counter gently with a smaller yes: "Happy to — can I also pencil the security call so materials land with momentum? Easy to cancel."</a:t>
            </a:r>
          </a:p>
          <a:p>
            <a:r>
              <a:t>- If the room is split (one enthusiast, one skeptic): scope the pilot around the skeptic's concern explicitly — "Let's make [skeptic]'s question the primary success criterion."</a:t>
            </a:r>
          </a:p>
          <a:p/>
          <a:p>
            <a:r>
              <a:t>Post-meeting: send notes + promised materials within 24–48h, restate the owners and dates they agreed to.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slides are for your prep only — hide them (right-click → Hide slide) or delete before presenting. Keep them in your back pocket; if the meeting goes deep on an objection, you'll have rehearsed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General derailment playbook (for opinionated execs):</a:t>
            </a:r>
          </a:p>
          <a:p>
            <a:r>
              <a:t>1. Never argue — agree with the valid kernel, then redirect to evidence ("fair concern; here's what we can measure").</a:t>
            </a:r>
          </a:p>
          <a:p>
            <a:r>
              <a:t>2. Park with a return time: "Great question — that's next-steps territory; give me 8 minutes and I'll answer it properly." Then ACTUALLY return to it, by name.</a:t>
            </a:r>
          </a:p>
          <a:p>
            <a:r>
              <a:t>3. If two execs start debating each other, don't referee — extract the requirement: "Sounds like the pilot needs to prove X to satisfy both of you. Noted."</a:t>
            </a:r>
          </a:p>
          <a:p>
            <a:r>
              <a:t>4. If someone tries to turn it into a vendor bake-off ("how do you compare to X?"): "Happy to do a feature comparison async — in the room, the fastest way to compare is a pilot on the same repo."</a:t>
            </a:r>
          </a:p>
          <a:p>
            <a:r>
              <a:t>5. Protect the demo time. If discovery is running long, cut slides 8–9 short, never the demo — the demo is what they'll remember.</a:t>
            </a:r>
          </a:p>
          <a:p>
            <a:r>
              <a:t>6. If the meeting is fully derailed by one topic (e.g., security), embrace it: "Let's make this the security deep-dive, and I'll get you the demo recording + a follow-up demo slot." A derailed meeting where one stakeholder gets deeply satisfied still advances the deal.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your homework list — everything the deck references that needs verification or that I (Devin) couldn't confirm as current fact. Delete before presenting.</a:t>
            </a:r>
          </a:p>
          <a:p/>
          <a:p>
            <a:r>
              <a:t>Highest priority items:</a:t>
            </a:r>
          </a:p>
          <a:p>
            <a:r>
              <a:t>1. The ~$13B tech budget and Erica stats — these are your two 'I did my homework' credibility numbers; get them current and sourced.</a:t>
            </a:r>
          </a:p>
          <a:p>
            <a:r>
              <a:t>2. Cognition's enterprise security/deployment answers — the Security Engineer WILL ask, and a fumbled answer undoes the whole demo.</a:t>
            </a:r>
          </a:p>
          <a:p>
            <a:r>
              <a:t>3. Attendee names/backgrounds — the personas slide is dramatically stronger delivered to real people by name.</a:t>
            </a:r>
          </a:p>
          <a:p>
            <a:r>
              <a:t>4. The extended-LTS question — if BofA already bought Angular extended support, your urgency pitch shifts from 'policy violation' to 'you're paying rent on dead software; here's the exit.'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12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24528"/>
            <a:ext cx="12191695" cy="54864"/>
          </a:xfrm>
          <a:prstGeom prst="rect">
            <a:avLst/>
          </a:prstGeom>
          <a:solidFill>
            <a:srgbClr val="E31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31720"/>
            <a:ext cx="10607040" cy="10972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Roboto"/>
              </a:rPr>
              <a:t>Bank of America  ×  Cognition</a:t>
            </a:r>
          </a:p>
        </p:txBody>
      </p:sp>
      <p:sp>
        <p:nvSpPr>
          <p:cNvPr id="5" name="TextBox 4"/>
          <p:cNvSpPr txBox="1"/>
          <p:nvPr/>
        </p:nvSpPr>
        <p:spPr>
          <a:xfrm>
            <a:off x="822960" y="3291840"/>
            <a:ext cx="10058400" cy="548640"/>
          </a:xfrm>
          <a:prstGeom prst="rect">
            <a:avLst/>
          </a:prstGeom>
          <a:noFill/>
        </p:spPr>
        <p:txBody>
          <a:bodyPr wrap="square" anchor="t">
            <a:spAutoFit/>
          </a:bodyPr>
          <a:lstStyle/>
          <a:p>
            <a:pPr algn="l">
              <a:lnSpc>
                <a:spcPct val="100000"/>
              </a:lnSpc>
              <a:spcAft>
                <a:spcPts val="600"/>
              </a:spcAft>
            </a:pPr>
            <a:r>
              <a:rPr sz="1700" b="0" i="0">
                <a:solidFill>
                  <a:srgbClr val="C9D4EC"/>
                </a:solidFill>
                <a:latin typeface="Roboto"/>
              </a:rPr>
              <a:t>A working session with Devin, the AI software engineer.</a:t>
            </a:r>
          </a:p>
        </p:txBody>
      </p:sp>
      <p:sp>
        <p:nvSpPr>
          <p:cNvPr id="6" name="TextBox 5"/>
          <p:cNvSpPr txBox="1"/>
          <p:nvPr/>
        </p:nvSpPr>
        <p:spPr>
          <a:xfrm>
            <a:off x="822960" y="4526280"/>
            <a:ext cx="10058400" cy="1097280"/>
          </a:xfrm>
          <a:prstGeom prst="rect">
            <a:avLst/>
          </a:prstGeom>
          <a:noFill/>
        </p:spPr>
        <p:txBody>
          <a:bodyPr wrap="square" anchor="t">
            <a:spAutoFit/>
          </a:bodyPr>
          <a:lstStyle/>
          <a:p>
            <a:pPr algn="l">
              <a:lnSpc>
                <a:spcPct val="100000"/>
              </a:lnSpc>
              <a:spcAft>
                <a:spcPts val="600"/>
              </a:spcAft>
            </a:pPr>
            <a:r>
              <a:rPr sz="1500" b="1" i="0">
                <a:solidFill>
                  <a:srgbClr val="FFFFFF"/>
                </a:solidFill>
                <a:latin typeface="Roboto"/>
              </a:rPr>
              <a:t>[Your Name]  ·  Forward Deployed Engineer, Cognition</a:t>
            </a:r>
          </a:p>
          <a:p>
            <a:pPr algn="l">
              <a:lnSpc>
                <a:spcPct val="100000"/>
              </a:lnSpc>
              <a:spcAft>
                <a:spcPts val="600"/>
              </a:spcAft>
            </a:pPr>
            <a:r>
              <a:rPr sz="1300" b="0" i="0">
                <a:solidFill>
                  <a:srgbClr val="C9D4EC"/>
                </a:solidFill>
                <a:latin typeface="Roboto"/>
              </a:rPr>
              <a:t>[Date]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70432"/>
          </a:xfrm>
          <a:prstGeom prst="rect">
            <a:avLst/>
          </a:prstGeom>
          <a:solidFill>
            <a:srgbClr val="012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50292"/>
          </a:xfrm>
          <a:prstGeom prst="rect">
            <a:avLst/>
          </a:prstGeom>
          <a:solidFill>
            <a:srgbClr val="E31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9601200" cy="320040"/>
          </a:xfrm>
          <a:prstGeom prst="rect">
            <a:avLst/>
          </a:prstGeom>
          <a:noFill/>
        </p:spPr>
        <p:txBody>
          <a:bodyPr wrap="square" anchor="t">
            <a:spAutoFit/>
          </a:bodyPr>
          <a:lstStyle/>
          <a:p>
            <a:pPr algn="l">
              <a:lnSpc>
                <a:spcPct val="100000"/>
              </a:lnSpc>
              <a:spcAft>
                <a:spcPts val="600"/>
              </a:spcAft>
            </a:pPr>
            <a:r>
              <a:rPr sz="1100" b="1" i="0">
                <a:solidFill>
                  <a:srgbClr val="9FB4E0"/>
                </a:solidFill>
                <a:latin typeface="Roboto"/>
              </a:rPr>
              <a:t>SO YOU KNOW WHERE WE'RE GOING</a:t>
            </a:r>
          </a:p>
        </p:txBody>
      </p:sp>
      <p:sp>
        <p:nvSpPr>
          <p:cNvPr id="5" name="TextBox 4"/>
          <p:cNvSpPr txBox="1"/>
          <p:nvPr/>
        </p:nvSpPr>
        <p:spPr>
          <a:xfrm>
            <a:off x="502920" y="384048"/>
            <a:ext cx="10424160" cy="731520"/>
          </a:xfrm>
          <a:prstGeom prst="rect">
            <a:avLst/>
          </a:prstGeom>
          <a:noFill/>
        </p:spPr>
        <p:txBody>
          <a:bodyPr wrap="square" anchor="ctr">
            <a:spAutoFit/>
          </a:bodyPr>
          <a:lstStyle/>
          <a:p>
            <a:pPr algn="l">
              <a:lnSpc>
                <a:spcPct val="100000"/>
              </a:lnSpc>
              <a:spcAft>
                <a:spcPts val="600"/>
              </a:spcAft>
            </a:pPr>
            <a:r>
              <a:rPr sz="2700" b="1" i="0">
                <a:solidFill>
                  <a:srgbClr val="FFFFFF"/>
                </a:solidFill>
                <a:latin typeface="Roboto"/>
              </a:rPr>
              <a:t>How we'll spend the next 45 minutes</a:t>
            </a:r>
          </a:p>
        </p:txBody>
      </p:sp>
      <p:sp>
        <p:nvSpPr>
          <p:cNvPr id="6" name="TextBox 5"/>
          <p:cNvSpPr txBox="1"/>
          <p:nvPr/>
        </p:nvSpPr>
        <p:spPr>
          <a:xfrm>
            <a:off x="11247120" y="384048"/>
            <a:ext cx="640080" cy="731520"/>
          </a:xfrm>
          <a:prstGeom prst="rect">
            <a:avLst/>
          </a:prstGeom>
          <a:noFill/>
        </p:spPr>
        <p:txBody>
          <a:bodyPr wrap="square" anchor="t">
            <a:spAutoFit/>
          </a:bodyPr>
          <a:lstStyle/>
          <a:p>
            <a:pPr algn="r">
              <a:lnSpc>
                <a:spcPct val="100000"/>
              </a:lnSpc>
              <a:spcAft>
                <a:spcPts val="600"/>
              </a:spcAft>
            </a:pPr>
            <a:r>
              <a:rPr sz="1400" b="0" i="0">
                <a:solidFill>
                  <a:srgbClr val="9FB4E0"/>
                </a:solidFill>
                <a:latin typeface="Roboto"/>
              </a:rPr>
              <a:t>2</a:t>
            </a:r>
          </a:p>
        </p:txBody>
      </p:sp>
      <p:sp>
        <p:nvSpPr>
          <p:cNvPr id="7" name="Rounded Rectangle 6"/>
          <p:cNvSpPr/>
          <p:nvPr/>
        </p:nvSpPr>
        <p:spPr>
          <a:xfrm>
            <a:off x="502920" y="1481328"/>
            <a:ext cx="11201400" cy="713232"/>
          </a:xfrm>
          <a:prstGeom prst="roundRect">
            <a:avLst>
              <a:gd name="adj" fmla="val 12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58368" y="1627632"/>
            <a:ext cx="420624" cy="420624"/>
          </a:xfrm>
          <a:prstGeom prst="ellipse">
            <a:avLst/>
          </a:prstGeom>
          <a:solidFill>
            <a:srgbClr val="012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664208"/>
            <a:ext cx="420624" cy="365760"/>
          </a:xfrm>
          <a:prstGeom prst="rect">
            <a:avLst/>
          </a:prstGeom>
          <a:noFill/>
        </p:spPr>
        <p:txBody>
          <a:bodyPr wrap="square" anchor="t">
            <a:spAutoFit/>
          </a:bodyPr>
          <a:lstStyle/>
          <a:p>
            <a:pPr algn="ctr">
              <a:lnSpc>
                <a:spcPct val="100000"/>
              </a:lnSpc>
              <a:spcAft>
                <a:spcPts val="600"/>
              </a:spcAft>
            </a:pPr>
            <a:r>
              <a:rPr sz="1500" b="1" i="0">
                <a:solidFill>
                  <a:srgbClr val="FFFFFF"/>
                </a:solidFill>
                <a:latin typeface="Roboto"/>
              </a:rPr>
              <a:t>1</a:t>
            </a:r>
          </a:p>
        </p:txBody>
      </p:sp>
      <p:sp>
        <p:nvSpPr>
          <p:cNvPr id="10" name="TextBox 9"/>
          <p:cNvSpPr txBox="1"/>
          <p:nvPr/>
        </p:nvSpPr>
        <p:spPr>
          <a:xfrm>
            <a:off x="1261872" y="1563624"/>
            <a:ext cx="4206240" cy="365760"/>
          </a:xfrm>
          <a:prstGeom prst="rect">
            <a:avLst/>
          </a:prstGeom>
          <a:noFill/>
        </p:spPr>
        <p:txBody>
          <a:bodyPr wrap="square" anchor="t">
            <a:spAutoFit/>
          </a:bodyPr>
          <a:lstStyle/>
          <a:p>
            <a:pPr algn="l">
              <a:lnSpc>
                <a:spcPct val="100000"/>
              </a:lnSpc>
              <a:spcAft>
                <a:spcPts val="600"/>
              </a:spcAft>
            </a:pPr>
            <a:r>
              <a:rPr sz="1500" b="1" i="0">
                <a:solidFill>
                  <a:srgbClr val="012169"/>
                </a:solidFill>
                <a:latin typeface="Roboto"/>
              </a:rPr>
              <a:t>Why I'm here (and why BofA)</a:t>
            </a:r>
          </a:p>
        </p:txBody>
      </p:sp>
      <p:sp>
        <p:nvSpPr>
          <p:cNvPr id="11" name="TextBox 10"/>
          <p:cNvSpPr txBox="1"/>
          <p:nvPr/>
        </p:nvSpPr>
        <p:spPr>
          <a:xfrm>
            <a:off x="1261872" y="1865376"/>
            <a:ext cx="8778240" cy="292608"/>
          </a:xfrm>
          <a:prstGeom prst="rect">
            <a:avLst/>
          </a:prstGeom>
          <a:noFill/>
        </p:spPr>
        <p:txBody>
          <a:bodyPr wrap="square" anchor="t">
            <a:spAutoFit/>
          </a:bodyPr>
          <a:lstStyle/>
          <a:p>
            <a:pPr algn="l">
              <a:lnSpc>
                <a:spcPct val="100000"/>
              </a:lnSpc>
              <a:spcAft>
                <a:spcPts val="600"/>
              </a:spcAft>
            </a:pPr>
            <a:r>
              <a:rPr sz="1050" b="0" i="0">
                <a:solidFill>
                  <a:srgbClr val="5A6472"/>
                </a:solidFill>
                <a:latin typeface="Roboto"/>
              </a:rPr>
              <a:t>Brief context, then straight to your problem</a:t>
            </a:r>
          </a:p>
        </p:txBody>
      </p:sp>
      <p:sp>
        <p:nvSpPr>
          <p:cNvPr id="12" name="TextBox 11"/>
          <p:cNvSpPr txBox="1"/>
          <p:nvPr/>
        </p:nvSpPr>
        <p:spPr>
          <a:xfrm>
            <a:off x="10378440" y="1664208"/>
            <a:ext cx="1188720" cy="365760"/>
          </a:xfrm>
          <a:prstGeom prst="rect">
            <a:avLst/>
          </a:prstGeom>
          <a:noFill/>
        </p:spPr>
        <p:txBody>
          <a:bodyPr wrap="square" anchor="t">
            <a:spAutoFit/>
          </a:bodyPr>
          <a:lstStyle/>
          <a:p>
            <a:pPr algn="r">
              <a:lnSpc>
                <a:spcPct val="100000"/>
              </a:lnSpc>
              <a:spcAft>
                <a:spcPts val="600"/>
              </a:spcAft>
            </a:pPr>
            <a:r>
              <a:rPr sz="1200" b="1" i="0">
                <a:solidFill>
                  <a:srgbClr val="E31837"/>
                </a:solidFill>
                <a:latin typeface="Roboto"/>
              </a:rPr>
              <a:t>~2 min</a:t>
            </a:r>
          </a:p>
        </p:txBody>
      </p:sp>
      <p:sp>
        <p:nvSpPr>
          <p:cNvPr id="13" name="Rounded Rectangle 12"/>
          <p:cNvSpPr/>
          <p:nvPr/>
        </p:nvSpPr>
        <p:spPr>
          <a:xfrm>
            <a:off x="502920" y="2286000"/>
            <a:ext cx="11201400" cy="713232"/>
          </a:xfrm>
          <a:prstGeom prst="roundRect">
            <a:avLst>
              <a:gd name="adj" fmla="val 12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58368" y="2432304"/>
            <a:ext cx="420624" cy="420624"/>
          </a:xfrm>
          <a:prstGeom prst="ellipse">
            <a:avLst/>
          </a:prstGeom>
          <a:solidFill>
            <a:srgbClr val="012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2468880"/>
            <a:ext cx="420624" cy="365760"/>
          </a:xfrm>
          <a:prstGeom prst="rect">
            <a:avLst/>
          </a:prstGeom>
          <a:noFill/>
        </p:spPr>
        <p:txBody>
          <a:bodyPr wrap="square" anchor="t">
            <a:spAutoFit/>
          </a:bodyPr>
          <a:lstStyle/>
          <a:p>
            <a:pPr algn="ctr">
              <a:lnSpc>
                <a:spcPct val="100000"/>
              </a:lnSpc>
              <a:spcAft>
                <a:spcPts val="600"/>
              </a:spcAft>
            </a:pPr>
            <a:r>
              <a:rPr sz="1500" b="1" i="0">
                <a:solidFill>
                  <a:srgbClr val="FFFFFF"/>
                </a:solidFill>
                <a:latin typeface="Roboto"/>
              </a:rPr>
              <a:t>2</a:t>
            </a:r>
          </a:p>
        </p:txBody>
      </p:sp>
      <p:sp>
        <p:nvSpPr>
          <p:cNvPr id="16" name="TextBox 15"/>
          <p:cNvSpPr txBox="1"/>
          <p:nvPr/>
        </p:nvSpPr>
        <p:spPr>
          <a:xfrm>
            <a:off x="1261872" y="2368296"/>
            <a:ext cx="4206240" cy="365760"/>
          </a:xfrm>
          <a:prstGeom prst="rect">
            <a:avLst/>
          </a:prstGeom>
          <a:noFill/>
        </p:spPr>
        <p:txBody>
          <a:bodyPr wrap="square" anchor="t">
            <a:spAutoFit/>
          </a:bodyPr>
          <a:lstStyle/>
          <a:p>
            <a:pPr algn="l">
              <a:lnSpc>
                <a:spcPct val="100000"/>
              </a:lnSpc>
              <a:spcAft>
                <a:spcPts val="600"/>
              </a:spcAft>
            </a:pPr>
            <a:r>
              <a:rPr sz="1500" b="1" i="0">
                <a:solidFill>
                  <a:srgbClr val="012169"/>
                </a:solidFill>
                <a:latin typeface="Roboto"/>
              </a:rPr>
              <a:t>Your problem</a:t>
            </a:r>
          </a:p>
        </p:txBody>
      </p:sp>
      <p:sp>
        <p:nvSpPr>
          <p:cNvPr id="17" name="TextBox 16"/>
          <p:cNvSpPr txBox="1"/>
          <p:nvPr/>
        </p:nvSpPr>
        <p:spPr>
          <a:xfrm>
            <a:off x="1261872" y="2670048"/>
            <a:ext cx="8778240" cy="292608"/>
          </a:xfrm>
          <a:prstGeom prst="rect">
            <a:avLst/>
          </a:prstGeom>
          <a:noFill/>
        </p:spPr>
        <p:txBody>
          <a:bodyPr wrap="square" anchor="t">
            <a:spAutoFit/>
          </a:bodyPr>
          <a:lstStyle/>
          <a:p>
            <a:pPr algn="l">
              <a:lnSpc>
                <a:spcPct val="100000"/>
              </a:lnSpc>
              <a:spcAft>
                <a:spcPts val="600"/>
              </a:spcAft>
            </a:pPr>
            <a:r>
              <a:rPr sz="1050" b="0" i="0">
                <a:solidFill>
                  <a:srgbClr val="5A6472"/>
                </a:solidFill>
                <a:latin typeface="Roboto"/>
              </a:rPr>
              <a:t>Angular 14 EOL — you talk, I listen</a:t>
            </a:r>
          </a:p>
        </p:txBody>
      </p:sp>
      <p:sp>
        <p:nvSpPr>
          <p:cNvPr id="18" name="TextBox 17"/>
          <p:cNvSpPr txBox="1"/>
          <p:nvPr/>
        </p:nvSpPr>
        <p:spPr>
          <a:xfrm>
            <a:off x="10378440" y="2468880"/>
            <a:ext cx="1188720" cy="365760"/>
          </a:xfrm>
          <a:prstGeom prst="rect">
            <a:avLst/>
          </a:prstGeom>
          <a:noFill/>
        </p:spPr>
        <p:txBody>
          <a:bodyPr wrap="square" anchor="t">
            <a:spAutoFit/>
          </a:bodyPr>
          <a:lstStyle/>
          <a:p>
            <a:pPr algn="r">
              <a:lnSpc>
                <a:spcPct val="100000"/>
              </a:lnSpc>
              <a:spcAft>
                <a:spcPts val="600"/>
              </a:spcAft>
            </a:pPr>
            <a:r>
              <a:rPr sz="1200" b="1" i="0">
                <a:solidFill>
                  <a:srgbClr val="E31837"/>
                </a:solidFill>
                <a:latin typeface="Roboto"/>
              </a:rPr>
              <a:t>~7 min</a:t>
            </a:r>
          </a:p>
        </p:txBody>
      </p:sp>
      <p:sp>
        <p:nvSpPr>
          <p:cNvPr id="19" name="Rounded Rectangle 18"/>
          <p:cNvSpPr/>
          <p:nvPr/>
        </p:nvSpPr>
        <p:spPr>
          <a:xfrm>
            <a:off x="502920" y="3090672"/>
            <a:ext cx="11201400" cy="713232"/>
          </a:xfrm>
          <a:prstGeom prst="roundRect">
            <a:avLst>
              <a:gd name="adj" fmla="val 12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8368" y="3236976"/>
            <a:ext cx="420624" cy="420624"/>
          </a:xfrm>
          <a:prstGeom prst="ellipse">
            <a:avLst/>
          </a:prstGeom>
          <a:solidFill>
            <a:srgbClr val="012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3273552"/>
            <a:ext cx="420624" cy="365760"/>
          </a:xfrm>
          <a:prstGeom prst="rect">
            <a:avLst/>
          </a:prstGeom>
          <a:noFill/>
        </p:spPr>
        <p:txBody>
          <a:bodyPr wrap="square" anchor="t">
            <a:spAutoFit/>
          </a:bodyPr>
          <a:lstStyle/>
          <a:p>
            <a:pPr algn="ctr">
              <a:lnSpc>
                <a:spcPct val="100000"/>
              </a:lnSpc>
              <a:spcAft>
                <a:spcPts val="600"/>
              </a:spcAft>
            </a:pPr>
            <a:r>
              <a:rPr sz="1500" b="1" i="0">
                <a:solidFill>
                  <a:srgbClr val="FFFFFF"/>
                </a:solidFill>
                <a:latin typeface="Roboto"/>
              </a:rPr>
              <a:t>3</a:t>
            </a:r>
          </a:p>
        </p:txBody>
      </p:sp>
      <p:sp>
        <p:nvSpPr>
          <p:cNvPr id="22" name="TextBox 21"/>
          <p:cNvSpPr txBox="1"/>
          <p:nvPr/>
        </p:nvSpPr>
        <p:spPr>
          <a:xfrm>
            <a:off x="1261872" y="3172968"/>
            <a:ext cx="4206240" cy="365760"/>
          </a:xfrm>
          <a:prstGeom prst="rect">
            <a:avLst/>
          </a:prstGeom>
          <a:noFill/>
        </p:spPr>
        <p:txBody>
          <a:bodyPr wrap="square" anchor="t">
            <a:spAutoFit/>
          </a:bodyPr>
          <a:lstStyle/>
          <a:p>
            <a:pPr algn="l">
              <a:lnSpc>
                <a:spcPct val="100000"/>
              </a:lnSpc>
              <a:spcAft>
                <a:spcPts val="600"/>
              </a:spcAft>
            </a:pPr>
            <a:r>
              <a:rPr sz="1500" b="1" i="0">
                <a:solidFill>
                  <a:srgbClr val="012169"/>
                </a:solidFill>
                <a:latin typeface="Roboto"/>
              </a:rPr>
              <a:t>What Devin is</a:t>
            </a:r>
          </a:p>
        </p:txBody>
      </p:sp>
      <p:sp>
        <p:nvSpPr>
          <p:cNvPr id="23" name="TextBox 22"/>
          <p:cNvSpPr txBox="1"/>
          <p:nvPr/>
        </p:nvSpPr>
        <p:spPr>
          <a:xfrm>
            <a:off x="1261872" y="3474720"/>
            <a:ext cx="8778240" cy="292608"/>
          </a:xfrm>
          <a:prstGeom prst="rect">
            <a:avLst/>
          </a:prstGeom>
          <a:noFill/>
        </p:spPr>
        <p:txBody>
          <a:bodyPr wrap="square" anchor="t">
            <a:spAutoFit/>
          </a:bodyPr>
          <a:lstStyle/>
          <a:p>
            <a:pPr algn="l">
              <a:lnSpc>
                <a:spcPct val="100000"/>
              </a:lnSpc>
              <a:spcAft>
                <a:spcPts val="600"/>
              </a:spcAft>
            </a:pPr>
            <a:r>
              <a:rPr sz="1050" b="0" i="0">
                <a:solidFill>
                  <a:srgbClr val="5A6472"/>
                </a:solidFill>
                <a:latin typeface="Roboto"/>
              </a:rPr>
              <a:t>The honest 2-minute version</a:t>
            </a:r>
          </a:p>
        </p:txBody>
      </p:sp>
      <p:sp>
        <p:nvSpPr>
          <p:cNvPr id="24" name="TextBox 23"/>
          <p:cNvSpPr txBox="1"/>
          <p:nvPr/>
        </p:nvSpPr>
        <p:spPr>
          <a:xfrm>
            <a:off x="10378440" y="3273552"/>
            <a:ext cx="1188720" cy="365760"/>
          </a:xfrm>
          <a:prstGeom prst="rect">
            <a:avLst/>
          </a:prstGeom>
          <a:noFill/>
        </p:spPr>
        <p:txBody>
          <a:bodyPr wrap="square" anchor="t">
            <a:spAutoFit/>
          </a:bodyPr>
          <a:lstStyle/>
          <a:p>
            <a:pPr algn="r">
              <a:lnSpc>
                <a:spcPct val="100000"/>
              </a:lnSpc>
              <a:spcAft>
                <a:spcPts val="600"/>
              </a:spcAft>
            </a:pPr>
            <a:r>
              <a:rPr sz="1200" b="1" i="0">
                <a:solidFill>
                  <a:srgbClr val="E31837"/>
                </a:solidFill>
                <a:latin typeface="Roboto"/>
              </a:rPr>
              <a:t>~5 min</a:t>
            </a:r>
          </a:p>
        </p:txBody>
      </p:sp>
      <p:sp>
        <p:nvSpPr>
          <p:cNvPr id="25" name="Rounded Rectangle 24"/>
          <p:cNvSpPr/>
          <p:nvPr/>
        </p:nvSpPr>
        <p:spPr>
          <a:xfrm>
            <a:off x="502920" y="3895344"/>
            <a:ext cx="11201400" cy="713232"/>
          </a:xfrm>
          <a:prstGeom prst="roundRect">
            <a:avLst>
              <a:gd name="adj" fmla="val 12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58368" y="4041648"/>
            <a:ext cx="420624" cy="420624"/>
          </a:xfrm>
          <a:prstGeom prst="ellipse">
            <a:avLst/>
          </a:prstGeom>
          <a:solidFill>
            <a:srgbClr val="012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 y="4078224"/>
            <a:ext cx="420624" cy="365760"/>
          </a:xfrm>
          <a:prstGeom prst="rect">
            <a:avLst/>
          </a:prstGeom>
          <a:noFill/>
        </p:spPr>
        <p:txBody>
          <a:bodyPr wrap="square" anchor="t">
            <a:spAutoFit/>
          </a:bodyPr>
          <a:lstStyle/>
          <a:p>
            <a:pPr algn="ctr">
              <a:lnSpc>
                <a:spcPct val="100000"/>
              </a:lnSpc>
              <a:spcAft>
                <a:spcPts val="600"/>
              </a:spcAft>
            </a:pPr>
            <a:r>
              <a:rPr sz="1500" b="1" i="0">
                <a:solidFill>
                  <a:srgbClr val="FFFFFF"/>
                </a:solidFill>
                <a:latin typeface="Roboto"/>
              </a:rPr>
              <a:t>4</a:t>
            </a:r>
          </a:p>
        </p:txBody>
      </p:sp>
      <p:sp>
        <p:nvSpPr>
          <p:cNvPr id="28" name="TextBox 27"/>
          <p:cNvSpPr txBox="1"/>
          <p:nvPr/>
        </p:nvSpPr>
        <p:spPr>
          <a:xfrm>
            <a:off x="1261872" y="3977639"/>
            <a:ext cx="4206240" cy="365760"/>
          </a:xfrm>
          <a:prstGeom prst="rect">
            <a:avLst/>
          </a:prstGeom>
          <a:noFill/>
        </p:spPr>
        <p:txBody>
          <a:bodyPr wrap="square" anchor="t">
            <a:spAutoFit/>
          </a:bodyPr>
          <a:lstStyle/>
          <a:p>
            <a:pPr algn="l">
              <a:lnSpc>
                <a:spcPct val="100000"/>
              </a:lnSpc>
              <a:spcAft>
                <a:spcPts val="600"/>
              </a:spcAft>
            </a:pPr>
            <a:r>
              <a:rPr sz="1500" b="1" i="0">
                <a:solidFill>
                  <a:srgbClr val="012169"/>
                </a:solidFill>
                <a:latin typeface="Roboto"/>
              </a:rPr>
              <a:t>Live demo</a:t>
            </a:r>
          </a:p>
        </p:txBody>
      </p:sp>
      <p:sp>
        <p:nvSpPr>
          <p:cNvPr id="29" name="TextBox 28"/>
          <p:cNvSpPr txBox="1"/>
          <p:nvPr/>
        </p:nvSpPr>
        <p:spPr>
          <a:xfrm>
            <a:off x="1261872" y="4279392"/>
            <a:ext cx="8778240" cy="292608"/>
          </a:xfrm>
          <a:prstGeom prst="rect">
            <a:avLst/>
          </a:prstGeom>
          <a:noFill/>
        </p:spPr>
        <p:txBody>
          <a:bodyPr wrap="square" anchor="t">
            <a:spAutoFit/>
          </a:bodyPr>
          <a:lstStyle/>
          <a:p>
            <a:pPr algn="l">
              <a:lnSpc>
                <a:spcPct val="100000"/>
              </a:lnSpc>
              <a:spcAft>
                <a:spcPts val="600"/>
              </a:spcAft>
            </a:pPr>
            <a:r>
              <a:rPr sz="1050" b="0" i="0">
                <a:solidFill>
                  <a:srgbClr val="5A6472"/>
                </a:solidFill>
                <a:latin typeface="Roboto"/>
              </a:rPr>
              <a:t>The real 14→18 migration, live</a:t>
            </a:r>
          </a:p>
        </p:txBody>
      </p:sp>
      <p:sp>
        <p:nvSpPr>
          <p:cNvPr id="30" name="TextBox 29"/>
          <p:cNvSpPr txBox="1"/>
          <p:nvPr/>
        </p:nvSpPr>
        <p:spPr>
          <a:xfrm>
            <a:off x="10378440" y="4078224"/>
            <a:ext cx="1188720" cy="365760"/>
          </a:xfrm>
          <a:prstGeom prst="rect">
            <a:avLst/>
          </a:prstGeom>
          <a:noFill/>
        </p:spPr>
        <p:txBody>
          <a:bodyPr wrap="square" anchor="t">
            <a:spAutoFit/>
          </a:bodyPr>
          <a:lstStyle/>
          <a:p>
            <a:pPr algn="r">
              <a:lnSpc>
                <a:spcPct val="100000"/>
              </a:lnSpc>
              <a:spcAft>
                <a:spcPts val="600"/>
              </a:spcAft>
            </a:pPr>
            <a:r>
              <a:rPr sz="1200" b="1" i="0">
                <a:solidFill>
                  <a:srgbClr val="E31837"/>
                </a:solidFill>
                <a:latin typeface="Roboto"/>
              </a:rPr>
              <a:t>~15 min</a:t>
            </a:r>
          </a:p>
        </p:txBody>
      </p:sp>
      <p:sp>
        <p:nvSpPr>
          <p:cNvPr id="31" name="Rounded Rectangle 30"/>
          <p:cNvSpPr/>
          <p:nvPr/>
        </p:nvSpPr>
        <p:spPr>
          <a:xfrm>
            <a:off x="502920" y="4700016"/>
            <a:ext cx="11201400" cy="713232"/>
          </a:xfrm>
          <a:prstGeom prst="roundRect">
            <a:avLst>
              <a:gd name="adj" fmla="val 12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58368" y="4846320"/>
            <a:ext cx="420624" cy="420624"/>
          </a:xfrm>
          <a:prstGeom prst="ellipse">
            <a:avLst/>
          </a:prstGeom>
          <a:solidFill>
            <a:srgbClr val="012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 y="4882896"/>
            <a:ext cx="420624" cy="365760"/>
          </a:xfrm>
          <a:prstGeom prst="rect">
            <a:avLst/>
          </a:prstGeom>
          <a:noFill/>
        </p:spPr>
        <p:txBody>
          <a:bodyPr wrap="square" anchor="t">
            <a:spAutoFit/>
          </a:bodyPr>
          <a:lstStyle/>
          <a:p>
            <a:pPr algn="ctr">
              <a:lnSpc>
                <a:spcPct val="100000"/>
              </a:lnSpc>
              <a:spcAft>
                <a:spcPts val="600"/>
              </a:spcAft>
            </a:pPr>
            <a:r>
              <a:rPr sz="1500" b="1" i="0">
                <a:solidFill>
                  <a:srgbClr val="FFFFFF"/>
                </a:solidFill>
                <a:latin typeface="Roboto"/>
              </a:rPr>
              <a:t>5</a:t>
            </a:r>
          </a:p>
        </p:txBody>
      </p:sp>
      <p:sp>
        <p:nvSpPr>
          <p:cNvPr id="34" name="TextBox 33"/>
          <p:cNvSpPr txBox="1"/>
          <p:nvPr/>
        </p:nvSpPr>
        <p:spPr>
          <a:xfrm>
            <a:off x="1261872" y="4782312"/>
            <a:ext cx="4206240" cy="365760"/>
          </a:xfrm>
          <a:prstGeom prst="rect">
            <a:avLst/>
          </a:prstGeom>
          <a:noFill/>
        </p:spPr>
        <p:txBody>
          <a:bodyPr wrap="square" anchor="t">
            <a:spAutoFit/>
          </a:bodyPr>
          <a:lstStyle/>
          <a:p>
            <a:pPr algn="l">
              <a:lnSpc>
                <a:spcPct val="100000"/>
              </a:lnSpc>
              <a:spcAft>
                <a:spcPts val="600"/>
              </a:spcAft>
            </a:pPr>
            <a:r>
              <a:rPr sz="1500" b="1" i="0">
                <a:solidFill>
                  <a:srgbClr val="012169"/>
                </a:solidFill>
                <a:latin typeface="Roboto"/>
              </a:rPr>
              <a:t>What it means for each of you</a:t>
            </a:r>
          </a:p>
        </p:txBody>
      </p:sp>
      <p:sp>
        <p:nvSpPr>
          <p:cNvPr id="35" name="TextBox 34"/>
          <p:cNvSpPr txBox="1"/>
          <p:nvPr/>
        </p:nvSpPr>
        <p:spPr>
          <a:xfrm>
            <a:off x="1261872" y="5084064"/>
            <a:ext cx="8778240" cy="292608"/>
          </a:xfrm>
          <a:prstGeom prst="rect">
            <a:avLst/>
          </a:prstGeom>
          <a:noFill/>
        </p:spPr>
        <p:txBody>
          <a:bodyPr wrap="square" anchor="t">
            <a:spAutoFit/>
          </a:bodyPr>
          <a:lstStyle/>
          <a:p>
            <a:pPr algn="l">
              <a:lnSpc>
                <a:spcPct val="100000"/>
              </a:lnSpc>
              <a:spcAft>
                <a:spcPts val="600"/>
              </a:spcAft>
            </a:pPr>
            <a:r>
              <a:rPr sz="1050" b="0" i="0">
                <a:solidFill>
                  <a:srgbClr val="5A6472"/>
                </a:solidFill>
                <a:latin typeface="Roboto"/>
              </a:rPr>
              <a:t>Capacity · audit · architecture</a:t>
            </a:r>
          </a:p>
        </p:txBody>
      </p:sp>
      <p:sp>
        <p:nvSpPr>
          <p:cNvPr id="36" name="TextBox 35"/>
          <p:cNvSpPr txBox="1"/>
          <p:nvPr/>
        </p:nvSpPr>
        <p:spPr>
          <a:xfrm>
            <a:off x="10378440" y="4882896"/>
            <a:ext cx="1188720" cy="365760"/>
          </a:xfrm>
          <a:prstGeom prst="rect">
            <a:avLst/>
          </a:prstGeom>
          <a:noFill/>
        </p:spPr>
        <p:txBody>
          <a:bodyPr wrap="square" anchor="t">
            <a:spAutoFit/>
          </a:bodyPr>
          <a:lstStyle/>
          <a:p>
            <a:pPr algn="r">
              <a:lnSpc>
                <a:spcPct val="100000"/>
              </a:lnSpc>
              <a:spcAft>
                <a:spcPts val="600"/>
              </a:spcAft>
            </a:pPr>
            <a:r>
              <a:rPr sz="1200" b="1" i="0">
                <a:solidFill>
                  <a:srgbClr val="E31837"/>
                </a:solidFill>
                <a:latin typeface="Roboto"/>
              </a:rPr>
              <a:t>~10 min</a:t>
            </a:r>
          </a:p>
        </p:txBody>
      </p:sp>
      <p:sp>
        <p:nvSpPr>
          <p:cNvPr id="37" name="Rounded Rectangle 36"/>
          <p:cNvSpPr/>
          <p:nvPr/>
        </p:nvSpPr>
        <p:spPr>
          <a:xfrm>
            <a:off x="502920" y="5504688"/>
            <a:ext cx="11201400" cy="713232"/>
          </a:xfrm>
          <a:prstGeom prst="roundRect">
            <a:avLst>
              <a:gd name="adj" fmla="val 12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58368" y="5650992"/>
            <a:ext cx="420624" cy="420624"/>
          </a:xfrm>
          <a:prstGeom prst="ellipse">
            <a:avLst/>
          </a:prstGeom>
          <a:solidFill>
            <a:srgbClr val="012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8368" y="5687568"/>
            <a:ext cx="420624" cy="365760"/>
          </a:xfrm>
          <a:prstGeom prst="rect">
            <a:avLst/>
          </a:prstGeom>
          <a:noFill/>
        </p:spPr>
        <p:txBody>
          <a:bodyPr wrap="square" anchor="t">
            <a:spAutoFit/>
          </a:bodyPr>
          <a:lstStyle/>
          <a:p>
            <a:pPr algn="ctr">
              <a:lnSpc>
                <a:spcPct val="100000"/>
              </a:lnSpc>
              <a:spcAft>
                <a:spcPts val="600"/>
              </a:spcAft>
            </a:pPr>
            <a:r>
              <a:rPr sz="1500" b="1" i="0">
                <a:solidFill>
                  <a:srgbClr val="FFFFFF"/>
                </a:solidFill>
                <a:latin typeface="Roboto"/>
              </a:rPr>
              <a:t>6</a:t>
            </a:r>
          </a:p>
        </p:txBody>
      </p:sp>
      <p:sp>
        <p:nvSpPr>
          <p:cNvPr id="40" name="TextBox 39"/>
          <p:cNvSpPr txBox="1"/>
          <p:nvPr/>
        </p:nvSpPr>
        <p:spPr>
          <a:xfrm>
            <a:off x="1261872" y="5586983"/>
            <a:ext cx="4206240" cy="365760"/>
          </a:xfrm>
          <a:prstGeom prst="rect">
            <a:avLst/>
          </a:prstGeom>
          <a:noFill/>
        </p:spPr>
        <p:txBody>
          <a:bodyPr wrap="square" anchor="t">
            <a:spAutoFit/>
          </a:bodyPr>
          <a:lstStyle/>
          <a:p>
            <a:pPr algn="l">
              <a:lnSpc>
                <a:spcPct val="100000"/>
              </a:lnSpc>
              <a:spcAft>
                <a:spcPts val="600"/>
              </a:spcAft>
            </a:pPr>
            <a:r>
              <a:rPr sz="1500" b="1" i="0">
                <a:solidFill>
                  <a:srgbClr val="012169"/>
                </a:solidFill>
                <a:latin typeface="Roboto"/>
              </a:rPr>
              <a:t>Next steps</a:t>
            </a:r>
          </a:p>
        </p:txBody>
      </p:sp>
      <p:sp>
        <p:nvSpPr>
          <p:cNvPr id="41" name="TextBox 40"/>
          <p:cNvSpPr txBox="1"/>
          <p:nvPr/>
        </p:nvSpPr>
        <p:spPr>
          <a:xfrm>
            <a:off x="1261872" y="5888736"/>
            <a:ext cx="8778240" cy="292608"/>
          </a:xfrm>
          <a:prstGeom prst="rect">
            <a:avLst/>
          </a:prstGeom>
          <a:noFill/>
        </p:spPr>
        <p:txBody>
          <a:bodyPr wrap="square" anchor="t">
            <a:spAutoFit/>
          </a:bodyPr>
          <a:lstStyle/>
          <a:p>
            <a:pPr algn="l">
              <a:lnSpc>
                <a:spcPct val="100000"/>
              </a:lnSpc>
              <a:spcAft>
                <a:spcPts val="600"/>
              </a:spcAft>
            </a:pPr>
            <a:r>
              <a:rPr sz="1050" b="0" i="0">
                <a:solidFill>
                  <a:srgbClr val="5A6472"/>
                </a:solidFill>
                <a:latin typeface="Roboto"/>
              </a:rPr>
              <a:t>A concrete pilot proposal</a:t>
            </a:r>
          </a:p>
        </p:txBody>
      </p:sp>
      <p:sp>
        <p:nvSpPr>
          <p:cNvPr id="42" name="TextBox 41"/>
          <p:cNvSpPr txBox="1"/>
          <p:nvPr/>
        </p:nvSpPr>
        <p:spPr>
          <a:xfrm>
            <a:off x="10378440" y="5687568"/>
            <a:ext cx="1188720" cy="365760"/>
          </a:xfrm>
          <a:prstGeom prst="rect">
            <a:avLst/>
          </a:prstGeom>
          <a:noFill/>
        </p:spPr>
        <p:txBody>
          <a:bodyPr wrap="square" anchor="t">
            <a:spAutoFit/>
          </a:bodyPr>
          <a:lstStyle/>
          <a:p>
            <a:pPr algn="r">
              <a:lnSpc>
                <a:spcPct val="100000"/>
              </a:lnSpc>
              <a:spcAft>
                <a:spcPts val="600"/>
              </a:spcAft>
            </a:pPr>
            <a:r>
              <a:rPr sz="1200" b="1" i="0">
                <a:solidFill>
                  <a:srgbClr val="E31837"/>
                </a:solidFill>
                <a:latin typeface="Roboto"/>
              </a:rPr>
              <a:t>~5 min</a:t>
            </a:r>
          </a:p>
        </p:txBody>
      </p:sp>
      <p:sp>
        <p:nvSpPr>
          <p:cNvPr id="43" name="TextBox 42"/>
          <p:cNvSpPr txBox="1"/>
          <p:nvPr/>
        </p:nvSpPr>
        <p:spPr>
          <a:xfrm>
            <a:off x="502920" y="6473952"/>
            <a:ext cx="7315200" cy="292608"/>
          </a:xfrm>
          <a:prstGeom prst="rect">
            <a:avLst/>
          </a:prstGeom>
          <a:noFill/>
        </p:spPr>
        <p:txBody>
          <a:bodyPr wrap="square" anchor="t">
            <a:spAutoFit/>
          </a:bodyPr>
          <a:lstStyle/>
          <a:p>
            <a:pPr algn="l">
              <a:lnSpc>
                <a:spcPct val="100000"/>
              </a:lnSpc>
              <a:spcAft>
                <a:spcPts val="600"/>
              </a:spcAft>
            </a:pPr>
            <a:r>
              <a:rPr sz="900" b="0" i="0">
                <a:solidFill>
                  <a:srgbClr val="5A6472"/>
                </a:solidFill>
                <a:latin typeface="Roboto"/>
              </a:rPr>
              <a:t>Bank of America  ×  Cognition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70432"/>
          </a:xfrm>
          <a:prstGeom prst="rect">
            <a:avLst/>
          </a:prstGeom>
          <a:solidFill>
            <a:srgbClr val="012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50292"/>
          </a:xfrm>
          <a:prstGeom prst="rect">
            <a:avLst/>
          </a:prstGeom>
          <a:solidFill>
            <a:srgbClr val="E31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9601200" cy="320040"/>
          </a:xfrm>
          <a:prstGeom prst="rect">
            <a:avLst/>
          </a:prstGeom>
          <a:noFill/>
        </p:spPr>
        <p:txBody>
          <a:bodyPr wrap="square" anchor="t">
            <a:spAutoFit/>
          </a:bodyPr>
          <a:lstStyle/>
          <a:p>
            <a:pPr algn="l">
              <a:lnSpc>
                <a:spcPct val="100000"/>
              </a:lnSpc>
              <a:spcAft>
                <a:spcPts val="600"/>
              </a:spcAft>
            </a:pPr>
            <a:r>
              <a:rPr sz="1100" b="1" i="0">
                <a:solidFill>
                  <a:srgbClr val="9FB4E0"/>
                </a:solidFill>
                <a:latin typeface="Roboto"/>
              </a:rPr>
              <a:t>LET'S GET STRAIGHT TO IT</a:t>
            </a:r>
          </a:p>
        </p:txBody>
      </p:sp>
      <p:sp>
        <p:nvSpPr>
          <p:cNvPr id="5" name="TextBox 4"/>
          <p:cNvSpPr txBox="1"/>
          <p:nvPr/>
        </p:nvSpPr>
        <p:spPr>
          <a:xfrm>
            <a:off x="502920" y="384048"/>
            <a:ext cx="10424160" cy="731520"/>
          </a:xfrm>
          <a:prstGeom prst="rect">
            <a:avLst/>
          </a:prstGeom>
          <a:noFill/>
        </p:spPr>
        <p:txBody>
          <a:bodyPr wrap="square" anchor="ctr">
            <a:spAutoFit/>
          </a:bodyPr>
          <a:lstStyle/>
          <a:p>
            <a:pPr algn="l">
              <a:lnSpc>
                <a:spcPct val="100000"/>
              </a:lnSpc>
              <a:spcAft>
                <a:spcPts val="600"/>
              </a:spcAft>
            </a:pPr>
            <a:r>
              <a:rPr sz="2200" b="1" i="0">
                <a:solidFill>
                  <a:srgbClr val="FFFFFF"/>
                </a:solidFill>
                <a:latin typeface="Roboto"/>
              </a:rPr>
              <a:t>The problem: a compliance clock on a system that can't break</a:t>
            </a:r>
          </a:p>
        </p:txBody>
      </p:sp>
      <p:sp>
        <p:nvSpPr>
          <p:cNvPr id="6" name="TextBox 5"/>
          <p:cNvSpPr txBox="1"/>
          <p:nvPr/>
        </p:nvSpPr>
        <p:spPr>
          <a:xfrm>
            <a:off x="11247120" y="384048"/>
            <a:ext cx="640080" cy="731520"/>
          </a:xfrm>
          <a:prstGeom prst="rect">
            <a:avLst/>
          </a:prstGeom>
          <a:noFill/>
        </p:spPr>
        <p:txBody>
          <a:bodyPr wrap="square" anchor="t">
            <a:spAutoFit/>
          </a:bodyPr>
          <a:lstStyle/>
          <a:p>
            <a:pPr algn="r">
              <a:lnSpc>
                <a:spcPct val="100000"/>
              </a:lnSpc>
              <a:spcAft>
                <a:spcPts val="600"/>
              </a:spcAft>
            </a:pPr>
            <a:r>
              <a:rPr sz="1400" b="0" i="0">
                <a:solidFill>
                  <a:srgbClr val="9FB4E0"/>
                </a:solidFill>
                <a:latin typeface="Roboto"/>
              </a:rPr>
              <a:t>3</a:t>
            </a:r>
          </a:p>
        </p:txBody>
      </p:sp>
      <p:sp>
        <p:nvSpPr>
          <p:cNvPr id="7" name="TextBox 6"/>
          <p:cNvSpPr txBox="1"/>
          <p:nvPr/>
        </p:nvSpPr>
        <p:spPr>
          <a:xfrm>
            <a:off x="502920" y="1371600"/>
            <a:ext cx="11201400" cy="502920"/>
          </a:xfrm>
          <a:prstGeom prst="rect">
            <a:avLst/>
          </a:prstGeom>
          <a:noFill/>
        </p:spPr>
        <p:txBody>
          <a:bodyPr wrap="square" anchor="t">
            <a:spAutoFit/>
          </a:bodyPr>
          <a:lstStyle/>
          <a:p>
            <a:pPr algn="l">
              <a:lnSpc>
                <a:spcPct val="100000"/>
              </a:lnSpc>
              <a:spcAft>
                <a:spcPts val="600"/>
              </a:spcAft>
            </a:pPr>
            <a:r>
              <a:rPr sz="1700" b="1" i="0">
                <a:solidFill>
                  <a:srgbClr val="E31837"/>
                </a:solidFill>
                <a:latin typeface="Roboto"/>
              </a:rPr>
              <a:t>Angular 14 is past end-of-life </a:t>
            </a:r>
            <a:r>
              <a:rPr sz="1700" b="0" i="0">
                <a:solidFill>
                  <a:srgbClr val="1C2430"/>
                </a:solidFill>
                <a:latin typeface="Roboto"/>
              </a:rPr>
              <a:t>— an EOL framework in production violates your own security policy.</a:t>
            </a:r>
          </a:p>
        </p:txBody>
      </p:sp>
      <p:sp>
        <p:nvSpPr>
          <p:cNvPr id="8" name="Rounded Rectangle 7"/>
          <p:cNvSpPr/>
          <p:nvPr/>
        </p:nvSpPr>
        <p:spPr>
          <a:xfrm>
            <a:off x="502920" y="2103120"/>
            <a:ext cx="3611880" cy="2148840"/>
          </a:xfrm>
          <a:prstGeom prst="roundRect">
            <a:avLst>
              <a:gd name="adj" fmla="val 6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2212848"/>
            <a:ext cx="54864" cy="1929384"/>
          </a:xfrm>
          <a:prstGeom prst="rect">
            <a:avLst/>
          </a:prstGeom>
          <a:solidFill>
            <a:srgbClr val="E31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2212848"/>
            <a:ext cx="3246120" cy="365760"/>
          </a:xfrm>
          <a:prstGeom prst="rect">
            <a:avLst/>
          </a:prstGeom>
          <a:noFill/>
        </p:spPr>
        <p:txBody>
          <a:bodyPr wrap="square" anchor="t">
            <a:spAutoFit/>
          </a:bodyPr>
          <a:lstStyle/>
          <a:p>
            <a:pPr algn="l">
              <a:lnSpc>
                <a:spcPct val="100000"/>
              </a:lnSpc>
              <a:spcAft>
                <a:spcPts val="600"/>
              </a:spcAft>
            </a:pPr>
            <a:r>
              <a:rPr sz="1400" b="1" i="0">
                <a:solidFill>
                  <a:srgbClr val="012169"/>
                </a:solidFill>
                <a:latin typeface="Roboto"/>
              </a:rPr>
              <a:t>The blast radius</a:t>
            </a:r>
          </a:p>
        </p:txBody>
      </p:sp>
      <p:sp>
        <p:nvSpPr>
          <p:cNvPr id="11" name="TextBox 10"/>
          <p:cNvSpPr txBox="1"/>
          <p:nvPr/>
        </p:nvSpPr>
        <p:spPr>
          <a:xfrm>
            <a:off x="704088" y="2578608"/>
            <a:ext cx="3246120" cy="1554480"/>
          </a:xfrm>
          <a:prstGeom prst="rect">
            <a:avLst/>
          </a:prstGeom>
          <a:noFill/>
        </p:spPr>
        <p:txBody>
          <a:bodyPr wrap="square" anchor="t">
            <a:spAutoFit/>
          </a:bodyPr>
          <a:lstStyle/>
          <a:p>
            <a:pPr algn="l">
              <a:lnSpc>
                <a:spcPct val="105000"/>
              </a:lnSpc>
              <a:spcAft>
                <a:spcPts val="500"/>
              </a:spcAft>
            </a:pPr>
            <a:r>
              <a:rPr sz="1400" b="0" i="0">
                <a:solidFill>
                  <a:srgbClr val="1C2430"/>
                </a:solidFill>
                <a:latin typeface="Roboto"/>
              </a:rPr>
              <a:t>Millions of retail customers</a:t>
            </a:r>
          </a:p>
          <a:p>
            <a:pPr algn="l">
              <a:lnSpc>
                <a:spcPct val="105000"/>
              </a:lnSpc>
              <a:spcAft>
                <a:spcPts val="500"/>
              </a:spcAft>
            </a:pPr>
            <a:r>
              <a:rPr sz="1400" b="0" i="0">
                <a:solidFill>
                  <a:srgbClr val="1C2430"/>
                </a:solidFill>
                <a:latin typeface="Roboto"/>
              </a:rPr>
              <a:t>12+ downstream teams</a:t>
            </a:r>
          </a:p>
        </p:txBody>
      </p:sp>
      <p:sp>
        <p:nvSpPr>
          <p:cNvPr id="12" name="Rounded Rectangle 11"/>
          <p:cNvSpPr/>
          <p:nvPr/>
        </p:nvSpPr>
        <p:spPr>
          <a:xfrm>
            <a:off x="4297680" y="2103120"/>
            <a:ext cx="3611880" cy="2148840"/>
          </a:xfrm>
          <a:prstGeom prst="roundRect">
            <a:avLst>
              <a:gd name="adj" fmla="val 6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2212848"/>
            <a:ext cx="54864" cy="1929384"/>
          </a:xfrm>
          <a:prstGeom prst="rect">
            <a:avLst/>
          </a:prstGeom>
          <a:solidFill>
            <a:srgbClr val="E31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8848" y="2212848"/>
            <a:ext cx="3246120" cy="365760"/>
          </a:xfrm>
          <a:prstGeom prst="rect">
            <a:avLst/>
          </a:prstGeom>
          <a:noFill/>
        </p:spPr>
        <p:txBody>
          <a:bodyPr wrap="square" anchor="t">
            <a:spAutoFit/>
          </a:bodyPr>
          <a:lstStyle/>
          <a:p>
            <a:pPr algn="l">
              <a:lnSpc>
                <a:spcPct val="100000"/>
              </a:lnSpc>
              <a:spcAft>
                <a:spcPts val="600"/>
              </a:spcAft>
            </a:pPr>
            <a:r>
              <a:rPr sz="1400" b="1" i="0">
                <a:solidFill>
                  <a:srgbClr val="012169"/>
                </a:solidFill>
                <a:latin typeface="Roboto"/>
              </a:rPr>
              <a:t>The complexity</a:t>
            </a:r>
          </a:p>
        </p:txBody>
      </p:sp>
      <p:sp>
        <p:nvSpPr>
          <p:cNvPr id="15" name="TextBox 14"/>
          <p:cNvSpPr txBox="1"/>
          <p:nvPr/>
        </p:nvSpPr>
        <p:spPr>
          <a:xfrm>
            <a:off x="4498848" y="2578608"/>
            <a:ext cx="3246120" cy="1554480"/>
          </a:xfrm>
          <a:prstGeom prst="rect">
            <a:avLst/>
          </a:prstGeom>
          <a:noFill/>
        </p:spPr>
        <p:txBody>
          <a:bodyPr wrap="square" anchor="t">
            <a:spAutoFit/>
          </a:bodyPr>
          <a:lstStyle/>
          <a:p>
            <a:pPr algn="l">
              <a:lnSpc>
                <a:spcPct val="105000"/>
              </a:lnSpc>
              <a:spcAft>
                <a:spcPts val="500"/>
              </a:spcAft>
            </a:pPr>
            <a:r>
              <a:rPr sz="1400" b="0" i="0">
                <a:solidFill>
                  <a:srgbClr val="1C2430"/>
                </a:solidFill>
                <a:latin typeface="Roboto"/>
              </a:rPr>
              <a:t>SSO / MFA · analytics SDK</a:t>
            </a:r>
          </a:p>
          <a:p>
            <a:pPr algn="l">
              <a:lnSpc>
                <a:spcPct val="105000"/>
              </a:lnSpc>
              <a:spcAft>
                <a:spcPts val="500"/>
              </a:spcAft>
            </a:pPr>
            <a:r>
              <a:rPr sz="1400" b="0" i="0">
                <a:solidFill>
                  <a:srgbClr val="1C2430"/>
                </a:solidFill>
                <a:latin typeface="Roboto"/>
              </a:rPr>
              <a:t>Financial data providers</a:t>
            </a:r>
          </a:p>
        </p:txBody>
      </p:sp>
      <p:sp>
        <p:nvSpPr>
          <p:cNvPr id="16" name="Rounded Rectangle 15"/>
          <p:cNvSpPr/>
          <p:nvPr/>
        </p:nvSpPr>
        <p:spPr>
          <a:xfrm>
            <a:off x="8092440" y="2103120"/>
            <a:ext cx="3611880" cy="2148840"/>
          </a:xfrm>
          <a:prstGeom prst="roundRect">
            <a:avLst>
              <a:gd name="adj" fmla="val 6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2212848"/>
            <a:ext cx="54864" cy="1929384"/>
          </a:xfrm>
          <a:prstGeom prst="rect">
            <a:avLst/>
          </a:prstGeom>
          <a:solidFill>
            <a:srgbClr val="E31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3608" y="2212848"/>
            <a:ext cx="3246120" cy="365760"/>
          </a:xfrm>
          <a:prstGeom prst="rect">
            <a:avLst/>
          </a:prstGeom>
          <a:noFill/>
        </p:spPr>
        <p:txBody>
          <a:bodyPr wrap="square" anchor="t">
            <a:spAutoFit/>
          </a:bodyPr>
          <a:lstStyle/>
          <a:p>
            <a:pPr algn="l">
              <a:lnSpc>
                <a:spcPct val="100000"/>
              </a:lnSpc>
              <a:spcAft>
                <a:spcPts val="600"/>
              </a:spcAft>
            </a:pPr>
            <a:r>
              <a:rPr sz="1400" b="1" i="0">
                <a:solidFill>
                  <a:srgbClr val="012169"/>
                </a:solidFill>
                <a:latin typeface="Roboto"/>
              </a:rPr>
              <a:t>The math</a:t>
            </a:r>
          </a:p>
        </p:txBody>
      </p:sp>
      <p:sp>
        <p:nvSpPr>
          <p:cNvPr id="19" name="TextBox 18"/>
          <p:cNvSpPr txBox="1"/>
          <p:nvPr/>
        </p:nvSpPr>
        <p:spPr>
          <a:xfrm>
            <a:off x="8293608" y="2578608"/>
            <a:ext cx="3246120" cy="1554480"/>
          </a:xfrm>
          <a:prstGeom prst="rect">
            <a:avLst/>
          </a:prstGeom>
          <a:noFill/>
        </p:spPr>
        <p:txBody>
          <a:bodyPr wrap="square" anchor="t">
            <a:spAutoFit/>
          </a:bodyPr>
          <a:lstStyle/>
          <a:p>
            <a:pPr algn="l">
              <a:lnSpc>
                <a:spcPct val="105000"/>
              </a:lnSpc>
              <a:spcAft>
                <a:spcPts val="500"/>
              </a:spcAft>
            </a:pPr>
            <a:r>
              <a:rPr sz="1400" b="0" i="0">
                <a:solidFill>
                  <a:srgbClr val="1C2430"/>
                </a:solidFill>
                <a:latin typeface="Roboto"/>
              </a:rPr>
              <a:t>4 major versions of churn</a:t>
            </a:r>
          </a:p>
          <a:p>
            <a:pPr algn="l">
              <a:lnSpc>
                <a:spcPct val="105000"/>
              </a:lnSpc>
              <a:spcAft>
                <a:spcPts val="500"/>
              </a:spcAft>
            </a:pPr>
            <a:r>
              <a:rPr sz="1400" b="0" i="0">
                <a:solidFill>
                  <a:srgbClr val="1C2430"/>
                </a:solidFill>
                <a:latin typeface="Roboto"/>
              </a:rPr>
              <a:t>Months of senior-engineer time</a:t>
            </a:r>
          </a:p>
        </p:txBody>
      </p:sp>
      <p:sp>
        <p:nvSpPr>
          <p:cNvPr id="20" name="Rounded Rectangle 19"/>
          <p:cNvSpPr/>
          <p:nvPr/>
        </p:nvSpPr>
        <p:spPr>
          <a:xfrm>
            <a:off x="502920" y="4526280"/>
            <a:ext cx="11201400" cy="868680"/>
          </a:xfrm>
          <a:prstGeom prst="roundRect">
            <a:avLst>
              <a:gd name="adj" fmla="val 10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736592"/>
            <a:ext cx="10698480" cy="594360"/>
          </a:xfrm>
          <a:prstGeom prst="rect">
            <a:avLst/>
          </a:prstGeom>
          <a:noFill/>
        </p:spPr>
        <p:txBody>
          <a:bodyPr wrap="square" anchor="t">
            <a:spAutoFit/>
          </a:bodyPr>
          <a:lstStyle/>
          <a:p>
            <a:pPr algn="l">
              <a:lnSpc>
                <a:spcPct val="100000"/>
              </a:lnSpc>
              <a:spcAft>
                <a:spcPts val="600"/>
              </a:spcAft>
            </a:pPr>
            <a:r>
              <a:rPr sz="1600" b="1" i="0">
                <a:solidFill>
                  <a:srgbClr val="012169"/>
                </a:solidFill>
                <a:latin typeface="Roboto"/>
              </a:rPr>
              <a:t>The real constraint isn't code — it's coordinating 12 teams' calendars.</a:t>
            </a:r>
          </a:p>
        </p:txBody>
      </p:sp>
      <p:sp>
        <p:nvSpPr>
          <p:cNvPr id="22" name="TextBox 21"/>
          <p:cNvSpPr txBox="1"/>
          <p:nvPr/>
        </p:nvSpPr>
        <p:spPr>
          <a:xfrm>
            <a:off x="502920" y="6473952"/>
            <a:ext cx="7315200" cy="292608"/>
          </a:xfrm>
          <a:prstGeom prst="rect">
            <a:avLst/>
          </a:prstGeom>
          <a:noFill/>
        </p:spPr>
        <p:txBody>
          <a:bodyPr wrap="square" anchor="t">
            <a:spAutoFit/>
          </a:bodyPr>
          <a:lstStyle/>
          <a:p>
            <a:pPr algn="l">
              <a:lnSpc>
                <a:spcPct val="100000"/>
              </a:lnSpc>
              <a:spcAft>
                <a:spcPts val="600"/>
              </a:spcAft>
            </a:pPr>
            <a:r>
              <a:rPr sz="900" b="0" i="0">
                <a:solidFill>
                  <a:srgbClr val="5A6472"/>
                </a:solidFill>
                <a:latin typeface="Roboto"/>
              </a:rPr>
              <a:t>Bank of America  ×  Cognition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70432"/>
          </a:xfrm>
          <a:prstGeom prst="rect">
            <a:avLst/>
          </a:prstGeom>
          <a:solidFill>
            <a:srgbClr val="012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50292"/>
          </a:xfrm>
          <a:prstGeom prst="rect">
            <a:avLst/>
          </a:prstGeom>
          <a:solidFill>
            <a:srgbClr val="E31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9601200" cy="320040"/>
          </a:xfrm>
          <a:prstGeom prst="rect">
            <a:avLst/>
          </a:prstGeom>
          <a:noFill/>
        </p:spPr>
        <p:txBody>
          <a:bodyPr wrap="square" anchor="t">
            <a:spAutoFit/>
          </a:bodyPr>
          <a:lstStyle/>
          <a:p>
            <a:pPr algn="l">
              <a:lnSpc>
                <a:spcPct val="100000"/>
              </a:lnSpc>
              <a:spcAft>
                <a:spcPts val="600"/>
              </a:spcAft>
            </a:pPr>
            <a:r>
              <a:rPr sz="1100" b="1" i="0">
                <a:solidFill>
                  <a:srgbClr val="9FB4E0"/>
                </a:solidFill>
                <a:latin typeface="Roboto"/>
              </a:rPr>
              <a:t>THE 2-MINUTE VERSION</a:t>
            </a:r>
          </a:p>
        </p:txBody>
      </p:sp>
      <p:sp>
        <p:nvSpPr>
          <p:cNvPr id="5" name="TextBox 4"/>
          <p:cNvSpPr txBox="1"/>
          <p:nvPr/>
        </p:nvSpPr>
        <p:spPr>
          <a:xfrm>
            <a:off x="502920" y="384048"/>
            <a:ext cx="10424160" cy="731520"/>
          </a:xfrm>
          <a:prstGeom prst="rect">
            <a:avLst/>
          </a:prstGeom>
          <a:noFill/>
        </p:spPr>
        <p:txBody>
          <a:bodyPr wrap="square" anchor="ctr">
            <a:spAutoFit/>
          </a:bodyPr>
          <a:lstStyle/>
          <a:p>
            <a:pPr algn="l">
              <a:lnSpc>
                <a:spcPct val="100000"/>
              </a:lnSpc>
              <a:spcAft>
                <a:spcPts val="600"/>
              </a:spcAft>
            </a:pPr>
            <a:r>
              <a:rPr sz="2700" b="1" i="0">
                <a:solidFill>
                  <a:srgbClr val="FFFFFF"/>
                </a:solidFill>
                <a:latin typeface="Roboto"/>
              </a:rPr>
              <a:t>What is Devin?</a:t>
            </a:r>
          </a:p>
        </p:txBody>
      </p:sp>
      <p:sp>
        <p:nvSpPr>
          <p:cNvPr id="6" name="TextBox 5"/>
          <p:cNvSpPr txBox="1"/>
          <p:nvPr/>
        </p:nvSpPr>
        <p:spPr>
          <a:xfrm>
            <a:off x="11247120" y="384048"/>
            <a:ext cx="640080" cy="731520"/>
          </a:xfrm>
          <a:prstGeom prst="rect">
            <a:avLst/>
          </a:prstGeom>
          <a:noFill/>
        </p:spPr>
        <p:txBody>
          <a:bodyPr wrap="square" anchor="t">
            <a:spAutoFit/>
          </a:bodyPr>
          <a:lstStyle/>
          <a:p>
            <a:pPr algn="r">
              <a:lnSpc>
                <a:spcPct val="100000"/>
              </a:lnSpc>
              <a:spcAft>
                <a:spcPts val="600"/>
              </a:spcAft>
            </a:pPr>
            <a:r>
              <a:rPr sz="1400" b="0" i="0">
                <a:solidFill>
                  <a:srgbClr val="9FB4E0"/>
                </a:solidFill>
                <a:latin typeface="Roboto"/>
              </a:rPr>
              <a:t>4</a:t>
            </a:r>
          </a:p>
        </p:txBody>
      </p:sp>
      <p:sp>
        <p:nvSpPr>
          <p:cNvPr id="7" name="TextBox 6"/>
          <p:cNvSpPr txBox="1"/>
          <p:nvPr/>
        </p:nvSpPr>
        <p:spPr>
          <a:xfrm>
            <a:off x="502920" y="1371600"/>
            <a:ext cx="11201400" cy="548640"/>
          </a:xfrm>
          <a:prstGeom prst="rect">
            <a:avLst/>
          </a:prstGeom>
          <a:noFill/>
        </p:spPr>
        <p:txBody>
          <a:bodyPr wrap="square" anchor="t">
            <a:spAutoFit/>
          </a:bodyPr>
          <a:lstStyle/>
          <a:p>
            <a:pPr algn="l">
              <a:lnSpc>
                <a:spcPct val="100000"/>
              </a:lnSpc>
              <a:spcAft>
                <a:spcPts val="600"/>
              </a:spcAft>
            </a:pPr>
            <a:r>
              <a:rPr sz="1800" b="1" i="0">
                <a:solidFill>
                  <a:srgbClr val="012169"/>
                </a:solidFill>
                <a:latin typeface="Roboto"/>
              </a:rPr>
              <a:t>An AI software engineer</a:t>
            </a:r>
            <a:r>
              <a:rPr sz="1800" b="0" i="0">
                <a:solidFill>
                  <a:srgbClr val="1C2430"/>
                </a:solidFill>
                <a:latin typeface="Roboto"/>
              </a:rPr>
              <a:t> — you assign the task; it plans, codes, tests, and ships a PR.</a:t>
            </a:r>
          </a:p>
        </p:txBody>
      </p:sp>
      <p:sp>
        <p:nvSpPr>
          <p:cNvPr id="8" name="Rounded Rectangle 7"/>
          <p:cNvSpPr/>
          <p:nvPr/>
        </p:nvSpPr>
        <p:spPr>
          <a:xfrm>
            <a:off x="502920" y="2148840"/>
            <a:ext cx="3611880" cy="2240280"/>
          </a:xfrm>
          <a:prstGeom prst="roundRect">
            <a:avLst>
              <a:gd name="adj" fmla="val 6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2258568"/>
            <a:ext cx="54864" cy="2020824"/>
          </a:xfrm>
          <a:prstGeom prst="rect">
            <a:avLst/>
          </a:prstGeom>
          <a:solidFill>
            <a:srgbClr val="E31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2258568"/>
            <a:ext cx="3246120" cy="365760"/>
          </a:xfrm>
          <a:prstGeom prst="rect">
            <a:avLst/>
          </a:prstGeom>
          <a:noFill/>
        </p:spPr>
        <p:txBody>
          <a:bodyPr wrap="square" anchor="t">
            <a:spAutoFit/>
          </a:bodyPr>
          <a:lstStyle/>
          <a:p>
            <a:pPr algn="l">
              <a:lnSpc>
                <a:spcPct val="100000"/>
              </a:lnSpc>
              <a:spcAft>
                <a:spcPts val="600"/>
              </a:spcAft>
            </a:pPr>
            <a:r>
              <a:rPr sz="1400" b="1" i="0">
                <a:solidFill>
                  <a:srgbClr val="012169"/>
                </a:solidFill>
                <a:latin typeface="Roboto"/>
              </a:rPr>
              <a:t>Works like an engineer</a:t>
            </a:r>
          </a:p>
        </p:txBody>
      </p:sp>
      <p:sp>
        <p:nvSpPr>
          <p:cNvPr id="11" name="TextBox 10"/>
          <p:cNvSpPr txBox="1"/>
          <p:nvPr/>
        </p:nvSpPr>
        <p:spPr>
          <a:xfrm>
            <a:off x="704088" y="2624328"/>
            <a:ext cx="3246120" cy="1645920"/>
          </a:xfrm>
          <a:prstGeom prst="rect">
            <a:avLst/>
          </a:prstGeom>
          <a:noFill/>
        </p:spPr>
        <p:txBody>
          <a:bodyPr wrap="square" anchor="t">
            <a:spAutoFit/>
          </a:bodyPr>
          <a:lstStyle/>
          <a:p>
            <a:pPr algn="l">
              <a:lnSpc>
                <a:spcPct val="105000"/>
              </a:lnSpc>
              <a:spcAft>
                <a:spcPts val="500"/>
              </a:spcAft>
            </a:pPr>
            <a:r>
              <a:rPr sz="1400" b="0" i="0">
                <a:solidFill>
                  <a:srgbClr val="1C2430"/>
                </a:solidFill>
                <a:latin typeface="Roboto"/>
              </a:rPr>
              <a:t>Own shell, editor, browser</a:t>
            </a:r>
          </a:p>
          <a:p>
            <a:pPr algn="l">
              <a:lnSpc>
                <a:spcPct val="105000"/>
              </a:lnSpc>
              <a:spcAft>
                <a:spcPts val="500"/>
              </a:spcAft>
            </a:pPr>
            <a:r>
              <a:rPr sz="1400" b="0" i="0">
                <a:solidFill>
                  <a:srgbClr val="1C2430"/>
                </a:solidFill>
                <a:latin typeface="Roboto"/>
              </a:rPr>
              <a:t>Runs builds &amp; tests as it goes</a:t>
            </a:r>
          </a:p>
        </p:txBody>
      </p:sp>
      <p:sp>
        <p:nvSpPr>
          <p:cNvPr id="12" name="Rounded Rectangle 11"/>
          <p:cNvSpPr/>
          <p:nvPr/>
        </p:nvSpPr>
        <p:spPr>
          <a:xfrm>
            <a:off x="4297680" y="2148840"/>
            <a:ext cx="3611880" cy="2240280"/>
          </a:xfrm>
          <a:prstGeom prst="roundRect">
            <a:avLst>
              <a:gd name="adj" fmla="val 6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2258568"/>
            <a:ext cx="54864" cy="2020824"/>
          </a:xfrm>
          <a:prstGeom prst="rect">
            <a:avLst/>
          </a:prstGeom>
          <a:solidFill>
            <a:srgbClr val="E31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8848" y="2258568"/>
            <a:ext cx="3246120" cy="365760"/>
          </a:xfrm>
          <a:prstGeom prst="rect">
            <a:avLst/>
          </a:prstGeom>
          <a:noFill/>
        </p:spPr>
        <p:txBody>
          <a:bodyPr wrap="square" anchor="t">
            <a:spAutoFit/>
          </a:bodyPr>
          <a:lstStyle/>
          <a:p>
            <a:pPr algn="l">
              <a:lnSpc>
                <a:spcPct val="100000"/>
              </a:lnSpc>
              <a:spcAft>
                <a:spcPts val="600"/>
              </a:spcAft>
            </a:pPr>
            <a:r>
              <a:rPr sz="1400" b="1" i="0">
                <a:solidFill>
                  <a:srgbClr val="012169"/>
                </a:solidFill>
                <a:latin typeface="Roboto"/>
              </a:rPr>
              <a:t>Fits your SDLC</a:t>
            </a:r>
          </a:p>
        </p:txBody>
      </p:sp>
      <p:sp>
        <p:nvSpPr>
          <p:cNvPr id="15" name="TextBox 14"/>
          <p:cNvSpPr txBox="1"/>
          <p:nvPr/>
        </p:nvSpPr>
        <p:spPr>
          <a:xfrm>
            <a:off x="4498848" y="2624328"/>
            <a:ext cx="3246120" cy="1645920"/>
          </a:xfrm>
          <a:prstGeom prst="rect">
            <a:avLst/>
          </a:prstGeom>
          <a:noFill/>
        </p:spPr>
        <p:txBody>
          <a:bodyPr wrap="square" anchor="t">
            <a:spAutoFit/>
          </a:bodyPr>
          <a:lstStyle/>
          <a:p>
            <a:pPr algn="l">
              <a:lnSpc>
                <a:spcPct val="105000"/>
              </a:lnSpc>
              <a:spcAft>
                <a:spcPts val="500"/>
              </a:spcAft>
            </a:pPr>
            <a:r>
              <a:rPr sz="1400" b="0" i="0">
                <a:solidFill>
                  <a:srgbClr val="1C2430"/>
                </a:solidFill>
                <a:latin typeface="Roboto"/>
              </a:rPr>
              <a:t>Everything lands as a PR</a:t>
            </a:r>
          </a:p>
          <a:p>
            <a:pPr algn="l">
              <a:lnSpc>
                <a:spcPct val="105000"/>
              </a:lnSpc>
              <a:spcAft>
                <a:spcPts val="500"/>
              </a:spcAft>
            </a:pPr>
            <a:r>
              <a:rPr sz="1400" b="0" i="0">
                <a:solidFill>
                  <a:srgbClr val="1C2430"/>
                </a:solidFill>
                <a:latin typeface="Roboto"/>
              </a:rPr>
              <a:t>Your CI, your approvals — unchanged</a:t>
            </a:r>
          </a:p>
        </p:txBody>
      </p:sp>
      <p:sp>
        <p:nvSpPr>
          <p:cNvPr id="16" name="Rounded Rectangle 15"/>
          <p:cNvSpPr/>
          <p:nvPr/>
        </p:nvSpPr>
        <p:spPr>
          <a:xfrm>
            <a:off x="8092440" y="2148840"/>
            <a:ext cx="3611880" cy="2240280"/>
          </a:xfrm>
          <a:prstGeom prst="roundRect">
            <a:avLst>
              <a:gd name="adj" fmla="val 6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2258568"/>
            <a:ext cx="54864" cy="2020824"/>
          </a:xfrm>
          <a:prstGeom prst="rect">
            <a:avLst/>
          </a:prstGeom>
          <a:solidFill>
            <a:srgbClr val="E31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3608" y="2258568"/>
            <a:ext cx="3246120" cy="365760"/>
          </a:xfrm>
          <a:prstGeom prst="rect">
            <a:avLst/>
          </a:prstGeom>
          <a:noFill/>
        </p:spPr>
        <p:txBody>
          <a:bodyPr wrap="square" anchor="t">
            <a:spAutoFit/>
          </a:bodyPr>
          <a:lstStyle/>
          <a:p>
            <a:pPr algn="l">
              <a:lnSpc>
                <a:spcPct val="100000"/>
              </a:lnSpc>
              <a:spcAft>
                <a:spcPts val="600"/>
              </a:spcAft>
            </a:pPr>
            <a:r>
              <a:rPr sz="1400" b="1" i="0">
                <a:solidFill>
                  <a:srgbClr val="012169"/>
                </a:solidFill>
                <a:latin typeface="Roboto"/>
              </a:rPr>
              <a:t>Built for this work</a:t>
            </a:r>
          </a:p>
        </p:txBody>
      </p:sp>
      <p:sp>
        <p:nvSpPr>
          <p:cNvPr id="19" name="TextBox 18"/>
          <p:cNvSpPr txBox="1"/>
          <p:nvPr/>
        </p:nvSpPr>
        <p:spPr>
          <a:xfrm>
            <a:off x="8293608" y="2624328"/>
            <a:ext cx="3246120" cy="1645920"/>
          </a:xfrm>
          <a:prstGeom prst="rect">
            <a:avLst/>
          </a:prstGeom>
          <a:noFill/>
        </p:spPr>
        <p:txBody>
          <a:bodyPr wrap="square" anchor="t">
            <a:spAutoFit/>
          </a:bodyPr>
          <a:lstStyle/>
          <a:p>
            <a:pPr algn="l">
              <a:lnSpc>
                <a:spcPct val="105000"/>
              </a:lnSpc>
              <a:spcAft>
                <a:spcPts val="500"/>
              </a:spcAft>
            </a:pPr>
            <a:r>
              <a:rPr sz="1400" b="0" i="0">
                <a:solidFill>
                  <a:srgbClr val="1C2430"/>
                </a:solidFill>
                <a:latin typeface="Roboto"/>
              </a:rPr>
              <a:t>Migrations, upgrades, refactors</a:t>
            </a:r>
          </a:p>
          <a:p>
            <a:pPr algn="l">
              <a:lnSpc>
                <a:spcPct val="105000"/>
              </a:lnSpc>
              <a:spcAft>
                <a:spcPts val="500"/>
              </a:spcAft>
            </a:pPr>
            <a:r>
              <a:rPr sz="1400" b="0" i="0">
                <a:solidFill>
                  <a:srgbClr val="1C2430"/>
                </a:solidFill>
                <a:latin typeface="Roboto"/>
              </a:rPr>
              <a:t>Parallel sessions · full audit log</a:t>
            </a:r>
          </a:p>
        </p:txBody>
      </p:sp>
      <p:sp>
        <p:nvSpPr>
          <p:cNvPr id="20" name="Rounded Rectangle 19"/>
          <p:cNvSpPr/>
          <p:nvPr/>
        </p:nvSpPr>
        <p:spPr>
          <a:xfrm>
            <a:off x="502920" y="4617720"/>
            <a:ext cx="11201400" cy="868680"/>
          </a:xfrm>
          <a:prstGeom prst="roundRect">
            <a:avLst>
              <a:gd name="adj" fmla="val 10000"/>
            </a:avLst>
          </a:prstGeom>
          <a:solidFill>
            <a:srgbClr val="012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828032"/>
            <a:ext cx="10698480" cy="594360"/>
          </a:xfrm>
          <a:prstGeom prst="rect">
            <a:avLst/>
          </a:prstGeom>
          <a:noFill/>
        </p:spPr>
        <p:txBody>
          <a:bodyPr wrap="square" anchor="t">
            <a:spAutoFit/>
          </a:bodyPr>
          <a:lstStyle/>
          <a:p>
            <a:pPr algn="l">
              <a:lnSpc>
                <a:spcPct val="100000"/>
              </a:lnSpc>
              <a:spcAft>
                <a:spcPts val="600"/>
              </a:spcAft>
            </a:pPr>
            <a:r>
              <a:rPr sz="1600" b="1" i="0">
                <a:solidFill>
                  <a:srgbClr val="FFFFFF"/>
                </a:solidFill>
                <a:latin typeface="Roboto"/>
              </a:rPr>
              <a:t>Your engineers stop being typists and become reviewers.</a:t>
            </a:r>
          </a:p>
        </p:txBody>
      </p:sp>
      <p:sp>
        <p:nvSpPr>
          <p:cNvPr id="22" name="TextBox 21"/>
          <p:cNvSpPr txBox="1"/>
          <p:nvPr/>
        </p:nvSpPr>
        <p:spPr>
          <a:xfrm>
            <a:off x="502920" y="6473952"/>
            <a:ext cx="7315200" cy="292608"/>
          </a:xfrm>
          <a:prstGeom prst="rect">
            <a:avLst/>
          </a:prstGeom>
          <a:noFill/>
        </p:spPr>
        <p:txBody>
          <a:bodyPr wrap="square" anchor="t">
            <a:spAutoFit/>
          </a:bodyPr>
          <a:lstStyle/>
          <a:p>
            <a:pPr algn="l">
              <a:lnSpc>
                <a:spcPct val="100000"/>
              </a:lnSpc>
              <a:spcAft>
                <a:spcPts val="600"/>
              </a:spcAft>
            </a:pPr>
            <a:r>
              <a:rPr sz="900" b="0" i="0">
                <a:solidFill>
                  <a:srgbClr val="5A6472"/>
                </a:solidFill>
                <a:latin typeface="Roboto"/>
              </a:rPr>
              <a:t>Bank of America  ×  Cognition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70432"/>
          </a:xfrm>
          <a:prstGeom prst="rect">
            <a:avLst/>
          </a:prstGeom>
          <a:solidFill>
            <a:srgbClr val="012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50292"/>
          </a:xfrm>
          <a:prstGeom prst="rect">
            <a:avLst/>
          </a:prstGeom>
          <a:solidFill>
            <a:srgbClr val="E31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9601200" cy="320040"/>
          </a:xfrm>
          <a:prstGeom prst="rect">
            <a:avLst/>
          </a:prstGeom>
          <a:noFill/>
        </p:spPr>
        <p:txBody>
          <a:bodyPr wrap="square" anchor="t">
            <a:spAutoFit/>
          </a:bodyPr>
          <a:lstStyle/>
          <a:p>
            <a:pPr algn="l">
              <a:lnSpc>
                <a:spcPct val="100000"/>
              </a:lnSpc>
              <a:spcAft>
                <a:spcPts val="600"/>
              </a:spcAft>
            </a:pPr>
            <a:r>
              <a:rPr sz="1100" b="1" i="0">
                <a:solidFill>
                  <a:srgbClr val="9FB4E0"/>
                </a:solidFill>
                <a:latin typeface="Roboto"/>
              </a:rPr>
              <a:t>ADDRESSING THE ELEPHANTS IN THE ROOM</a:t>
            </a:r>
          </a:p>
        </p:txBody>
      </p:sp>
      <p:sp>
        <p:nvSpPr>
          <p:cNvPr id="5" name="TextBox 4"/>
          <p:cNvSpPr txBox="1"/>
          <p:nvPr/>
        </p:nvSpPr>
        <p:spPr>
          <a:xfrm>
            <a:off x="502920" y="384048"/>
            <a:ext cx="10424160" cy="731520"/>
          </a:xfrm>
          <a:prstGeom prst="rect">
            <a:avLst/>
          </a:prstGeom>
          <a:noFill/>
        </p:spPr>
        <p:txBody>
          <a:bodyPr wrap="square" anchor="ctr">
            <a:spAutoFit/>
          </a:bodyPr>
          <a:lstStyle/>
          <a:p>
            <a:pPr algn="l">
              <a:lnSpc>
                <a:spcPct val="100000"/>
              </a:lnSpc>
              <a:spcAft>
                <a:spcPts val="600"/>
              </a:spcAft>
            </a:pPr>
            <a:r>
              <a:rPr sz="2700" b="1" i="0">
                <a:solidFill>
                  <a:srgbClr val="FFFFFF"/>
                </a:solidFill>
                <a:latin typeface="Roboto"/>
              </a:rPr>
              <a:t>What each of you is probably thinking</a:t>
            </a:r>
          </a:p>
        </p:txBody>
      </p:sp>
      <p:sp>
        <p:nvSpPr>
          <p:cNvPr id="6" name="TextBox 5"/>
          <p:cNvSpPr txBox="1"/>
          <p:nvPr/>
        </p:nvSpPr>
        <p:spPr>
          <a:xfrm>
            <a:off x="11247120" y="384048"/>
            <a:ext cx="640080" cy="731520"/>
          </a:xfrm>
          <a:prstGeom prst="rect">
            <a:avLst/>
          </a:prstGeom>
          <a:noFill/>
        </p:spPr>
        <p:txBody>
          <a:bodyPr wrap="square" anchor="t">
            <a:spAutoFit/>
          </a:bodyPr>
          <a:lstStyle/>
          <a:p>
            <a:pPr algn="r">
              <a:lnSpc>
                <a:spcPct val="100000"/>
              </a:lnSpc>
              <a:spcAft>
                <a:spcPts val="600"/>
              </a:spcAft>
            </a:pPr>
            <a:r>
              <a:rPr sz="1400" b="0" i="0">
                <a:solidFill>
                  <a:srgbClr val="9FB4E0"/>
                </a:solidFill>
                <a:latin typeface="Roboto"/>
              </a:rPr>
              <a:t>5</a:t>
            </a:r>
          </a:p>
        </p:txBody>
      </p:sp>
      <p:sp>
        <p:nvSpPr>
          <p:cNvPr id="7" name="Rounded Rectangle 6"/>
          <p:cNvSpPr/>
          <p:nvPr/>
        </p:nvSpPr>
        <p:spPr>
          <a:xfrm>
            <a:off x="502920" y="1481328"/>
            <a:ext cx="3611880" cy="3291840"/>
          </a:xfrm>
          <a:prstGeom prst="roundRect">
            <a:avLst>
              <a:gd name="adj" fmla="val 6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591056"/>
            <a:ext cx="54864" cy="3072384"/>
          </a:xfrm>
          <a:prstGeom prst="rect">
            <a:avLst/>
          </a:prstGeom>
          <a:solidFill>
            <a:srgbClr val="E31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591056"/>
            <a:ext cx="3246120" cy="365760"/>
          </a:xfrm>
          <a:prstGeom prst="rect">
            <a:avLst/>
          </a:prstGeom>
          <a:noFill/>
        </p:spPr>
        <p:txBody>
          <a:bodyPr wrap="square" anchor="t">
            <a:spAutoFit/>
          </a:bodyPr>
          <a:lstStyle/>
          <a:p>
            <a:pPr algn="l">
              <a:lnSpc>
                <a:spcPct val="100000"/>
              </a:lnSpc>
              <a:spcAft>
                <a:spcPts val="600"/>
              </a:spcAft>
            </a:pPr>
            <a:r>
              <a:rPr sz="1400" b="1" i="0">
                <a:solidFill>
                  <a:srgbClr val="012169"/>
                </a:solidFill>
                <a:latin typeface="Roboto"/>
              </a:rPr>
              <a:t>VP of Engineering</a:t>
            </a:r>
          </a:p>
        </p:txBody>
      </p:sp>
      <p:sp>
        <p:nvSpPr>
          <p:cNvPr id="10" name="TextBox 9"/>
          <p:cNvSpPr txBox="1"/>
          <p:nvPr/>
        </p:nvSpPr>
        <p:spPr>
          <a:xfrm>
            <a:off x="704088" y="1956816"/>
            <a:ext cx="3246120" cy="2697480"/>
          </a:xfrm>
          <a:prstGeom prst="rect">
            <a:avLst/>
          </a:prstGeom>
          <a:noFill/>
        </p:spPr>
        <p:txBody>
          <a:bodyPr wrap="square" anchor="t">
            <a:spAutoFit/>
          </a:bodyPr>
          <a:lstStyle/>
          <a:p>
            <a:pPr algn="l">
              <a:lnSpc>
                <a:spcPct val="105000"/>
              </a:lnSpc>
              <a:spcAft>
                <a:spcPts val="500"/>
              </a:spcAft>
            </a:pPr>
            <a:r>
              <a:rPr sz="1350" b="0" i="1">
                <a:solidFill>
                  <a:srgbClr val="5A6472"/>
                </a:solidFill>
                <a:latin typeface="Roboto"/>
              </a:rPr>
              <a:t>“Is this a time-saver or a babysitting job?”</a:t>
            </a:r>
          </a:p>
          <a:p>
            <a:pPr algn="l">
              <a:lnSpc>
                <a:spcPct val="105000"/>
              </a:lnSpc>
              <a:spcAft>
                <a:spcPts val="500"/>
              </a:spcAft>
            </a:pPr>
            <a:r>
              <a:rPr sz="1350" b="1" i="0">
                <a:solidFill>
                  <a:srgbClr val="E31837"/>
                </a:solidFill>
                <a:latin typeface="Roboto"/>
              </a:rPr>
              <a:t>→ </a:t>
            </a:r>
            <a:r>
              <a:rPr sz="1350" b="0" i="0">
                <a:solidFill>
                  <a:srgbClr val="1C2430"/>
                </a:solidFill>
                <a:latin typeface="Roboto"/>
              </a:rPr>
              <a:t>Reviewing ≪ writing</a:t>
            </a:r>
          </a:p>
          <a:p>
            <a:pPr algn="l">
              <a:lnSpc>
                <a:spcPct val="105000"/>
              </a:lnSpc>
              <a:spcAft>
                <a:spcPts val="500"/>
              </a:spcAft>
            </a:pPr>
            <a:r>
              <a:rPr sz="1350" b="1" i="0">
                <a:solidFill>
                  <a:srgbClr val="E31837"/>
                </a:solidFill>
                <a:latin typeface="Roboto"/>
              </a:rPr>
              <a:t>→ </a:t>
            </a:r>
            <a:r>
              <a:rPr sz="1350" b="0" i="0">
                <a:solidFill>
                  <a:srgbClr val="1C2430"/>
                </a:solidFill>
                <a:latin typeface="Roboto"/>
              </a:rPr>
              <a:t>Roadmap keeps moving</a:t>
            </a:r>
          </a:p>
        </p:txBody>
      </p:sp>
      <p:sp>
        <p:nvSpPr>
          <p:cNvPr id="11" name="Rounded Rectangle 10"/>
          <p:cNvSpPr/>
          <p:nvPr/>
        </p:nvSpPr>
        <p:spPr>
          <a:xfrm>
            <a:off x="4297680" y="1481328"/>
            <a:ext cx="3611880" cy="3291840"/>
          </a:xfrm>
          <a:prstGeom prst="roundRect">
            <a:avLst>
              <a:gd name="adj" fmla="val 6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97680" y="1591056"/>
            <a:ext cx="54864" cy="3072384"/>
          </a:xfrm>
          <a:prstGeom prst="rect">
            <a:avLst/>
          </a:prstGeom>
          <a:solidFill>
            <a:srgbClr val="E31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98848" y="1591056"/>
            <a:ext cx="3246120" cy="365760"/>
          </a:xfrm>
          <a:prstGeom prst="rect">
            <a:avLst/>
          </a:prstGeom>
          <a:noFill/>
        </p:spPr>
        <p:txBody>
          <a:bodyPr wrap="square" anchor="t">
            <a:spAutoFit/>
          </a:bodyPr>
          <a:lstStyle/>
          <a:p>
            <a:pPr algn="l">
              <a:lnSpc>
                <a:spcPct val="100000"/>
              </a:lnSpc>
              <a:spcAft>
                <a:spcPts val="600"/>
              </a:spcAft>
            </a:pPr>
            <a:r>
              <a:rPr sz="1400" b="1" i="0">
                <a:solidFill>
                  <a:srgbClr val="012169"/>
                </a:solidFill>
                <a:latin typeface="Roboto"/>
              </a:rPr>
              <a:t>Security Engineer</a:t>
            </a:r>
          </a:p>
        </p:txBody>
      </p:sp>
      <p:sp>
        <p:nvSpPr>
          <p:cNvPr id="14" name="TextBox 13"/>
          <p:cNvSpPr txBox="1"/>
          <p:nvPr/>
        </p:nvSpPr>
        <p:spPr>
          <a:xfrm>
            <a:off x="4498848" y="1956816"/>
            <a:ext cx="3246120" cy="2697480"/>
          </a:xfrm>
          <a:prstGeom prst="rect">
            <a:avLst/>
          </a:prstGeom>
          <a:noFill/>
        </p:spPr>
        <p:txBody>
          <a:bodyPr wrap="square" anchor="t">
            <a:spAutoFit/>
          </a:bodyPr>
          <a:lstStyle/>
          <a:p>
            <a:pPr algn="l">
              <a:lnSpc>
                <a:spcPct val="105000"/>
              </a:lnSpc>
              <a:spcAft>
                <a:spcPts val="500"/>
              </a:spcAft>
            </a:pPr>
            <a:r>
              <a:rPr sz="1350" b="0" i="1">
                <a:solidFill>
                  <a:srgbClr val="5A6472"/>
                </a:solidFill>
                <a:latin typeface="Roboto"/>
              </a:rPr>
              <a:t>“An autonomous agent in a bank's codebase?”</a:t>
            </a:r>
          </a:p>
          <a:p>
            <a:pPr algn="l">
              <a:lnSpc>
                <a:spcPct val="105000"/>
              </a:lnSpc>
              <a:spcAft>
                <a:spcPts val="500"/>
              </a:spcAft>
            </a:pPr>
            <a:r>
              <a:rPr sz="1350" b="1" i="0">
                <a:solidFill>
                  <a:srgbClr val="E31837"/>
                </a:solidFill>
                <a:latin typeface="Roboto"/>
              </a:rPr>
              <a:t>→ </a:t>
            </a:r>
            <a:r>
              <a:rPr sz="1350" b="0" i="0">
                <a:solidFill>
                  <a:srgbClr val="1C2430"/>
                </a:solidFill>
                <a:latin typeface="Roboto"/>
              </a:rPr>
              <a:t>Nothing merges without human approval</a:t>
            </a:r>
          </a:p>
          <a:p>
            <a:pPr algn="l">
              <a:lnSpc>
                <a:spcPct val="105000"/>
              </a:lnSpc>
              <a:spcAft>
                <a:spcPts val="500"/>
              </a:spcAft>
            </a:pPr>
            <a:r>
              <a:rPr sz="1350" b="1" i="0">
                <a:solidFill>
                  <a:srgbClr val="E31837"/>
                </a:solidFill>
                <a:latin typeface="Roboto"/>
              </a:rPr>
              <a:t>→ </a:t>
            </a:r>
            <a:r>
              <a:rPr sz="1350" b="0" i="0">
                <a:solidFill>
                  <a:srgbClr val="1C2430"/>
                </a:solidFill>
                <a:latin typeface="Roboto"/>
              </a:rPr>
              <a:t>Every action logged &amp; replayable</a:t>
            </a:r>
          </a:p>
        </p:txBody>
      </p:sp>
      <p:sp>
        <p:nvSpPr>
          <p:cNvPr id="15" name="Rounded Rectangle 14"/>
          <p:cNvSpPr/>
          <p:nvPr/>
        </p:nvSpPr>
        <p:spPr>
          <a:xfrm>
            <a:off x="8092440" y="1481328"/>
            <a:ext cx="3611880" cy="3291840"/>
          </a:xfrm>
          <a:prstGeom prst="roundRect">
            <a:avLst>
              <a:gd name="adj" fmla="val 6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92440" y="1591056"/>
            <a:ext cx="54864" cy="3072384"/>
          </a:xfrm>
          <a:prstGeom prst="rect">
            <a:avLst/>
          </a:prstGeom>
          <a:solidFill>
            <a:srgbClr val="E31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3608" y="1591056"/>
            <a:ext cx="3246120" cy="365760"/>
          </a:xfrm>
          <a:prstGeom prst="rect">
            <a:avLst/>
          </a:prstGeom>
          <a:noFill/>
        </p:spPr>
        <p:txBody>
          <a:bodyPr wrap="square" anchor="t">
            <a:spAutoFit/>
          </a:bodyPr>
          <a:lstStyle/>
          <a:p>
            <a:pPr algn="l">
              <a:lnSpc>
                <a:spcPct val="100000"/>
              </a:lnSpc>
              <a:spcAft>
                <a:spcPts val="600"/>
              </a:spcAft>
            </a:pPr>
            <a:r>
              <a:rPr sz="1400" b="1" i="0">
                <a:solidFill>
                  <a:srgbClr val="012169"/>
                </a:solidFill>
                <a:latin typeface="Roboto"/>
              </a:rPr>
              <a:t>Chief Architect</a:t>
            </a:r>
          </a:p>
        </p:txBody>
      </p:sp>
      <p:sp>
        <p:nvSpPr>
          <p:cNvPr id="18" name="TextBox 17"/>
          <p:cNvSpPr txBox="1"/>
          <p:nvPr/>
        </p:nvSpPr>
        <p:spPr>
          <a:xfrm>
            <a:off x="8293608" y="1956816"/>
            <a:ext cx="3246120" cy="2697480"/>
          </a:xfrm>
          <a:prstGeom prst="rect">
            <a:avLst/>
          </a:prstGeom>
          <a:noFill/>
        </p:spPr>
        <p:txBody>
          <a:bodyPr wrap="square" anchor="t">
            <a:spAutoFit/>
          </a:bodyPr>
          <a:lstStyle/>
          <a:p>
            <a:pPr algn="l">
              <a:lnSpc>
                <a:spcPct val="105000"/>
              </a:lnSpc>
              <a:spcAft>
                <a:spcPts val="500"/>
              </a:spcAft>
            </a:pPr>
            <a:r>
              <a:rPr sz="1350" b="0" i="1">
                <a:solidFill>
                  <a:srgbClr val="5A6472"/>
                </a:solidFill>
                <a:latin typeface="Roboto"/>
              </a:rPr>
              <a:t>“Will it respect our standards?”</a:t>
            </a:r>
          </a:p>
          <a:p>
            <a:pPr algn="l">
              <a:lnSpc>
                <a:spcPct val="105000"/>
              </a:lnSpc>
              <a:spcAft>
                <a:spcPts val="500"/>
              </a:spcAft>
            </a:pPr>
            <a:r>
              <a:rPr sz="1350" b="1" i="0">
                <a:solidFill>
                  <a:srgbClr val="E31837"/>
                </a:solidFill>
                <a:latin typeface="Roboto"/>
              </a:rPr>
              <a:t>→ </a:t>
            </a:r>
            <a:r>
              <a:rPr sz="1350" b="0" i="0">
                <a:solidFill>
                  <a:srgbClr val="1C2430"/>
                </a:solidFill>
                <a:latin typeface="Roboto"/>
              </a:rPr>
              <a:t>Your conventions, applied consistently</a:t>
            </a:r>
          </a:p>
          <a:p>
            <a:pPr algn="l">
              <a:lnSpc>
                <a:spcPct val="105000"/>
              </a:lnSpc>
              <a:spcAft>
                <a:spcPts val="500"/>
              </a:spcAft>
            </a:pPr>
            <a:r>
              <a:rPr sz="1350" b="1" i="0">
                <a:solidFill>
                  <a:srgbClr val="E31837"/>
                </a:solidFill>
                <a:latin typeface="Roboto"/>
              </a:rPr>
              <a:t>→ </a:t>
            </a:r>
            <a:r>
              <a:rPr sz="1350" b="0" i="0">
                <a:solidFill>
                  <a:srgbClr val="1C2430"/>
                </a:solidFill>
                <a:latin typeface="Roboto"/>
              </a:rPr>
              <a:t>Library validated before downstream</a:t>
            </a:r>
          </a:p>
        </p:txBody>
      </p:sp>
      <p:sp>
        <p:nvSpPr>
          <p:cNvPr id="19" name="TextBox 18"/>
          <p:cNvSpPr txBox="1"/>
          <p:nvPr/>
        </p:nvSpPr>
        <p:spPr>
          <a:xfrm>
            <a:off x="502920" y="6473952"/>
            <a:ext cx="7315200" cy="292608"/>
          </a:xfrm>
          <a:prstGeom prst="rect">
            <a:avLst/>
          </a:prstGeom>
          <a:noFill/>
        </p:spPr>
        <p:txBody>
          <a:bodyPr wrap="square" anchor="t">
            <a:spAutoFit/>
          </a:bodyPr>
          <a:lstStyle/>
          <a:p>
            <a:pPr algn="l">
              <a:lnSpc>
                <a:spcPct val="100000"/>
              </a:lnSpc>
              <a:spcAft>
                <a:spcPts val="600"/>
              </a:spcAft>
            </a:pPr>
            <a:r>
              <a:rPr sz="900" b="0" i="0">
                <a:solidFill>
                  <a:srgbClr val="5A6472"/>
                </a:solidFill>
                <a:latin typeface="Roboto"/>
              </a:rPr>
              <a:t>Bank of America  ×  Cognition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70432"/>
          </a:xfrm>
          <a:prstGeom prst="rect">
            <a:avLst/>
          </a:prstGeom>
          <a:solidFill>
            <a:srgbClr val="012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50292"/>
          </a:xfrm>
          <a:prstGeom prst="rect">
            <a:avLst/>
          </a:prstGeom>
          <a:solidFill>
            <a:srgbClr val="E31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9601200" cy="320040"/>
          </a:xfrm>
          <a:prstGeom prst="rect">
            <a:avLst/>
          </a:prstGeom>
          <a:noFill/>
        </p:spPr>
        <p:txBody>
          <a:bodyPr wrap="square" anchor="t">
            <a:spAutoFit/>
          </a:bodyPr>
          <a:lstStyle/>
          <a:p>
            <a:pPr algn="l">
              <a:lnSpc>
                <a:spcPct val="100000"/>
              </a:lnSpc>
              <a:spcAft>
                <a:spcPts val="600"/>
              </a:spcAft>
            </a:pPr>
            <a:r>
              <a:rPr sz="1100" b="1" i="0">
                <a:solidFill>
                  <a:srgbClr val="9FB4E0"/>
                </a:solidFill>
                <a:latin typeface="Roboto"/>
              </a:rPr>
              <a:t>ENOUGH SLIDES — LET'S WATCH IT WORK</a:t>
            </a:r>
          </a:p>
        </p:txBody>
      </p:sp>
      <p:sp>
        <p:nvSpPr>
          <p:cNvPr id="5" name="TextBox 4"/>
          <p:cNvSpPr txBox="1"/>
          <p:nvPr/>
        </p:nvSpPr>
        <p:spPr>
          <a:xfrm>
            <a:off x="502920" y="384048"/>
            <a:ext cx="10424160" cy="731520"/>
          </a:xfrm>
          <a:prstGeom prst="rect">
            <a:avLst/>
          </a:prstGeom>
          <a:noFill/>
        </p:spPr>
        <p:txBody>
          <a:bodyPr wrap="square" anchor="ctr">
            <a:spAutoFit/>
          </a:bodyPr>
          <a:lstStyle/>
          <a:p>
            <a:pPr algn="l">
              <a:lnSpc>
                <a:spcPct val="100000"/>
              </a:lnSpc>
              <a:spcAft>
                <a:spcPts val="600"/>
              </a:spcAft>
            </a:pPr>
            <a:r>
              <a:rPr sz="2200" b="1" i="0">
                <a:solidFill>
                  <a:srgbClr val="FFFFFF"/>
                </a:solidFill>
                <a:latin typeface="Roboto"/>
              </a:rPr>
              <a:t>Live demo: Devin migrates a BofA-shaped banking app, 14 → 18</a:t>
            </a:r>
          </a:p>
        </p:txBody>
      </p:sp>
      <p:sp>
        <p:nvSpPr>
          <p:cNvPr id="6" name="TextBox 5"/>
          <p:cNvSpPr txBox="1"/>
          <p:nvPr/>
        </p:nvSpPr>
        <p:spPr>
          <a:xfrm>
            <a:off x="11247120" y="384048"/>
            <a:ext cx="640080" cy="731520"/>
          </a:xfrm>
          <a:prstGeom prst="rect">
            <a:avLst/>
          </a:prstGeom>
          <a:noFill/>
        </p:spPr>
        <p:txBody>
          <a:bodyPr wrap="square" anchor="t">
            <a:spAutoFit/>
          </a:bodyPr>
          <a:lstStyle/>
          <a:p>
            <a:pPr algn="r">
              <a:lnSpc>
                <a:spcPct val="100000"/>
              </a:lnSpc>
              <a:spcAft>
                <a:spcPts val="600"/>
              </a:spcAft>
            </a:pPr>
            <a:r>
              <a:rPr sz="1400" b="0" i="0">
                <a:solidFill>
                  <a:srgbClr val="9FB4E0"/>
                </a:solidFill>
                <a:latin typeface="Roboto"/>
              </a:rPr>
              <a:t>6</a:t>
            </a:r>
          </a:p>
        </p:txBody>
      </p:sp>
      <p:sp>
        <p:nvSpPr>
          <p:cNvPr id="7" name="Rounded Rectangle 6"/>
          <p:cNvSpPr/>
          <p:nvPr/>
        </p:nvSpPr>
        <p:spPr>
          <a:xfrm>
            <a:off x="502920" y="1481328"/>
            <a:ext cx="4846320" cy="3931920"/>
          </a:xfrm>
          <a:prstGeom prst="roundRect">
            <a:avLst>
              <a:gd name="adj" fmla="val 6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591056"/>
            <a:ext cx="54864" cy="3712463"/>
          </a:xfrm>
          <a:prstGeom prst="rect">
            <a:avLst/>
          </a:prstGeom>
          <a:solidFill>
            <a:srgbClr val="E31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591056"/>
            <a:ext cx="4480559" cy="365760"/>
          </a:xfrm>
          <a:prstGeom prst="rect">
            <a:avLst/>
          </a:prstGeom>
          <a:noFill/>
        </p:spPr>
        <p:txBody>
          <a:bodyPr wrap="square" anchor="t">
            <a:spAutoFit/>
          </a:bodyPr>
          <a:lstStyle/>
          <a:p>
            <a:pPr algn="l">
              <a:lnSpc>
                <a:spcPct val="100000"/>
              </a:lnSpc>
              <a:spcAft>
                <a:spcPts val="600"/>
              </a:spcAft>
            </a:pPr>
            <a:r>
              <a:rPr sz="1400" b="1" i="0">
                <a:solidFill>
                  <a:srgbClr val="012169"/>
                </a:solidFill>
                <a:latin typeface="Roboto"/>
              </a:rPr>
              <a:t>A codebase shaped like yours</a:t>
            </a:r>
          </a:p>
        </p:txBody>
      </p:sp>
      <p:sp>
        <p:nvSpPr>
          <p:cNvPr id="10" name="TextBox 9"/>
          <p:cNvSpPr txBox="1"/>
          <p:nvPr/>
        </p:nvSpPr>
        <p:spPr>
          <a:xfrm>
            <a:off x="704088" y="1956816"/>
            <a:ext cx="4480559" cy="3337560"/>
          </a:xfrm>
          <a:prstGeom prst="rect">
            <a:avLst/>
          </a:prstGeom>
          <a:noFill/>
        </p:spPr>
        <p:txBody>
          <a:bodyPr wrap="square" anchor="t">
            <a:spAutoFit/>
          </a:bodyPr>
          <a:lstStyle/>
          <a:p>
            <a:pPr algn="l">
              <a:lnSpc>
                <a:spcPct val="105000"/>
              </a:lnSpc>
              <a:spcAft>
                <a:spcPts val="500"/>
              </a:spcAft>
            </a:pPr>
            <a:r>
              <a:rPr sz="1400" b="1" i="0">
                <a:solidFill>
                  <a:srgbClr val="1C2430"/>
                </a:solidFill>
                <a:latin typeface="Roboto"/>
              </a:rPr>
              <a:t>Shared component library</a:t>
            </a:r>
          </a:p>
          <a:p>
            <a:pPr algn="l">
              <a:lnSpc>
                <a:spcPct val="105000"/>
              </a:lnSpc>
              <a:spcAft>
                <a:spcPts val="500"/>
              </a:spcAft>
            </a:pPr>
            <a:r>
              <a:rPr sz="1400" b="0" i="0">
                <a:solidFill>
                  <a:srgbClr val="1C2430"/>
                </a:solidFill>
                <a:latin typeface="Roboto"/>
              </a:rPr>
              <a:t>SSO/MFA · analytics SDK · financial data</a:t>
            </a:r>
          </a:p>
          <a:p>
            <a:pPr algn="l">
              <a:lnSpc>
                <a:spcPct val="105000"/>
              </a:lnSpc>
              <a:spcAft>
                <a:spcPts val="500"/>
              </a:spcAft>
            </a:pPr>
            <a:r>
              <a:rPr sz="1400" b="0" i="0">
                <a:solidFill>
                  <a:srgbClr val="1C2430"/>
                </a:solidFill>
                <a:latin typeface="Roboto"/>
              </a:rPr>
              <a:t>Custom design system on Angular Material</a:t>
            </a:r>
          </a:p>
          <a:p>
            <a:pPr algn="l">
              <a:lnSpc>
                <a:spcPct val="105000"/>
              </a:lnSpc>
              <a:spcAft>
                <a:spcPts val="500"/>
              </a:spcAft>
            </a:pPr>
            <a:r>
              <a:rPr sz="1400" b="0" i="1">
                <a:solidFill>
                  <a:srgbClr val="5A6472"/>
                </a:solidFill>
                <a:latin typeface="Roboto"/>
              </a:rPr>
              <a:t>Mock code, real architecture.</a:t>
            </a:r>
          </a:p>
        </p:txBody>
      </p:sp>
      <p:sp>
        <p:nvSpPr>
          <p:cNvPr id="11" name="Rounded Rectangle 10"/>
          <p:cNvSpPr/>
          <p:nvPr/>
        </p:nvSpPr>
        <p:spPr>
          <a:xfrm>
            <a:off x="5532120" y="1481328"/>
            <a:ext cx="6172200" cy="3931920"/>
          </a:xfrm>
          <a:prstGeom prst="roundRect">
            <a:avLst>
              <a:gd name="adj" fmla="val 6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532120" y="1591056"/>
            <a:ext cx="54864" cy="3712463"/>
          </a:xfrm>
          <a:prstGeom prst="rect">
            <a:avLst/>
          </a:prstGeom>
          <a:solidFill>
            <a:srgbClr val="E31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33288" y="1591056"/>
            <a:ext cx="5806440" cy="365760"/>
          </a:xfrm>
          <a:prstGeom prst="rect">
            <a:avLst/>
          </a:prstGeom>
          <a:noFill/>
        </p:spPr>
        <p:txBody>
          <a:bodyPr wrap="square" anchor="t">
            <a:spAutoFit/>
          </a:bodyPr>
          <a:lstStyle/>
          <a:p>
            <a:pPr algn="l">
              <a:lnSpc>
                <a:spcPct val="100000"/>
              </a:lnSpc>
              <a:spcAft>
                <a:spcPts val="600"/>
              </a:spcAft>
            </a:pPr>
            <a:r>
              <a:rPr sz="1400" b="1" i="0">
                <a:solidFill>
                  <a:srgbClr val="012169"/>
                </a:solidFill>
                <a:latin typeface="Roboto"/>
              </a:rPr>
              <a:t>What Devin will do</a:t>
            </a:r>
          </a:p>
        </p:txBody>
      </p:sp>
      <p:sp>
        <p:nvSpPr>
          <p:cNvPr id="14" name="TextBox 13"/>
          <p:cNvSpPr txBox="1"/>
          <p:nvPr/>
        </p:nvSpPr>
        <p:spPr>
          <a:xfrm>
            <a:off x="5733288" y="1956816"/>
            <a:ext cx="5806440" cy="3337560"/>
          </a:xfrm>
          <a:prstGeom prst="rect">
            <a:avLst/>
          </a:prstGeom>
          <a:noFill/>
        </p:spPr>
        <p:txBody>
          <a:bodyPr wrap="square" anchor="t">
            <a:spAutoFit/>
          </a:bodyPr>
          <a:lstStyle/>
          <a:p>
            <a:pPr algn="l">
              <a:lnSpc>
                <a:spcPct val="105000"/>
              </a:lnSpc>
              <a:spcAft>
                <a:spcPts val="500"/>
              </a:spcAft>
            </a:pPr>
            <a:r>
              <a:rPr sz="1400" b="1" i="0">
                <a:solidFill>
                  <a:srgbClr val="E31837"/>
                </a:solidFill>
                <a:latin typeface="Roboto"/>
              </a:rPr>
              <a:t>1. </a:t>
            </a:r>
            <a:r>
              <a:rPr sz="1400" b="0" i="0">
                <a:solidFill>
                  <a:srgbClr val="1C2430"/>
                </a:solidFill>
                <a:latin typeface="Roboto"/>
              </a:rPr>
              <a:t>Baseline — build + tests green</a:t>
            </a:r>
          </a:p>
          <a:p>
            <a:pPr algn="l">
              <a:lnSpc>
                <a:spcPct val="105000"/>
              </a:lnSpc>
              <a:spcAft>
                <a:spcPts val="500"/>
              </a:spcAft>
            </a:pPr>
            <a:r>
              <a:rPr sz="1400" b="1" i="0">
                <a:solidFill>
                  <a:srgbClr val="E31837"/>
                </a:solidFill>
                <a:latin typeface="Roboto"/>
              </a:rPr>
              <a:t>2. </a:t>
            </a:r>
            <a:r>
              <a:rPr sz="1400" b="0" i="0">
                <a:solidFill>
                  <a:srgbClr val="1C2430"/>
                </a:solidFill>
                <a:latin typeface="Roboto"/>
              </a:rPr>
              <a:t>Stepwise ng update 14→15→16→17→18</a:t>
            </a:r>
          </a:p>
          <a:p>
            <a:pPr algn="l">
              <a:lnSpc>
                <a:spcPct val="105000"/>
              </a:lnSpc>
              <a:spcAft>
                <a:spcPts val="500"/>
              </a:spcAft>
            </a:pPr>
            <a:r>
              <a:rPr sz="1400" b="1" i="0">
                <a:solidFill>
                  <a:srgbClr val="E31837"/>
                </a:solidFill>
                <a:latin typeface="Roboto"/>
              </a:rPr>
              <a:t>3. </a:t>
            </a:r>
            <a:r>
              <a:rPr sz="1400" b="0" i="0">
                <a:solidFill>
                  <a:srgbClr val="1C2430"/>
                </a:solidFill>
                <a:latin typeface="Roboto"/>
              </a:rPr>
              <a:t>Modernize 5 legacy patterns</a:t>
            </a:r>
          </a:p>
          <a:p>
            <a:pPr algn="l">
              <a:lnSpc>
                <a:spcPct val="105000"/>
              </a:lnSpc>
              <a:spcAft>
                <a:spcPts val="500"/>
              </a:spcAft>
            </a:pPr>
            <a:r>
              <a:rPr sz="1400" b="1" i="0">
                <a:solidFill>
                  <a:srgbClr val="E31837"/>
                </a:solidFill>
                <a:latin typeface="Roboto"/>
              </a:rPr>
              <a:t>4. </a:t>
            </a:r>
            <a:r>
              <a:rPr sz="1400" b="0" i="0">
                <a:solidFill>
                  <a:srgbClr val="1C2430"/>
                </a:solidFill>
                <a:latin typeface="Roboto"/>
              </a:rPr>
              <a:t>Validate — zero legacy patterns remain</a:t>
            </a:r>
          </a:p>
          <a:p>
            <a:pPr algn="l">
              <a:lnSpc>
                <a:spcPct val="105000"/>
              </a:lnSpc>
              <a:spcAft>
                <a:spcPts val="500"/>
              </a:spcAft>
            </a:pPr>
            <a:r>
              <a:rPr sz="1400" b="1" i="0">
                <a:solidFill>
                  <a:srgbClr val="E31837"/>
                </a:solidFill>
                <a:latin typeface="Roboto"/>
              </a:rPr>
              <a:t>5. </a:t>
            </a:r>
            <a:r>
              <a:rPr sz="1400" b="0" i="0">
                <a:solidFill>
                  <a:srgbClr val="1C2430"/>
                </a:solidFill>
                <a:latin typeface="Roboto"/>
              </a:rPr>
              <a:t>Deliver — reviewable PRs</a:t>
            </a:r>
          </a:p>
        </p:txBody>
      </p:sp>
      <p:sp>
        <p:nvSpPr>
          <p:cNvPr id="15" name="TextBox 14"/>
          <p:cNvSpPr txBox="1"/>
          <p:nvPr/>
        </p:nvSpPr>
        <p:spPr>
          <a:xfrm>
            <a:off x="502920" y="6473952"/>
            <a:ext cx="7315200" cy="292608"/>
          </a:xfrm>
          <a:prstGeom prst="rect">
            <a:avLst/>
          </a:prstGeom>
          <a:noFill/>
        </p:spPr>
        <p:txBody>
          <a:bodyPr wrap="square" anchor="t">
            <a:spAutoFit/>
          </a:bodyPr>
          <a:lstStyle/>
          <a:p>
            <a:pPr algn="l">
              <a:lnSpc>
                <a:spcPct val="100000"/>
              </a:lnSpc>
              <a:spcAft>
                <a:spcPts val="600"/>
              </a:spcAft>
            </a:pPr>
            <a:r>
              <a:rPr sz="900" b="0" i="0">
                <a:solidFill>
                  <a:srgbClr val="5A6472"/>
                </a:solidFill>
                <a:latin typeface="Roboto"/>
              </a:rPr>
              <a:t>Bank of America  ×  Cognition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70432"/>
          </a:xfrm>
          <a:prstGeom prst="rect">
            <a:avLst/>
          </a:prstGeom>
          <a:solidFill>
            <a:srgbClr val="012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50292"/>
          </a:xfrm>
          <a:prstGeom prst="rect">
            <a:avLst/>
          </a:prstGeom>
          <a:solidFill>
            <a:srgbClr val="E31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9601200" cy="320040"/>
          </a:xfrm>
          <a:prstGeom prst="rect">
            <a:avLst/>
          </a:prstGeom>
          <a:noFill/>
        </p:spPr>
        <p:txBody>
          <a:bodyPr wrap="square" anchor="t">
            <a:spAutoFit/>
          </a:bodyPr>
          <a:lstStyle/>
          <a:p>
            <a:pPr algn="l">
              <a:lnSpc>
                <a:spcPct val="100000"/>
              </a:lnSpc>
              <a:spcAft>
                <a:spcPts val="600"/>
              </a:spcAft>
            </a:pPr>
            <a:r>
              <a:rPr sz="1100" b="1" i="0">
                <a:solidFill>
                  <a:srgbClr val="9FB4E0"/>
                </a:solidFill>
                <a:latin typeface="Roboto"/>
              </a:rPr>
              <a:t>FROM DEMO TO YOUR REALITY</a:t>
            </a:r>
          </a:p>
        </p:txBody>
      </p:sp>
      <p:sp>
        <p:nvSpPr>
          <p:cNvPr id="5" name="TextBox 4"/>
          <p:cNvSpPr txBox="1"/>
          <p:nvPr/>
        </p:nvSpPr>
        <p:spPr>
          <a:xfrm>
            <a:off x="502920" y="384048"/>
            <a:ext cx="10424160" cy="731520"/>
          </a:xfrm>
          <a:prstGeom prst="rect">
            <a:avLst/>
          </a:prstGeom>
          <a:noFill/>
        </p:spPr>
        <p:txBody>
          <a:bodyPr wrap="square" anchor="ctr">
            <a:spAutoFit/>
          </a:bodyPr>
          <a:lstStyle/>
          <a:p>
            <a:pPr algn="l">
              <a:lnSpc>
                <a:spcPct val="100000"/>
              </a:lnSpc>
              <a:spcAft>
                <a:spcPts val="600"/>
              </a:spcAft>
            </a:pPr>
            <a:r>
              <a:rPr sz="2700" b="1" i="0">
                <a:solidFill>
                  <a:srgbClr val="FFFFFF"/>
                </a:solidFill>
                <a:latin typeface="Roboto"/>
              </a:rPr>
              <a:t>How this maps to BofA's actual migration</a:t>
            </a:r>
          </a:p>
        </p:txBody>
      </p:sp>
      <p:sp>
        <p:nvSpPr>
          <p:cNvPr id="6" name="TextBox 5"/>
          <p:cNvSpPr txBox="1"/>
          <p:nvPr/>
        </p:nvSpPr>
        <p:spPr>
          <a:xfrm>
            <a:off x="11247120" y="384048"/>
            <a:ext cx="640080" cy="731520"/>
          </a:xfrm>
          <a:prstGeom prst="rect">
            <a:avLst/>
          </a:prstGeom>
          <a:noFill/>
        </p:spPr>
        <p:txBody>
          <a:bodyPr wrap="square" anchor="t">
            <a:spAutoFit/>
          </a:bodyPr>
          <a:lstStyle/>
          <a:p>
            <a:pPr algn="r">
              <a:lnSpc>
                <a:spcPct val="100000"/>
              </a:lnSpc>
              <a:spcAft>
                <a:spcPts val="600"/>
              </a:spcAft>
            </a:pPr>
            <a:r>
              <a:rPr sz="1400" b="0" i="0">
                <a:solidFill>
                  <a:srgbClr val="9FB4E0"/>
                </a:solidFill>
                <a:latin typeface="Roboto"/>
              </a:rPr>
              <a:t>7</a:t>
            </a:r>
          </a:p>
        </p:txBody>
      </p:sp>
      <p:sp>
        <p:nvSpPr>
          <p:cNvPr id="7" name="Rounded Rectangle 6"/>
          <p:cNvSpPr/>
          <p:nvPr/>
        </p:nvSpPr>
        <p:spPr>
          <a:xfrm>
            <a:off x="502920" y="1481328"/>
            <a:ext cx="11201400" cy="932688"/>
          </a:xfrm>
          <a:prstGeom prst="roundRect">
            <a:avLst>
              <a:gd name="adj" fmla="val 10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85800" y="1645920"/>
            <a:ext cx="1371600" cy="603504"/>
          </a:xfrm>
          <a:prstGeom prst="roundRect">
            <a:avLst>
              <a:gd name="adj" fmla="val 18000"/>
            </a:avLst>
          </a:prstGeom>
          <a:solidFill>
            <a:srgbClr val="012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783080"/>
            <a:ext cx="1371600" cy="365760"/>
          </a:xfrm>
          <a:prstGeom prst="rect">
            <a:avLst/>
          </a:prstGeom>
          <a:noFill/>
        </p:spPr>
        <p:txBody>
          <a:bodyPr wrap="square" anchor="t">
            <a:spAutoFit/>
          </a:bodyPr>
          <a:lstStyle/>
          <a:p>
            <a:pPr algn="ctr">
              <a:lnSpc>
                <a:spcPct val="100000"/>
              </a:lnSpc>
              <a:spcAft>
                <a:spcPts val="600"/>
              </a:spcAft>
            </a:pPr>
            <a:r>
              <a:rPr sz="1200" b="1" i="0">
                <a:solidFill>
                  <a:srgbClr val="FFFFFF"/>
                </a:solidFill>
                <a:latin typeface="Roboto"/>
              </a:rPr>
              <a:t>Week 0</a:t>
            </a:r>
          </a:p>
        </p:txBody>
      </p:sp>
      <p:sp>
        <p:nvSpPr>
          <p:cNvPr id="10" name="TextBox 9"/>
          <p:cNvSpPr txBox="1"/>
          <p:nvPr/>
        </p:nvSpPr>
        <p:spPr>
          <a:xfrm>
            <a:off x="2286000" y="1591056"/>
            <a:ext cx="9144000" cy="365760"/>
          </a:xfrm>
          <a:prstGeom prst="rect">
            <a:avLst/>
          </a:prstGeom>
          <a:noFill/>
        </p:spPr>
        <p:txBody>
          <a:bodyPr wrap="square" anchor="t">
            <a:spAutoFit/>
          </a:bodyPr>
          <a:lstStyle/>
          <a:p>
            <a:pPr algn="l">
              <a:lnSpc>
                <a:spcPct val="100000"/>
              </a:lnSpc>
              <a:spcAft>
                <a:spcPts val="600"/>
              </a:spcAft>
            </a:pPr>
            <a:r>
              <a:rPr sz="1450" b="1" i="0">
                <a:solidFill>
                  <a:srgbClr val="012169"/>
                </a:solidFill>
                <a:latin typeface="Roboto"/>
              </a:rPr>
              <a:t>Scope &amp; safety rails</a:t>
            </a:r>
          </a:p>
        </p:txBody>
      </p:sp>
      <p:sp>
        <p:nvSpPr>
          <p:cNvPr id="11" name="TextBox 10"/>
          <p:cNvSpPr txBox="1"/>
          <p:nvPr/>
        </p:nvSpPr>
        <p:spPr>
          <a:xfrm>
            <a:off x="2286000" y="1938528"/>
            <a:ext cx="9144000" cy="411480"/>
          </a:xfrm>
          <a:prstGeom prst="rect">
            <a:avLst/>
          </a:prstGeom>
          <a:noFill/>
        </p:spPr>
        <p:txBody>
          <a:bodyPr wrap="square" anchor="t">
            <a:spAutoFit/>
          </a:bodyPr>
          <a:lstStyle/>
          <a:p>
            <a:pPr algn="l">
              <a:lnSpc>
                <a:spcPct val="100000"/>
              </a:lnSpc>
              <a:spcAft>
                <a:spcPts val="600"/>
              </a:spcAft>
            </a:pPr>
            <a:r>
              <a:rPr sz="1200" b="0" i="0">
                <a:solidFill>
                  <a:srgbClr val="1C2430"/>
                </a:solidFill>
                <a:latin typeface="Roboto"/>
              </a:rPr>
              <a:t>Security review · success criteria</a:t>
            </a:r>
          </a:p>
        </p:txBody>
      </p:sp>
      <p:sp>
        <p:nvSpPr>
          <p:cNvPr id="12" name="Rounded Rectangle 11"/>
          <p:cNvSpPr/>
          <p:nvPr/>
        </p:nvSpPr>
        <p:spPr>
          <a:xfrm>
            <a:off x="502920" y="2505456"/>
            <a:ext cx="11201400" cy="93268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85800" y="2670048"/>
            <a:ext cx="1371600" cy="603504"/>
          </a:xfrm>
          <a:prstGeom prst="roundRect">
            <a:avLst>
              <a:gd name="adj" fmla="val 18000"/>
            </a:avLst>
          </a:prstGeom>
          <a:solidFill>
            <a:srgbClr val="012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807208"/>
            <a:ext cx="1371600" cy="365760"/>
          </a:xfrm>
          <a:prstGeom prst="rect">
            <a:avLst/>
          </a:prstGeom>
          <a:noFill/>
        </p:spPr>
        <p:txBody>
          <a:bodyPr wrap="square" anchor="t">
            <a:spAutoFit/>
          </a:bodyPr>
          <a:lstStyle/>
          <a:p>
            <a:pPr algn="ctr">
              <a:lnSpc>
                <a:spcPct val="100000"/>
              </a:lnSpc>
              <a:spcAft>
                <a:spcPts val="600"/>
              </a:spcAft>
            </a:pPr>
            <a:r>
              <a:rPr sz="1200" b="1" i="0">
                <a:solidFill>
                  <a:srgbClr val="FFFFFF"/>
                </a:solidFill>
                <a:latin typeface="Roboto"/>
              </a:rPr>
              <a:t>Weeks 1–2</a:t>
            </a:r>
          </a:p>
        </p:txBody>
      </p:sp>
      <p:sp>
        <p:nvSpPr>
          <p:cNvPr id="15" name="TextBox 14"/>
          <p:cNvSpPr txBox="1"/>
          <p:nvPr/>
        </p:nvSpPr>
        <p:spPr>
          <a:xfrm>
            <a:off x="2286000" y="2615184"/>
            <a:ext cx="9144000" cy="365760"/>
          </a:xfrm>
          <a:prstGeom prst="rect">
            <a:avLst/>
          </a:prstGeom>
          <a:noFill/>
        </p:spPr>
        <p:txBody>
          <a:bodyPr wrap="square" anchor="t">
            <a:spAutoFit/>
          </a:bodyPr>
          <a:lstStyle/>
          <a:p>
            <a:pPr algn="l">
              <a:lnSpc>
                <a:spcPct val="100000"/>
              </a:lnSpc>
              <a:spcAft>
                <a:spcPts val="600"/>
              </a:spcAft>
            </a:pPr>
            <a:r>
              <a:rPr sz="1450" b="1" i="0">
                <a:solidFill>
                  <a:srgbClr val="012169"/>
                </a:solidFill>
                <a:latin typeface="Roboto"/>
              </a:rPr>
              <a:t>Shared library first</a:t>
            </a:r>
          </a:p>
        </p:txBody>
      </p:sp>
      <p:sp>
        <p:nvSpPr>
          <p:cNvPr id="16" name="TextBox 15"/>
          <p:cNvSpPr txBox="1"/>
          <p:nvPr/>
        </p:nvSpPr>
        <p:spPr>
          <a:xfrm>
            <a:off x="2286000" y="2962656"/>
            <a:ext cx="9144000" cy="411480"/>
          </a:xfrm>
          <a:prstGeom prst="rect">
            <a:avLst/>
          </a:prstGeom>
          <a:noFill/>
        </p:spPr>
        <p:txBody>
          <a:bodyPr wrap="square" anchor="t">
            <a:spAutoFit/>
          </a:bodyPr>
          <a:lstStyle/>
          <a:p>
            <a:pPr algn="l">
              <a:lnSpc>
                <a:spcPct val="100000"/>
              </a:lnSpc>
              <a:spcAft>
                <a:spcPts val="600"/>
              </a:spcAft>
            </a:pPr>
            <a:r>
              <a:rPr sz="1200" b="0" i="0">
                <a:solidFill>
                  <a:srgbClr val="1C2430"/>
                </a:solidFill>
                <a:latin typeface="Roboto"/>
              </a:rPr>
              <a:t>Root of the dependency tree — your team reviews every PR</a:t>
            </a:r>
          </a:p>
        </p:txBody>
      </p:sp>
      <p:sp>
        <p:nvSpPr>
          <p:cNvPr id="17" name="Rounded Rectangle 16"/>
          <p:cNvSpPr/>
          <p:nvPr/>
        </p:nvSpPr>
        <p:spPr>
          <a:xfrm>
            <a:off x="502920" y="3529584"/>
            <a:ext cx="11201400" cy="932688"/>
          </a:xfrm>
          <a:prstGeom prst="roundRect">
            <a:avLst>
              <a:gd name="adj" fmla="val 10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5800" y="3694176"/>
            <a:ext cx="1371600" cy="603504"/>
          </a:xfrm>
          <a:prstGeom prst="roundRect">
            <a:avLst>
              <a:gd name="adj" fmla="val 18000"/>
            </a:avLst>
          </a:prstGeom>
          <a:solidFill>
            <a:srgbClr val="012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831336"/>
            <a:ext cx="1371600" cy="365760"/>
          </a:xfrm>
          <a:prstGeom prst="rect">
            <a:avLst/>
          </a:prstGeom>
          <a:noFill/>
        </p:spPr>
        <p:txBody>
          <a:bodyPr wrap="square" anchor="t">
            <a:spAutoFit/>
          </a:bodyPr>
          <a:lstStyle/>
          <a:p>
            <a:pPr algn="ctr">
              <a:lnSpc>
                <a:spcPct val="100000"/>
              </a:lnSpc>
              <a:spcAft>
                <a:spcPts val="600"/>
              </a:spcAft>
            </a:pPr>
            <a:r>
              <a:rPr sz="1200" b="1" i="0">
                <a:solidFill>
                  <a:srgbClr val="FFFFFF"/>
                </a:solidFill>
                <a:latin typeface="Roboto"/>
              </a:rPr>
              <a:t>Weeks 2–3</a:t>
            </a:r>
          </a:p>
        </p:txBody>
      </p:sp>
      <p:sp>
        <p:nvSpPr>
          <p:cNvPr id="20" name="TextBox 19"/>
          <p:cNvSpPr txBox="1"/>
          <p:nvPr/>
        </p:nvSpPr>
        <p:spPr>
          <a:xfrm>
            <a:off x="2286000" y="3639312"/>
            <a:ext cx="9144000" cy="365760"/>
          </a:xfrm>
          <a:prstGeom prst="rect">
            <a:avLst/>
          </a:prstGeom>
          <a:noFill/>
        </p:spPr>
        <p:txBody>
          <a:bodyPr wrap="square" anchor="t">
            <a:spAutoFit/>
          </a:bodyPr>
          <a:lstStyle/>
          <a:p>
            <a:pPr algn="l">
              <a:lnSpc>
                <a:spcPct val="100000"/>
              </a:lnSpc>
              <a:spcAft>
                <a:spcPts val="600"/>
              </a:spcAft>
            </a:pPr>
            <a:r>
              <a:rPr sz="1450" b="1" i="0">
                <a:solidFill>
                  <a:srgbClr val="012169"/>
                </a:solidFill>
                <a:latin typeface="Roboto"/>
              </a:rPr>
              <a:t>Downstream in parallel</a:t>
            </a:r>
          </a:p>
        </p:txBody>
      </p:sp>
      <p:sp>
        <p:nvSpPr>
          <p:cNvPr id="21" name="TextBox 20"/>
          <p:cNvSpPr txBox="1"/>
          <p:nvPr/>
        </p:nvSpPr>
        <p:spPr>
          <a:xfrm>
            <a:off x="2286000" y="3986784"/>
            <a:ext cx="9144000" cy="411480"/>
          </a:xfrm>
          <a:prstGeom prst="rect">
            <a:avLst/>
          </a:prstGeom>
          <a:noFill/>
        </p:spPr>
        <p:txBody>
          <a:bodyPr wrap="square" anchor="t">
            <a:spAutoFit/>
          </a:bodyPr>
          <a:lstStyle/>
          <a:p>
            <a:pPr algn="l">
              <a:lnSpc>
                <a:spcPct val="100000"/>
              </a:lnSpc>
              <a:spcAft>
                <a:spcPts val="600"/>
              </a:spcAft>
            </a:pPr>
            <a:r>
              <a:rPr sz="1200" b="0" i="0">
                <a:solidFill>
                  <a:srgbClr val="1C2430"/>
                </a:solidFill>
                <a:latin typeface="Roboto"/>
              </a:rPr>
              <a:t>One Devin per consuming app — the coordination tax collapses</a:t>
            </a:r>
          </a:p>
        </p:txBody>
      </p:sp>
      <p:sp>
        <p:nvSpPr>
          <p:cNvPr id="22" name="Rounded Rectangle 21"/>
          <p:cNvSpPr/>
          <p:nvPr/>
        </p:nvSpPr>
        <p:spPr>
          <a:xfrm>
            <a:off x="502920" y="4553712"/>
            <a:ext cx="11201400" cy="93268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85800" y="4718304"/>
            <a:ext cx="1371600" cy="603504"/>
          </a:xfrm>
          <a:prstGeom prst="roundRect">
            <a:avLst>
              <a:gd name="adj" fmla="val 18000"/>
            </a:avLst>
          </a:prstGeom>
          <a:solidFill>
            <a:srgbClr val="012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4855464"/>
            <a:ext cx="1371600" cy="365760"/>
          </a:xfrm>
          <a:prstGeom prst="rect">
            <a:avLst/>
          </a:prstGeom>
          <a:noFill/>
        </p:spPr>
        <p:txBody>
          <a:bodyPr wrap="square" anchor="t">
            <a:spAutoFit/>
          </a:bodyPr>
          <a:lstStyle/>
          <a:p>
            <a:pPr algn="ctr">
              <a:lnSpc>
                <a:spcPct val="100000"/>
              </a:lnSpc>
              <a:spcAft>
                <a:spcPts val="600"/>
              </a:spcAft>
            </a:pPr>
            <a:r>
              <a:rPr sz="1200" b="1" i="0">
                <a:solidFill>
                  <a:srgbClr val="FFFFFF"/>
                </a:solidFill>
                <a:latin typeface="Roboto"/>
              </a:rPr>
              <a:t>Ongoing</a:t>
            </a:r>
          </a:p>
        </p:txBody>
      </p:sp>
      <p:sp>
        <p:nvSpPr>
          <p:cNvPr id="25" name="TextBox 24"/>
          <p:cNvSpPr txBox="1"/>
          <p:nvPr/>
        </p:nvSpPr>
        <p:spPr>
          <a:xfrm>
            <a:off x="2286000" y="4663440"/>
            <a:ext cx="9144000" cy="365760"/>
          </a:xfrm>
          <a:prstGeom prst="rect">
            <a:avLst/>
          </a:prstGeom>
          <a:noFill/>
        </p:spPr>
        <p:txBody>
          <a:bodyPr wrap="square" anchor="t">
            <a:spAutoFit/>
          </a:bodyPr>
          <a:lstStyle/>
          <a:p>
            <a:pPr algn="l">
              <a:lnSpc>
                <a:spcPct val="100000"/>
              </a:lnSpc>
              <a:spcAft>
                <a:spcPts val="600"/>
              </a:spcAft>
            </a:pPr>
            <a:r>
              <a:rPr sz="1450" b="1" i="0">
                <a:solidFill>
                  <a:srgbClr val="012169"/>
                </a:solidFill>
                <a:latin typeface="Roboto"/>
              </a:rPr>
              <a:t>Evidence as you go</a:t>
            </a:r>
          </a:p>
        </p:txBody>
      </p:sp>
      <p:sp>
        <p:nvSpPr>
          <p:cNvPr id="26" name="TextBox 25"/>
          <p:cNvSpPr txBox="1"/>
          <p:nvPr/>
        </p:nvSpPr>
        <p:spPr>
          <a:xfrm>
            <a:off x="2286000" y="5010912"/>
            <a:ext cx="9144000" cy="411480"/>
          </a:xfrm>
          <a:prstGeom prst="rect">
            <a:avLst/>
          </a:prstGeom>
          <a:noFill/>
        </p:spPr>
        <p:txBody>
          <a:bodyPr wrap="square" anchor="t">
            <a:spAutoFit/>
          </a:bodyPr>
          <a:lstStyle/>
          <a:p>
            <a:pPr algn="l">
              <a:lnSpc>
                <a:spcPct val="100000"/>
              </a:lnSpc>
              <a:spcAft>
                <a:spcPts val="600"/>
              </a:spcAft>
            </a:pPr>
            <a:r>
              <a:rPr sz="1200" b="0" i="0">
                <a:solidFill>
                  <a:srgbClr val="1C2430"/>
                </a:solidFill>
                <a:latin typeface="Roboto"/>
              </a:rPr>
              <a:t>Logs + tests + scans = audit file, automatically</a:t>
            </a:r>
          </a:p>
        </p:txBody>
      </p:sp>
      <p:sp>
        <p:nvSpPr>
          <p:cNvPr id="27" name="Rounded Rectangle 26"/>
          <p:cNvSpPr/>
          <p:nvPr/>
        </p:nvSpPr>
        <p:spPr>
          <a:xfrm>
            <a:off x="502920" y="5669280"/>
            <a:ext cx="11201400" cy="658368"/>
          </a:xfrm>
          <a:prstGeom prst="roundRect">
            <a:avLst>
              <a:gd name="adj" fmla="val 10000"/>
            </a:avLst>
          </a:prstGeom>
          <a:solidFill>
            <a:srgbClr val="012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5788152"/>
            <a:ext cx="10698480" cy="457200"/>
          </a:xfrm>
          <a:prstGeom prst="rect">
            <a:avLst/>
          </a:prstGeom>
          <a:noFill/>
        </p:spPr>
        <p:txBody>
          <a:bodyPr wrap="square" anchor="t">
            <a:spAutoFit/>
          </a:bodyPr>
          <a:lstStyle/>
          <a:p>
            <a:pPr algn="l">
              <a:lnSpc>
                <a:spcPct val="100000"/>
              </a:lnSpc>
              <a:spcAft>
                <a:spcPts val="600"/>
              </a:spcAft>
            </a:pPr>
            <a:r>
              <a:rPr sz="1500" b="1" i="0">
                <a:solidFill>
                  <a:srgbClr val="FFFFFF"/>
                </a:solidFill>
                <a:latin typeface="Roboto"/>
              </a:rPr>
              <a:t>Devin changes who does the labor — never who's in control.</a:t>
            </a:r>
          </a:p>
        </p:txBody>
      </p:sp>
      <p:sp>
        <p:nvSpPr>
          <p:cNvPr id="29" name="TextBox 28"/>
          <p:cNvSpPr txBox="1"/>
          <p:nvPr/>
        </p:nvSpPr>
        <p:spPr>
          <a:xfrm>
            <a:off x="502920" y="6473952"/>
            <a:ext cx="7315200" cy="292608"/>
          </a:xfrm>
          <a:prstGeom prst="rect">
            <a:avLst/>
          </a:prstGeom>
          <a:noFill/>
        </p:spPr>
        <p:txBody>
          <a:bodyPr wrap="square" anchor="t">
            <a:spAutoFit/>
          </a:bodyPr>
          <a:lstStyle/>
          <a:p>
            <a:pPr algn="l">
              <a:lnSpc>
                <a:spcPct val="100000"/>
              </a:lnSpc>
              <a:spcAft>
                <a:spcPts val="600"/>
              </a:spcAft>
            </a:pPr>
            <a:r>
              <a:rPr sz="900" b="0" i="0">
                <a:solidFill>
                  <a:srgbClr val="5A6472"/>
                </a:solidFill>
                <a:latin typeface="Roboto"/>
              </a:rPr>
              <a:t>Bank of America  ×  Cognition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70432"/>
          </a:xfrm>
          <a:prstGeom prst="rect">
            <a:avLst/>
          </a:prstGeom>
          <a:solidFill>
            <a:srgbClr val="012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50292"/>
          </a:xfrm>
          <a:prstGeom prst="rect">
            <a:avLst/>
          </a:prstGeom>
          <a:solidFill>
            <a:srgbClr val="E31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9601200" cy="320040"/>
          </a:xfrm>
          <a:prstGeom prst="rect">
            <a:avLst/>
          </a:prstGeom>
          <a:noFill/>
        </p:spPr>
        <p:txBody>
          <a:bodyPr wrap="square" anchor="t">
            <a:spAutoFit/>
          </a:bodyPr>
          <a:lstStyle/>
          <a:p>
            <a:pPr algn="l">
              <a:lnSpc>
                <a:spcPct val="100000"/>
              </a:lnSpc>
              <a:spcAft>
                <a:spcPts val="600"/>
              </a:spcAft>
            </a:pPr>
            <a:r>
              <a:rPr sz="1100" b="1" i="0">
                <a:solidFill>
                  <a:srgbClr val="9FB4E0"/>
                </a:solidFill>
                <a:latin typeface="Roboto"/>
              </a:rPr>
              <a:t>WHAT GOOD LOOKS LIKE</a:t>
            </a:r>
          </a:p>
        </p:txBody>
      </p:sp>
      <p:sp>
        <p:nvSpPr>
          <p:cNvPr id="5" name="TextBox 4"/>
          <p:cNvSpPr txBox="1"/>
          <p:nvPr/>
        </p:nvSpPr>
        <p:spPr>
          <a:xfrm>
            <a:off x="502920" y="384048"/>
            <a:ext cx="10424160" cy="731520"/>
          </a:xfrm>
          <a:prstGeom prst="rect">
            <a:avLst/>
          </a:prstGeom>
          <a:noFill/>
        </p:spPr>
        <p:txBody>
          <a:bodyPr wrap="square" anchor="ctr">
            <a:spAutoFit/>
          </a:bodyPr>
          <a:lstStyle/>
          <a:p>
            <a:pPr algn="l">
              <a:lnSpc>
                <a:spcPct val="100000"/>
              </a:lnSpc>
              <a:spcAft>
                <a:spcPts val="600"/>
              </a:spcAft>
            </a:pPr>
            <a:r>
              <a:rPr sz="2700" b="1" i="0">
                <a:solidFill>
                  <a:srgbClr val="FFFFFF"/>
                </a:solidFill>
                <a:latin typeface="Roboto"/>
              </a:rPr>
              <a:t>The end state: BofA running on Devin</a:t>
            </a:r>
          </a:p>
        </p:txBody>
      </p:sp>
      <p:sp>
        <p:nvSpPr>
          <p:cNvPr id="6" name="TextBox 5"/>
          <p:cNvSpPr txBox="1"/>
          <p:nvPr/>
        </p:nvSpPr>
        <p:spPr>
          <a:xfrm>
            <a:off x="11247120" y="384048"/>
            <a:ext cx="640080" cy="731520"/>
          </a:xfrm>
          <a:prstGeom prst="rect">
            <a:avLst/>
          </a:prstGeom>
          <a:noFill/>
        </p:spPr>
        <p:txBody>
          <a:bodyPr wrap="square" anchor="t">
            <a:spAutoFit/>
          </a:bodyPr>
          <a:lstStyle/>
          <a:p>
            <a:pPr algn="r">
              <a:lnSpc>
                <a:spcPct val="100000"/>
              </a:lnSpc>
              <a:spcAft>
                <a:spcPts val="600"/>
              </a:spcAft>
            </a:pPr>
            <a:r>
              <a:rPr sz="1400" b="0" i="0">
                <a:solidFill>
                  <a:srgbClr val="9FB4E0"/>
                </a:solidFill>
                <a:latin typeface="Roboto"/>
              </a:rPr>
              <a:t>8</a:t>
            </a:r>
          </a:p>
        </p:txBody>
      </p:sp>
      <p:sp>
        <p:nvSpPr>
          <p:cNvPr id="7" name="Rounded Rectangle 6"/>
          <p:cNvSpPr/>
          <p:nvPr/>
        </p:nvSpPr>
        <p:spPr>
          <a:xfrm>
            <a:off x="502920" y="1481328"/>
            <a:ext cx="3611880" cy="2286000"/>
          </a:xfrm>
          <a:prstGeom prst="roundRect">
            <a:avLst>
              <a:gd name="adj" fmla="val 6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591056"/>
            <a:ext cx="54864" cy="2066543"/>
          </a:xfrm>
          <a:prstGeom prst="rect">
            <a:avLst/>
          </a:prstGeom>
          <a:solidFill>
            <a:srgbClr val="E31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591056"/>
            <a:ext cx="3246120" cy="365760"/>
          </a:xfrm>
          <a:prstGeom prst="rect">
            <a:avLst/>
          </a:prstGeom>
          <a:noFill/>
        </p:spPr>
        <p:txBody>
          <a:bodyPr wrap="square" anchor="t">
            <a:spAutoFit/>
          </a:bodyPr>
          <a:lstStyle/>
          <a:p>
            <a:pPr algn="l">
              <a:lnSpc>
                <a:spcPct val="100000"/>
              </a:lnSpc>
              <a:spcAft>
                <a:spcPts val="600"/>
              </a:spcAft>
            </a:pPr>
            <a:r>
              <a:rPr sz="1400" b="1" i="0">
                <a:solidFill>
                  <a:srgbClr val="012169"/>
                </a:solidFill>
                <a:latin typeface="Roboto"/>
              </a:rPr>
              <a:t>This migration</a:t>
            </a:r>
          </a:p>
        </p:txBody>
      </p:sp>
      <p:sp>
        <p:nvSpPr>
          <p:cNvPr id="10" name="TextBox 9"/>
          <p:cNvSpPr txBox="1"/>
          <p:nvPr/>
        </p:nvSpPr>
        <p:spPr>
          <a:xfrm>
            <a:off x="704088" y="1956816"/>
            <a:ext cx="3246120" cy="1691640"/>
          </a:xfrm>
          <a:prstGeom prst="rect">
            <a:avLst/>
          </a:prstGeom>
          <a:noFill/>
        </p:spPr>
        <p:txBody>
          <a:bodyPr wrap="square" anchor="t">
            <a:spAutoFit/>
          </a:bodyPr>
          <a:lstStyle/>
          <a:p>
            <a:pPr algn="l">
              <a:lnSpc>
                <a:spcPct val="105000"/>
              </a:lnSpc>
              <a:spcAft>
                <a:spcPts val="500"/>
              </a:spcAft>
            </a:pPr>
            <a:r>
              <a:rPr sz="1400" b="0" i="0">
                <a:solidFill>
                  <a:srgbClr val="1C2430"/>
                </a:solidFill>
                <a:latin typeface="Roboto"/>
              </a:rPr>
              <a:t>Angular 18 before the deadline</a:t>
            </a:r>
          </a:p>
          <a:p>
            <a:pPr algn="l">
              <a:lnSpc>
                <a:spcPct val="105000"/>
              </a:lnSpc>
              <a:spcAft>
                <a:spcPts val="500"/>
              </a:spcAft>
            </a:pPr>
            <a:r>
              <a:rPr sz="1400" b="0" i="0">
                <a:solidFill>
                  <a:srgbClr val="1C2430"/>
                </a:solidFill>
                <a:latin typeface="Roboto"/>
              </a:rPr>
              <a:t>12+ teams unbroken</a:t>
            </a:r>
          </a:p>
          <a:p>
            <a:pPr algn="l">
              <a:lnSpc>
                <a:spcPct val="105000"/>
              </a:lnSpc>
              <a:spcAft>
                <a:spcPts val="500"/>
              </a:spcAft>
            </a:pPr>
            <a:r>
              <a:rPr sz="1400" b="0" i="0">
                <a:solidFill>
                  <a:srgbClr val="1C2430"/>
                </a:solidFill>
                <a:latin typeface="Roboto"/>
              </a:rPr>
              <a:t>Audit trail, automatic</a:t>
            </a:r>
          </a:p>
        </p:txBody>
      </p:sp>
      <p:sp>
        <p:nvSpPr>
          <p:cNvPr id="11" name="Rounded Rectangle 10"/>
          <p:cNvSpPr/>
          <p:nvPr/>
        </p:nvSpPr>
        <p:spPr>
          <a:xfrm>
            <a:off x="4297680" y="1481328"/>
            <a:ext cx="3611880" cy="2286000"/>
          </a:xfrm>
          <a:prstGeom prst="roundRect">
            <a:avLst>
              <a:gd name="adj" fmla="val 6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97680" y="1591056"/>
            <a:ext cx="54864" cy="2066543"/>
          </a:xfrm>
          <a:prstGeom prst="rect">
            <a:avLst/>
          </a:prstGeom>
          <a:solidFill>
            <a:srgbClr val="E31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98848" y="1591056"/>
            <a:ext cx="3246120" cy="365760"/>
          </a:xfrm>
          <a:prstGeom prst="rect">
            <a:avLst/>
          </a:prstGeom>
          <a:noFill/>
        </p:spPr>
        <p:txBody>
          <a:bodyPr wrap="square" anchor="t">
            <a:spAutoFit/>
          </a:bodyPr>
          <a:lstStyle/>
          <a:p>
            <a:pPr algn="l">
              <a:lnSpc>
                <a:spcPct val="100000"/>
              </a:lnSpc>
              <a:spcAft>
                <a:spcPts val="600"/>
              </a:spcAft>
            </a:pPr>
            <a:r>
              <a:rPr sz="1400" b="1" i="0">
                <a:solidFill>
                  <a:srgbClr val="012169"/>
                </a:solidFill>
                <a:latin typeface="Roboto"/>
              </a:rPr>
              <a:t>Your engineers</a:t>
            </a:r>
          </a:p>
        </p:txBody>
      </p:sp>
      <p:sp>
        <p:nvSpPr>
          <p:cNvPr id="14" name="TextBox 13"/>
          <p:cNvSpPr txBox="1"/>
          <p:nvPr/>
        </p:nvSpPr>
        <p:spPr>
          <a:xfrm>
            <a:off x="4498848" y="1956816"/>
            <a:ext cx="3246120" cy="1691640"/>
          </a:xfrm>
          <a:prstGeom prst="rect">
            <a:avLst/>
          </a:prstGeom>
          <a:noFill/>
        </p:spPr>
        <p:txBody>
          <a:bodyPr wrap="square" anchor="t">
            <a:spAutoFit/>
          </a:bodyPr>
          <a:lstStyle/>
          <a:p>
            <a:pPr algn="l">
              <a:lnSpc>
                <a:spcPct val="105000"/>
              </a:lnSpc>
              <a:spcAft>
                <a:spcPts val="500"/>
              </a:spcAft>
            </a:pPr>
            <a:r>
              <a:rPr sz="1400" b="0" i="0">
                <a:solidFill>
                  <a:srgbClr val="1C2430"/>
                </a:solidFill>
                <a:latin typeface="Roboto"/>
              </a:rPr>
              <a:t>Back on revenue features</a:t>
            </a:r>
          </a:p>
          <a:p>
            <a:pPr algn="l">
              <a:lnSpc>
                <a:spcPct val="105000"/>
              </a:lnSpc>
              <a:spcAft>
                <a:spcPts val="500"/>
              </a:spcAft>
            </a:pPr>
            <a:r>
              <a:rPr sz="1400" b="0" i="0">
                <a:solidFill>
                  <a:srgbClr val="1C2430"/>
                </a:solidFill>
                <a:latin typeface="Roboto"/>
              </a:rPr>
              <a:t>Reviewing, not hand-migrating</a:t>
            </a:r>
          </a:p>
        </p:txBody>
      </p:sp>
      <p:sp>
        <p:nvSpPr>
          <p:cNvPr id="15" name="Rounded Rectangle 14"/>
          <p:cNvSpPr/>
          <p:nvPr/>
        </p:nvSpPr>
        <p:spPr>
          <a:xfrm>
            <a:off x="8092440" y="1481328"/>
            <a:ext cx="3611880" cy="2286000"/>
          </a:xfrm>
          <a:prstGeom prst="roundRect">
            <a:avLst>
              <a:gd name="adj" fmla="val 6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92440" y="1591056"/>
            <a:ext cx="54864" cy="2066543"/>
          </a:xfrm>
          <a:prstGeom prst="rect">
            <a:avLst/>
          </a:prstGeom>
          <a:solidFill>
            <a:srgbClr val="E31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3608" y="1591056"/>
            <a:ext cx="3246120" cy="365760"/>
          </a:xfrm>
          <a:prstGeom prst="rect">
            <a:avLst/>
          </a:prstGeom>
          <a:noFill/>
        </p:spPr>
        <p:txBody>
          <a:bodyPr wrap="square" anchor="t">
            <a:spAutoFit/>
          </a:bodyPr>
          <a:lstStyle/>
          <a:p>
            <a:pPr algn="l">
              <a:lnSpc>
                <a:spcPct val="100000"/>
              </a:lnSpc>
              <a:spcAft>
                <a:spcPts val="600"/>
              </a:spcAft>
            </a:pPr>
            <a:r>
              <a:rPr sz="1400" b="1" i="0">
                <a:solidFill>
                  <a:srgbClr val="012169"/>
                </a:solidFill>
                <a:latin typeface="Roboto"/>
              </a:rPr>
              <a:t>The bigger unlock</a:t>
            </a:r>
          </a:p>
        </p:txBody>
      </p:sp>
      <p:sp>
        <p:nvSpPr>
          <p:cNvPr id="18" name="TextBox 17"/>
          <p:cNvSpPr txBox="1"/>
          <p:nvPr/>
        </p:nvSpPr>
        <p:spPr>
          <a:xfrm>
            <a:off x="8293608" y="1956816"/>
            <a:ext cx="3246120" cy="1691640"/>
          </a:xfrm>
          <a:prstGeom prst="rect">
            <a:avLst/>
          </a:prstGeom>
          <a:noFill/>
        </p:spPr>
        <p:txBody>
          <a:bodyPr wrap="square" anchor="t">
            <a:spAutoFit/>
          </a:bodyPr>
          <a:lstStyle/>
          <a:p>
            <a:pPr algn="l">
              <a:lnSpc>
                <a:spcPct val="105000"/>
              </a:lnSpc>
              <a:spcAft>
                <a:spcPts val="500"/>
              </a:spcAft>
            </a:pPr>
            <a:r>
              <a:rPr sz="1400" b="0" i="0">
                <a:solidFill>
                  <a:srgbClr val="1C2430"/>
                </a:solidFill>
                <a:latin typeface="Roboto"/>
              </a:rPr>
              <a:t>Angular 19, 20… become routine</a:t>
            </a:r>
          </a:p>
          <a:p>
            <a:pPr algn="l">
              <a:lnSpc>
                <a:spcPct val="105000"/>
              </a:lnSpc>
              <a:spcAft>
                <a:spcPts val="500"/>
              </a:spcAft>
            </a:pPr>
            <a:r>
              <a:rPr sz="1400" b="0" i="0">
                <a:solidFill>
                  <a:srgbClr val="1C2430"/>
                </a:solidFill>
                <a:latin typeface="Roboto"/>
              </a:rPr>
              <a:t>Same machinery: cloud migration, test coverage</a:t>
            </a:r>
          </a:p>
        </p:txBody>
      </p:sp>
      <p:sp>
        <p:nvSpPr>
          <p:cNvPr id="19" name="Rounded Rectangle 18"/>
          <p:cNvSpPr/>
          <p:nvPr/>
        </p:nvSpPr>
        <p:spPr>
          <a:xfrm>
            <a:off x="502920" y="4023360"/>
            <a:ext cx="11201400" cy="1051560"/>
          </a:xfrm>
          <a:prstGeom prst="roundRect">
            <a:avLst>
              <a:gd name="adj" fmla="val 10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224528"/>
            <a:ext cx="10698480" cy="777240"/>
          </a:xfrm>
          <a:prstGeom prst="rect">
            <a:avLst/>
          </a:prstGeom>
          <a:noFill/>
        </p:spPr>
        <p:txBody>
          <a:bodyPr wrap="square" anchor="t">
            <a:spAutoFit/>
          </a:bodyPr>
          <a:lstStyle/>
          <a:p>
            <a:pPr algn="l">
              <a:lnSpc>
                <a:spcPct val="100000"/>
              </a:lnSpc>
              <a:spcAft>
                <a:spcPts val="600"/>
              </a:spcAft>
            </a:pPr>
            <a:r>
              <a:rPr sz="1700" b="1" i="1">
                <a:solidFill>
                  <a:srgbClr val="012169"/>
                </a:solidFill>
                <a:latin typeface="Roboto"/>
              </a:rPr>
              <a:t>“We met a hard compliance deadline without pausing the roadmap.”</a:t>
            </a:r>
          </a:p>
        </p:txBody>
      </p:sp>
      <p:sp>
        <p:nvSpPr>
          <p:cNvPr id="21" name="TextBox 20"/>
          <p:cNvSpPr txBox="1"/>
          <p:nvPr/>
        </p:nvSpPr>
        <p:spPr>
          <a:xfrm>
            <a:off x="502920" y="6473952"/>
            <a:ext cx="7315200" cy="292608"/>
          </a:xfrm>
          <a:prstGeom prst="rect">
            <a:avLst/>
          </a:prstGeom>
          <a:noFill/>
        </p:spPr>
        <p:txBody>
          <a:bodyPr wrap="square" anchor="t">
            <a:spAutoFit/>
          </a:bodyPr>
          <a:lstStyle/>
          <a:p>
            <a:pPr algn="l">
              <a:lnSpc>
                <a:spcPct val="100000"/>
              </a:lnSpc>
              <a:spcAft>
                <a:spcPts val="600"/>
              </a:spcAft>
            </a:pPr>
            <a:r>
              <a:rPr sz="900" b="0" i="0">
                <a:solidFill>
                  <a:srgbClr val="5A6472"/>
                </a:solidFill>
                <a:latin typeface="Roboto"/>
              </a:rPr>
              <a:t>Bank of America  ×  Cognition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70432"/>
          </a:xfrm>
          <a:prstGeom prst="rect">
            <a:avLst/>
          </a:prstGeom>
          <a:solidFill>
            <a:srgbClr val="012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50292"/>
          </a:xfrm>
          <a:prstGeom prst="rect">
            <a:avLst/>
          </a:prstGeom>
          <a:solidFill>
            <a:srgbClr val="E31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9601200" cy="320040"/>
          </a:xfrm>
          <a:prstGeom prst="rect">
            <a:avLst/>
          </a:prstGeom>
          <a:noFill/>
        </p:spPr>
        <p:txBody>
          <a:bodyPr wrap="square" anchor="t">
            <a:spAutoFit/>
          </a:bodyPr>
          <a:lstStyle/>
          <a:p>
            <a:pPr algn="l">
              <a:lnSpc>
                <a:spcPct val="100000"/>
              </a:lnSpc>
              <a:spcAft>
                <a:spcPts val="600"/>
              </a:spcAft>
            </a:pPr>
            <a:r>
              <a:rPr sz="1100" b="1" i="0">
                <a:solidFill>
                  <a:srgbClr val="9FB4E0"/>
                </a:solidFill>
                <a:latin typeface="Roboto"/>
              </a:rPr>
              <a:t>LEAVING WITH A DECISION, NOT A DECK</a:t>
            </a:r>
          </a:p>
        </p:txBody>
      </p:sp>
      <p:sp>
        <p:nvSpPr>
          <p:cNvPr id="5" name="TextBox 4"/>
          <p:cNvSpPr txBox="1"/>
          <p:nvPr/>
        </p:nvSpPr>
        <p:spPr>
          <a:xfrm>
            <a:off x="502920" y="384048"/>
            <a:ext cx="10424160" cy="731520"/>
          </a:xfrm>
          <a:prstGeom prst="rect">
            <a:avLst/>
          </a:prstGeom>
          <a:noFill/>
        </p:spPr>
        <p:txBody>
          <a:bodyPr wrap="square" anchor="ctr">
            <a:spAutoFit/>
          </a:bodyPr>
          <a:lstStyle/>
          <a:p>
            <a:pPr algn="l">
              <a:lnSpc>
                <a:spcPct val="100000"/>
              </a:lnSpc>
              <a:spcAft>
                <a:spcPts val="600"/>
              </a:spcAft>
            </a:pPr>
            <a:r>
              <a:rPr sz="2700" b="1" i="0">
                <a:solidFill>
                  <a:srgbClr val="FFFFFF"/>
                </a:solidFill>
                <a:latin typeface="Roboto"/>
              </a:rPr>
              <a:t>Proposed next steps</a:t>
            </a:r>
          </a:p>
        </p:txBody>
      </p:sp>
      <p:sp>
        <p:nvSpPr>
          <p:cNvPr id="6" name="TextBox 5"/>
          <p:cNvSpPr txBox="1"/>
          <p:nvPr/>
        </p:nvSpPr>
        <p:spPr>
          <a:xfrm>
            <a:off x="11247120" y="384048"/>
            <a:ext cx="640080" cy="731520"/>
          </a:xfrm>
          <a:prstGeom prst="rect">
            <a:avLst/>
          </a:prstGeom>
          <a:noFill/>
        </p:spPr>
        <p:txBody>
          <a:bodyPr wrap="square" anchor="t">
            <a:spAutoFit/>
          </a:bodyPr>
          <a:lstStyle/>
          <a:p>
            <a:pPr algn="r">
              <a:lnSpc>
                <a:spcPct val="100000"/>
              </a:lnSpc>
              <a:spcAft>
                <a:spcPts val="600"/>
              </a:spcAft>
            </a:pPr>
            <a:r>
              <a:rPr sz="1400" b="0" i="0">
                <a:solidFill>
                  <a:srgbClr val="9FB4E0"/>
                </a:solidFill>
                <a:latin typeface="Roboto"/>
              </a:rPr>
              <a:t>9</a:t>
            </a:r>
          </a:p>
        </p:txBody>
      </p:sp>
      <p:sp>
        <p:nvSpPr>
          <p:cNvPr id="7" name="Rounded Rectangle 6"/>
          <p:cNvSpPr/>
          <p:nvPr/>
        </p:nvSpPr>
        <p:spPr>
          <a:xfrm>
            <a:off x="502920" y="1481328"/>
            <a:ext cx="11201400" cy="932688"/>
          </a:xfrm>
          <a:prstGeom prst="roundRect">
            <a:avLst>
              <a:gd name="adj" fmla="val 10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58368" y="1682496"/>
            <a:ext cx="530352" cy="530352"/>
          </a:xfrm>
          <a:prstGeom prst="ellipse">
            <a:avLst/>
          </a:prstGeom>
          <a:solidFill>
            <a:srgbClr val="E31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755648"/>
            <a:ext cx="530352" cy="402336"/>
          </a:xfrm>
          <a:prstGeom prst="rect">
            <a:avLst/>
          </a:prstGeom>
          <a:noFill/>
        </p:spPr>
        <p:txBody>
          <a:bodyPr wrap="square" anchor="t">
            <a:spAutoFit/>
          </a:bodyPr>
          <a:lstStyle/>
          <a:p>
            <a:pPr algn="ctr">
              <a:lnSpc>
                <a:spcPct val="100000"/>
              </a:lnSpc>
              <a:spcAft>
                <a:spcPts val="600"/>
              </a:spcAft>
            </a:pPr>
            <a:r>
              <a:rPr sz="1700" b="1" i="0">
                <a:solidFill>
                  <a:srgbClr val="FFFFFF"/>
                </a:solidFill>
                <a:latin typeface="Roboto"/>
              </a:rPr>
              <a:t>1</a:t>
            </a:r>
          </a:p>
        </p:txBody>
      </p:sp>
      <p:sp>
        <p:nvSpPr>
          <p:cNvPr id="10" name="TextBox 9"/>
          <p:cNvSpPr txBox="1"/>
          <p:nvPr/>
        </p:nvSpPr>
        <p:spPr>
          <a:xfrm>
            <a:off x="1417320" y="1591056"/>
            <a:ext cx="1417320" cy="685800"/>
          </a:xfrm>
          <a:prstGeom prst="rect">
            <a:avLst/>
          </a:prstGeom>
          <a:noFill/>
        </p:spPr>
        <p:txBody>
          <a:bodyPr wrap="square" anchor="t">
            <a:spAutoFit/>
          </a:bodyPr>
          <a:lstStyle/>
          <a:p>
            <a:pPr algn="l">
              <a:lnSpc>
                <a:spcPct val="100000"/>
              </a:lnSpc>
              <a:spcAft>
                <a:spcPts val="600"/>
              </a:spcAft>
            </a:pPr>
            <a:r>
              <a:rPr sz="1150" b="1" i="0">
                <a:solidFill>
                  <a:srgbClr val="E31837"/>
                </a:solidFill>
                <a:latin typeface="Roboto"/>
              </a:rPr>
              <a:t>This week</a:t>
            </a:r>
          </a:p>
        </p:txBody>
      </p:sp>
      <p:sp>
        <p:nvSpPr>
          <p:cNvPr id="11" name="TextBox 10"/>
          <p:cNvSpPr txBox="1"/>
          <p:nvPr/>
        </p:nvSpPr>
        <p:spPr>
          <a:xfrm>
            <a:off x="2834640" y="1591056"/>
            <a:ext cx="8595360" cy="365760"/>
          </a:xfrm>
          <a:prstGeom prst="rect">
            <a:avLst/>
          </a:prstGeom>
          <a:noFill/>
        </p:spPr>
        <p:txBody>
          <a:bodyPr wrap="square" anchor="t">
            <a:spAutoFit/>
          </a:bodyPr>
          <a:lstStyle/>
          <a:p>
            <a:pPr algn="l">
              <a:lnSpc>
                <a:spcPct val="100000"/>
              </a:lnSpc>
              <a:spcAft>
                <a:spcPts val="600"/>
              </a:spcAft>
            </a:pPr>
            <a:r>
              <a:rPr sz="1450" b="1" i="0">
                <a:solidFill>
                  <a:srgbClr val="012169"/>
                </a:solidFill>
                <a:latin typeface="Roboto"/>
              </a:rPr>
              <a:t>Security &amp; data review</a:t>
            </a:r>
          </a:p>
        </p:txBody>
      </p:sp>
      <p:sp>
        <p:nvSpPr>
          <p:cNvPr id="12" name="TextBox 11"/>
          <p:cNvSpPr txBox="1"/>
          <p:nvPr/>
        </p:nvSpPr>
        <p:spPr>
          <a:xfrm>
            <a:off x="2834640" y="1938528"/>
            <a:ext cx="8595360" cy="411480"/>
          </a:xfrm>
          <a:prstGeom prst="rect">
            <a:avLst/>
          </a:prstGeom>
          <a:noFill/>
        </p:spPr>
        <p:txBody>
          <a:bodyPr wrap="square" anchor="t">
            <a:spAutoFit/>
          </a:bodyPr>
          <a:lstStyle/>
          <a:p>
            <a:pPr algn="l">
              <a:lnSpc>
                <a:spcPct val="100000"/>
              </a:lnSpc>
              <a:spcAft>
                <a:spcPts val="600"/>
              </a:spcAft>
            </a:pPr>
            <a:r>
              <a:rPr sz="1150" b="0" i="0">
                <a:solidFill>
                  <a:srgbClr val="1C2430"/>
                </a:solidFill>
                <a:latin typeface="Roboto"/>
              </a:rPr>
              <a:t>Your security team + ours</a:t>
            </a:r>
          </a:p>
        </p:txBody>
      </p:sp>
      <p:sp>
        <p:nvSpPr>
          <p:cNvPr id="13" name="Rounded Rectangle 12"/>
          <p:cNvSpPr/>
          <p:nvPr/>
        </p:nvSpPr>
        <p:spPr>
          <a:xfrm>
            <a:off x="502920" y="2505456"/>
            <a:ext cx="11201400" cy="932688"/>
          </a:xfrm>
          <a:prstGeom prst="roundRect">
            <a:avLst>
              <a:gd name="adj" fmla="val 10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58368" y="2706624"/>
            <a:ext cx="530352" cy="530352"/>
          </a:xfrm>
          <a:prstGeom prst="ellipse">
            <a:avLst/>
          </a:prstGeom>
          <a:solidFill>
            <a:srgbClr val="E31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2779776"/>
            <a:ext cx="530352" cy="402336"/>
          </a:xfrm>
          <a:prstGeom prst="rect">
            <a:avLst/>
          </a:prstGeom>
          <a:noFill/>
        </p:spPr>
        <p:txBody>
          <a:bodyPr wrap="square" anchor="t">
            <a:spAutoFit/>
          </a:bodyPr>
          <a:lstStyle/>
          <a:p>
            <a:pPr algn="ctr">
              <a:lnSpc>
                <a:spcPct val="100000"/>
              </a:lnSpc>
              <a:spcAft>
                <a:spcPts val="600"/>
              </a:spcAft>
            </a:pPr>
            <a:r>
              <a:rPr sz="1700" b="1" i="0">
                <a:solidFill>
                  <a:srgbClr val="FFFFFF"/>
                </a:solidFill>
                <a:latin typeface="Roboto"/>
              </a:rPr>
              <a:t>2</a:t>
            </a:r>
          </a:p>
        </p:txBody>
      </p:sp>
      <p:sp>
        <p:nvSpPr>
          <p:cNvPr id="16" name="TextBox 15"/>
          <p:cNvSpPr txBox="1"/>
          <p:nvPr/>
        </p:nvSpPr>
        <p:spPr>
          <a:xfrm>
            <a:off x="1417320" y="2615184"/>
            <a:ext cx="1417320" cy="685800"/>
          </a:xfrm>
          <a:prstGeom prst="rect">
            <a:avLst/>
          </a:prstGeom>
          <a:noFill/>
        </p:spPr>
        <p:txBody>
          <a:bodyPr wrap="square" anchor="t">
            <a:spAutoFit/>
          </a:bodyPr>
          <a:lstStyle/>
          <a:p>
            <a:pPr algn="l">
              <a:lnSpc>
                <a:spcPct val="100000"/>
              </a:lnSpc>
              <a:spcAft>
                <a:spcPts val="600"/>
              </a:spcAft>
            </a:pPr>
            <a:r>
              <a:rPr sz="1150" b="1" i="0">
                <a:solidFill>
                  <a:srgbClr val="E31837"/>
                </a:solidFill>
                <a:latin typeface="Roboto"/>
              </a:rPr>
              <a:t>Next week</a:t>
            </a:r>
          </a:p>
        </p:txBody>
      </p:sp>
      <p:sp>
        <p:nvSpPr>
          <p:cNvPr id="17" name="TextBox 16"/>
          <p:cNvSpPr txBox="1"/>
          <p:nvPr/>
        </p:nvSpPr>
        <p:spPr>
          <a:xfrm>
            <a:off x="2834640" y="2615184"/>
            <a:ext cx="8595360" cy="365760"/>
          </a:xfrm>
          <a:prstGeom prst="rect">
            <a:avLst/>
          </a:prstGeom>
          <a:noFill/>
        </p:spPr>
        <p:txBody>
          <a:bodyPr wrap="square" anchor="t">
            <a:spAutoFit/>
          </a:bodyPr>
          <a:lstStyle/>
          <a:p>
            <a:pPr algn="l">
              <a:lnSpc>
                <a:spcPct val="100000"/>
              </a:lnSpc>
              <a:spcAft>
                <a:spcPts val="600"/>
              </a:spcAft>
            </a:pPr>
            <a:r>
              <a:rPr sz="1450" b="1" i="0">
                <a:solidFill>
                  <a:srgbClr val="012169"/>
                </a:solidFill>
                <a:latin typeface="Roboto"/>
              </a:rPr>
              <a:t>Pick the pilot slice</a:t>
            </a:r>
          </a:p>
        </p:txBody>
      </p:sp>
      <p:sp>
        <p:nvSpPr>
          <p:cNvPr id="18" name="TextBox 17"/>
          <p:cNvSpPr txBox="1"/>
          <p:nvPr/>
        </p:nvSpPr>
        <p:spPr>
          <a:xfrm>
            <a:off x="2834640" y="2962656"/>
            <a:ext cx="8595360" cy="411480"/>
          </a:xfrm>
          <a:prstGeom prst="rect">
            <a:avLst/>
          </a:prstGeom>
          <a:noFill/>
        </p:spPr>
        <p:txBody>
          <a:bodyPr wrap="square" anchor="t">
            <a:spAutoFit/>
          </a:bodyPr>
          <a:lstStyle/>
          <a:p>
            <a:pPr algn="l">
              <a:lnSpc>
                <a:spcPct val="100000"/>
              </a:lnSpc>
              <a:spcAft>
                <a:spcPts val="600"/>
              </a:spcAft>
            </a:pPr>
            <a:r>
              <a:rPr sz="1150" b="0" i="0">
                <a:solidFill>
                  <a:srgbClr val="1C2430"/>
                </a:solidFill>
                <a:latin typeface="Roboto"/>
              </a:rPr>
              <a:t>One real repo, your success criteria</a:t>
            </a:r>
          </a:p>
        </p:txBody>
      </p:sp>
      <p:sp>
        <p:nvSpPr>
          <p:cNvPr id="19" name="Rounded Rectangle 18"/>
          <p:cNvSpPr/>
          <p:nvPr/>
        </p:nvSpPr>
        <p:spPr>
          <a:xfrm>
            <a:off x="502920" y="3529584"/>
            <a:ext cx="11201400" cy="932688"/>
          </a:xfrm>
          <a:prstGeom prst="roundRect">
            <a:avLst>
              <a:gd name="adj" fmla="val 10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8368" y="3730752"/>
            <a:ext cx="530352" cy="530352"/>
          </a:xfrm>
          <a:prstGeom prst="ellipse">
            <a:avLst/>
          </a:prstGeom>
          <a:solidFill>
            <a:srgbClr val="E31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3803904"/>
            <a:ext cx="530352" cy="402336"/>
          </a:xfrm>
          <a:prstGeom prst="rect">
            <a:avLst/>
          </a:prstGeom>
          <a:noFill/>
        </p:spPr>
        <p:txBody>
          <a:bodyPr wrap="square" anchor="t">
            <a:spAutoFit/>
          </a:bodyPr>
          <a:lstStyle/>
          <a:p>
            <a:pPr algn="ctr">
              <a:lnSpc>
                <a:spcPct val="100000"/>
              </a:lnSpc>
              <a:spcAft>
                <a:spcPts val="600"/>
              </a:spcAft>
            </a:pPr>
            <a:r>
              <a:rPr sz="1700" b="1" i="0">
                <a:solidFill>
                  <a:srgbClr val="FFFFFF"/>
                </a:solidFill>
                <a:latin typeface="Roboto"/>
              </a:rPr>
              <a:t>3</a:t>
            </a:r>
          </a:p>
        </p:txBody>
      </p:sp>
      <p:sp>
        <p:nvSpPr>
          <p:cNvPr id="22" name="TextBox 21"/>
          <p:cNvSpPr txBox="1"/>
          <p:nvPr/>
        </p:nvSpPr>
        <p:spPr>
          <a:xfrm>
            <a:off x="1417320" y="3639312"/>
            <a:ext cx="1417320" cy="685800"/>
          </a:xfrm>
          <a:prstGeom prst="rect">
            <a:avLst/>
          </a:prstGeom>
          <a:noFill/>
        </p:spPr>
        <p:txBody>
          <a:bodyPr wrap="square" anchor="t">
            <a:spAutoFit/>
          </a:bodyPr>
          <a:lstStyle/>
          <a:p>
            <a:pPr algn="l">
              <a:lnSpc>
                <a:spcPct val="100000"/>
              </a:lnSpc>
              <a:spcAft>
                <a:spcPts val="600"/>
              </a:spcAft>
            </a:pPr>
            <a:r>
              <a:rPr sz="1150" b="1" i="0">
                <a:solidFill>
                  <a:srgbClr val="E31837"/>
                </a:solidFill>
                <a:latin typeface="Roboto"/>
              </a:rPr>
              <a:t>Weeks 2–4</a:t>
            </a:r>
          </a:p>
        </p:txBody>
      </p:sp>
      <p:sp>
        <p:nvSpPr>
          <p:cNvPr id="23" name="TextBox 22"/>
          <p:cNvSpPr txBox="1"/>
          <p:nvPr/>
        </p:nvSpPr>
        <p:spPr>
          <a:xfrm>
            <a:off x="2834640" y="3639312"/>
            <a:ext cx="8595360" cy="365760"/>
          </a:xfrm>
          <a:prstGeom prst="rect">
            <a:avLst/>
          </a:prstGeom>
          <a:noFill/>
        </p:spPr>
        <p:txBody>
          <a:bodyPr wrap="square" anchor="t">
            <a:spAutoFit/>
          </a:bodyPr>
          <a:lstStyle/>
          <a:p>
            <a:pPr algn="l">
              <a:lnSpc>
                <a:spcPct val="100000"/>
              </a:lnSpc>
              <a:spcAft>
                <a:spcPts val="600"/>
              </a:spcAft>
            </a:pPr>
            <a:r>
              <a:rPr sz="1450" b="1" i="0">
                <a:solidFill>
                  <a:srgbClr val="012169"/>
                </a:solidFill>
                <a:latin typeface="Roboto"/>
              </a:rPr>
              <a:t>Bounded pilot</a:t>
            </a:r>
          </a:p>
        </p:txBody>
      </p:sp>
      <p:sp>
        <p:nvSpPr>
          <p:cNvPr id="24" name="TextBox 23"/>
          <p:cNvSpPr txBox="1"/>
          <p:nvPr/>
        </p:nvSpPr>
        <p:spPr>
          <a:xfrm>
            <a:off x="2834640" y="3986784"/>
            <a:ext cx="8595360" cy="411480"/>
          </a:xfrm>
          <a:prstGeom prst="rect">
            <a:avLst/>
          </a:prstGeom>
          <a:noFill/>
        </p:spPr>
        <p:txBody>
          <a:bodyPr wrap="square" anchor="t">
            <a:spAutoFit/>
          </a:bodyPr>
          <a:lstStyle/>
          <a:p>
            <a:pPr algn="l">
              <a:lnSpc>
                <a:spcPct val="100000"/>
              </a:lnSpc>
              <a:spcAft>
                <a:spcPts val="600"/>
              </a:spcAft>
            </a:pPr>
            <a:r>
              <a:rPr sz="1150" b="0" i="0">
                <a:solidFill>
                  <a:srgbClr val="1C2430"/>
                </a:solidFill>
                <a:latin typeface="Roboto"/>
              </a:rPr>
              <a:t>Devin migrates it; your engineers review; we measure</a:t>
            </a:r>
          </a:p>
        </p:txBody>
      </p:sp>
      <p:sp>
        <p:nvSpPr>
          <p:cNvPr id="25" name="Rounded Rectangle 24"/>
          <p:cNvSpPr/>
          <p:nvPr/>
        </p:nvSpPr>
        <p:spPr>
          <a:xfrm>
            <a:off x="502920" y="4553712"/>
            <a:ext cx="11201400" cy="932688"/>
          </a:xfrm>
          <a:prstGeom prst="roundRect">
            <a:avLst>
              <a:gd name="adj" fmla="val 10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58368" y="4754880"/>
            <a:ext cx="530352" cy="530352"/>
          </a:xfrm>
          <a:prstGeom prst="ellipse">
            <a:avLst/>
          </a:prstGeom>
          <a:solidFill>
            <a:srgbClr val="E31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 y="4828032"/>
            <a:ext cx="530352" cy="402336"/>
          </a:xfrm>
          <a:prstGeom prst="rect">
            <a:avLst/>
          </a:prstGeom>
          <a:noFill/>
        </p:spPr>
        <p:txBody>
          <a:bodyPr wrap="square" anchor="t">
            <a:spAutoFit/>
          </a:bodyPr>
          <a:lstStyle/>
          <a:p>
            <a:pPr algn="ctr">
              <a:lnSpc>
                <a:spcPct val="100000"/>
              </a:lnSpc>
              <a:spcAft>
                <a:spcPts val="600"/>
              </a:spcAft>
            </a:pPr>
            <a:r>
              <a:rPr sz="1700" b="1" i="0">
                <a:solidFill>
                  <a:srgbClr val="FFFFFF"/>
                </a:solidFill>
                <a:latin typeface="Roboto"/>
              </a:rPr>
              <a:t>4</a:t>
            </a:r>
          </a:p>
        </p:txBody>
      </p:sp>
      <p:sp>
        <p:nvSpPr>
          <p:cNvPr id="28" name="TextBox 27"/>
          <p:cNvSpPr txBox="1"/>
          <p:nvPr/>
        </p:nvSpPr>
        <p:spPr>
          <a:xfrm>
            <a:off x="1417320" y="4663440"/>
            <a:ext cx="1417320" cy="685800"/>
          </a:xfrm>
          <a:prstGeom prst="rect">
            <a:avLst/>
          </a:prstGeom>
          <a:noFill/>
        </p:spPr>
        <p:txBody>
          <a:bodyPr wrap="square" anchor="t">
            <a:spAutoFit/>
          </a:bodyPr>
          <a:lstStyle/>
          <a:p>
            <a:pPr algn="l">
              <a:lnSpc>
                <a:spcPct val="100000"/>
              </a:lnSpc>
              <a:spcAft>
                <a:spcPts val="600"/>
              </a:spcAft>
            </a:pPr>
            <a:r>
              <a:rPr sz="1150" b="1" i="0">
                <a:solidFill>
                  <a:srgbClr val="E31837"/>
                </a:solidFill>
                <a:latin typeface="Roboto"/>
              </a:rPr>
              <a:t>Week 4</a:t>
            </a:r>
          </a:p>
        </p:txBody>
      </p:sp>
      <p:sp>
        <p:nvSpPr>
          <p:cNvPr id="29" name="TextBox 28"/>
          <p:cNvSpPr txBox="1"/>
          <p:nvPr/>
        </p:nvSpPr>
        <p:spPr>
          <a:xfrm>
            <a:off x="2834640" y="4663440"/>
            <a:ext cx="8595360" cy="365760"/>
          </a:xfrm>
          <a:prstGeom prst="rect">
            <a:avLst/>
          </a:prstGeom>
          <a:noFill/>
        </p:spPr>
        <p:txBody>
          <a:bodyPr wrap="square" anchor="t">
            <a:spAutoFit/>
          </a:bodyPr>
          <a:lstStyle/>
          <a:p>
            <a:pPr algn="l">
              <a:lnSpc>
                <a:spcPct val="100000"/>
              </a:lnSpc>
              <a:spcAft>
                <a:spcPts val="600"/>
              </a:spcAft>
            </a:pPr>
            <a:r>
              <a:rPr sz="1450" b="1" i="0">
                <a:solidFill>
                  <a:srgbClr val="012169"/>
                </a:solidFill>
                <a:latin typeface="Roboto"/>
              </a:rPr>
              <a:t>Go / no-go readout</a:t>
            </a:r>
          </a:p>
        </p:txBody>
      </p:sp>
      <p:sp>
        <p:nvSpPr>
          <p:cNvPr id="30" name="TextBox 29"/>
          <p:cNvSpPr txBox="1"/>
          <p:nvPr/>
        </p:nvSpPr>
        <p:spPr>
          <a:xfrm>
            <a:off x="2834640" y="5010912"/>
            <a:ext cx="8595360" cy="411480"/>
          </a:xfrm>
          <a:prstGeom prst="rect">
            <a:avLst/>
          </a:prstGeom>
          <a:noFill/>
        </p:spPr>
        <p:txBody>
          <a:bodyPr wrap="square" anchor="t">
            <a:spAutoFit/>
          </a:bodyPr>
          <a:lstStyle/>
          <a:p>
            <a:pPr algn="l">
              <a:lnSpc>
                <a:spcPct val="100000"/>
              </a:lnSpc>
              <a:spcAft>
                <a:spcPts val="600"/>
              </a:spcAft>
            </a:pPr>
            <a:r>
              <a:rPr sz="1150" b="0" i="0">
                <a:solidFill>
                  <a:srgbClr val="1C2430"/>
                </a:solidFill>
                <a:latin typeface="Roboto"/>
              </a:rPr>
              <a:t>Results in front of this room</a:t>
            </a:r>
          </a:p>
        </p:txBody>
      </p:sp>
      <p:sp>
        <p:nvSpPr>
          <p:cNvPr id="31" name="TextBox 30"/>
          <p:cNvSpPr txBox="1"/>
          <p:nvPr/>
        </p:nvSpPr>
        <p:spPr>
          <a:xfrm>
            <a:off x="502920" y="5715000"/>
            <a:ext cx="11201400" cy="548640"/>
          </a:xfrm>
          <a:prstGeom prst="rect">
            <a:avLst/>
          </a:prstGeom>
          <a:noFill/>
        </p:spPr>
        <p:txBody>
          <a:bodyPr wrap="square" anchor="t">
            <a:spAutoFit/>
          </a:bodyPr>
          <a:lstStyle/>
          <a:p>
            <a:pPr algn="l">
              <a:lnSpc>
                <a:spcPct val="100000"/>
              </a:lnSpc>
              <a:spcAft>
                <a:spcPts val="600"/>
              </a:spcAft>
            </a:pPr>
            <a:r>
              <a:rPr sz="1400" b="1" i="0">
                <a:solidFill>
                  <a:srgbClr val="E31837"/>
                </a:solidFill>
                <a:latin typeface="Roboto"/>
              </a:rPr>
              <a:t>The ask:  </a:t>
            </a:r>
            <a:r>
              <a:rPr sz="1400" b="1" i="0">
                <a:solidFill>
                  <a:srgbClr val="012169"/>
                </a:solidFill>
                <a:latin typeface="Roboto"/>
              </a:rPr>
              <a:t>one repo, four weeks, your success criteria.</a:t>
            </a:r>
          </a:p>
        </p:txBody>
      </p:sp>
      <p:sp>
        <p:nvSpPr>
          <p:cNvPr id="32" name="TextBox 31"/>
          <p:cNvSpPr txBox="1"/>
          <p:nvPr/>
        </p:nvSpPr>
        <p:spPr>
          <a:xfrm>
            <a:off x="502920" y="6473952"/>
            <a:ext cx="7315200" cy="292608"/>
          </a:xfrm>
          <a:prstGeom prst="rect">
            <a:avLst/>
          </a:prstGeom>
          <a:noFill/>
        </p:spPr>
        <p:txBody>
          <a:bodyPr wrap="square" anchor="t">
            <a:spAutoFit/>
          </a:bodyPr>
          <a:lstStyle/>
          <a:p>
            <a:pPr algn="l">
              <a:lnSpc>
                <a:spcPct val="100000"/>
              </a:lnSpc>
              <a:spcAft>
                <a:spcPts val="600"/>
              </a:spcAft>
            </a:pPr>
            <a:r>
              <a:rPr sz="900" b="0" i="0">
                <a:solidFill>
                  <a:srgbClr val="5A6472"/>
                </a:solidFill>
                <a:latin typeface="Roboto"/>
              </a:rPr>
              <a:t>Bank of America  ×  Cognition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12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566160"/>
            <a:ext cx="12191695" cy="54864"/>
          </a:xfrm>
          <a:prstGeom prst="rect">
            <a:avLst/>
          </a:prstGeom>
          <a:solidFill>
            <a:srgbClr val="E31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651760"/>
            <a:ext cx="10515600" cy="822960"/>
          </a:xfrm>
          <a:prstGeom prst="rect">
            <a:avLst/>
          </a:prstGeom>
          <a:noFill/>
        </p:spPr>
        <p:txBody>
          <a:bodyPr wrap="square" anchor="t">
            <a:spAutoFit/>
          </a:bodyPr>
          <a:lstStyle/>
          <a:p>
            <a:pPr algn="l">
              <a:lnSpc>
                <a:spcPct val="100000"/>
              </a:lnSpc>
              <a:spcAft>
                <a:spcPts val="600"/>
              </a:spcAft>
            </a:pPr>
            <a:r>
              <a:rPr sz="3400" b="1" i="0">
                <a:solidFill>
                  <a:srgbClr val="FFFFFF"/>
                </a:solidFill>
                <a:latin typeface="Roboto"/>
              </a:rPr>
              <a:t>Appendix — Prep Material (not presented)</a:t>
            </a:r>
          </a:p>
        </p:txBody>
      </p:sp>
      <p:sp>
        <p:nvSpPr>
          <p:cNvPr id="5" name="TextBox 4"/>
          <p:cNvSpPr txBox="1"/>
          <p:nvPr/>
        </p:nvSpPr>
        <p:spPr>
          <a:xfrm>
            <a:off x="822960" y="3794760"/>
            <a:ext cx="10058400" cy="914400"/>
          </a:xfrm>
          <a:prstGeom prst="rect">
            <a:avLst/>
          </a:prstGeom>
          <a:noFill/>
        </p:spPr>
        <p:txBody>
          <a:bodyPr wrap="square" anchor="t">
            <a:spAutoFit/>
          </a:bodyPr>
          <a:lstStyle/>
          <a:p>
            <a:pPr algn="l">
              <a:lnSpc>
                <a:spcPct val="100000"/>
              </a:lnSpc>
              <a:spcAft>
                <a:spcPts val="600"/>
              </a:spcAft>
            </a:pPr>
            <a:r>
              <a:rPr sz="1600" b="0" i="0">
                <a:solidFill>
                  <a:srgbClr val="C9D4EC"/>
                </a:solidFill>
                <a:latin typeface="Roboto"/>
              </a:rPr>
              <a:t>A. Objection handling — if the room pushes back</a:t>
            </a:r>
          </a:p>
          <a:p>
            <a:pPr algn="l">
              <a:lnSpc>
                <a:spcPct val="100000"/>
              </a:lnSpc>
              <a:spcAft>
                <a:spcPts val="600"/>
              </a:spcAft>
            </a:pPr>
            <a:r>
              <a:rPr sz="1600" b="0" i="0">
                <a:solidFill>
                  <a:srgbClr val="C9D4EC"/>
                </a:solidFill>
                <a:latin typeface="Roboto"/>
              </a:rPr>
              <a:t>B. Pre-meeting research checklist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70432"/>
          </a:xfrm>
          <a:prstGeom prst="rect">
            <a:avLst/>
          </a:prstGeom>
          <a:solidFill>
            <a:srgbClr val="012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50292"/>
          </a:xfrm>
          <a:prstGeom prst="rect">
            <a:avLst/>
          </a:prstGeom>
          <a:solidFill>
            <a:srgbClr val="E31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9601200" cy="320040"/>
          </a:xfrm>
          <a:prstGeom prst="rect">
            <a:avLst/>
          </a:prstGeom>
          <a:noFill/>
        </p:spPr>
        <p:txBody>
          <a:bodyPr wrap="square" anchor="t">
            <a:spAutoFit/>
          </a:bodyPr>
          <a:lstStyle/>
          <a:p>
            <a:pPr algn="l">
              <a:lnSpc>
                <a:spcPct val="100000"/>
              </a:lnSpc>
              <a:spcAft>
                <a:spcPts val="600"/>
              </a:spcAft>
            </a:pPr>
            <a:r>
              <a:rPr sz="1100" b="1" i="0">
                <a:solidFill>
                  <a:srgbClr val="9FB4E0"/>
                </a:solidFill>
                <a:latin typeface="Roboto"/>
              </a:rPr>
              <a:t>APPENDIX A</a:t>
            </a:r>
          </a:p>
        </p:txBody>
      </p:sp>
      <p:sp>
        <p:nvSpPr>
          <p:cNvPr id="5" name="TextBox 4"/>
          <p:cNvSpPr txBox="1"/>
          <p:nvPr/>
        </p:nvSpPr>
        <p:spPr>
          <a:xfrm>
            <a:off x="502920" y="384048"/>
            <a:ext cx="10424160" cy="731520"/>
          </a:xfrm>
          <a:prstGeom prst="rect">
            <a:avLst/>
          </a:prstGeom>
          <a:noFill/>
        </p:spPr>
        <p:txBody>
          <a:bodyPr wrap="square" anchor="ctr">
            <a:spAutoFit/>
          </a:bodyPr>
          <a:lstStyle/>
          <a:p>
            <a:pPr algn="l">
              <a:lnSpc>
                <a:spcPct val="100000"/>
              </a:lnSpc>
              <a:spcAft>
                <a:spcPts val="600"/>
              </a:spcAft>
            </a:pPr>
            <a:r>
              <a:rPr sz="2200" b="1" i="0">
                <a:solidFill>
                  <a:srgbClr val="FFFFFF"/>
                </a:solidFill>
                <a:latin typeface="Roboto"/>
              </a:rPr>
              <a:t>If the room pushes back: objections &amp; responses</a:t>
            </a:r>
          </a:p>
        </p:txBody>
      </p:sp>
      <p:sp>
        <p:nvSpPr>
          <p:cNvPr id="6" name="TextBox 5"/>
          <p:cNvSpPr txBox="1"/>
          <p:nvPr/>
        </p:nvSpPr>
        <p:spPr>
          <a:xfrm>
            <a:off x="11247120" y="384048"/>
            <a:ext cx="640080" cy="731520"/>
          </a:xfrm>
          <a:prstGeom prst="rect">
            <a:avLst/>
          </a:prstGeom>
          <a:noFill/>
        </p:spPr>
        <p:txBody>
          <a:bodyPr wrap="square" anchor="t">
            <a:spAutoFit/>
          </a:bodyPr>
          <a:lstStyle/>
          <a:p>
            <a:pPr algn="r">
              <a:lnSpc>
                <a:spcPct val="100000"/>
              </a:lnSpc>
              <a:spcAft>
                <a:spcPts val="600"/>
              </a:spcAft>
            </a:pPr>
            <a:r>
              <a:rPr sz="1400" b="0" i="0">
                <a:solidFill>
                  <a:srgbClr val="9FB4E0"/>
                </a:solidFill>
                <a:latin typeface="Roboto"/>
              </a:rPr>
              <a:t>A</a:t>
            </a:r>
          </a:p>
        </p:txBody>
      </p:sp>
      <p:sp>
        <p:nvSpPr>
          <p:cNvPr id="7" name="Rounded Rectangle 6"/>
          <p:cNvSpPr/>
          <p:nvPr/>
        </p:nvSpPr>
        <p:spPr>
          <a:xfrm>
            <a:off x="502920" y="1417320"/>
            <a:ext cx="11201400" cy="749808"/>
          </a:xfrm>
          <a:prstGeom prst="roundRect">
            <a:avLst>
              <a:gd name="adj" fmla="val 10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472184"/>
            <a:ext cx="4160520" cy="658368"/>
          </a:xfrm>
          <a:prstGeom prst="rect">
            <a:avLst/>
          </a:prstGeom>
          <a:noFill/>
        </p:spPr>
        <p:txBody>
          <a:bodyPr wrap="square" anchor="t">
            <a:spAutoFit/>
          </a:bodyPr>
          <a:lstStyle/>
          <a:p>
            <a:pPr algn="l">
              <a:lnSpc>
                <a:spcPct val="95000"/>
              </a:lnSpc>
              <a:spcAft>
                <a:spcPts val="600"/>
              </a:spcAft>
            </a:pPr>
            <a:r>
              <a:rPr sz="1050" b="1" i="1">
                <a:solidFill>
                  <a:srgbClr val="012169"/>
                </a:solidFill>
                <a:latin typeface="Roboto"/>
              </a:rPr>
              <a:t>“AI writing code for a bank? Our regulators will never allow it.”</a:t>
            </a:r>
          </a:p>
        </p:txBody>
      </p:sp>
      <p:sp>
        <p:nvSpPr>
          <p:cNvPr id="9" name="TextBox 8"/>
          <p:cNvSpPr txBox="1"/>
          <p:nvPr/>
        </p:nvSpPr>
        <p:spPr>
          <a:xfrm>
            <a:off x="5029200" y="1472184"/>
            <a:ext cx="6537960" cy="658368"/>
          </a:xfrm>
          <a:prstGeom prst="rect">
            <a:avLst/>
          </a:prstGeom>
          <a:noFill/>
        </p:spPr>
        <p:txBody>
          <a:bodyPr wrap="square" anchor="t">
            <a:spAutoFit/>
          </a:bodyPr>
          <a:lstStyle/>
          <a:p>
            <a:pPr algn="l">
              <a:lnSpc>
                <a:spcPct val="95000"/>
              </a:lnSpc>
              <a:spcAft>
                <a:spcPts val="600"/>
              </a:spcAft>
            </a:pPr>
            <a:r>
              <a:rPr sz="1000" b="0" i="0">
                <a:solidFill>
                  <a:srgbClr val="1C2430"/>
                </a:solidFill>
                <a:latin typeface="Roboto"/>
              </a:rPr>
              <a:t>Devin changes who types, not who approves. Every change goes through your existing review, CI, and release gates — the same controls you'd apply to a contractor. And it leaves a better audit trail than a human.</a:t>
            </a:r>
          </a:p>
        </p:txBody>
      </p:sp>
      <p:sp>
        <p:nvSpPr>
          <p:cNvPr id="10" name="Rounded Rectangle 9"/>
          <p:cNvSpPr/>
          <p:nvPr/>
        </p:nvSpPr>
        <p:spPr>
          <a:xfrm>
            <a:off x="502920" y="2240280"/>
            <a:ext cx="11201400" cy="749808"/>
          </a:xfrm>
          <a:prstGeom prst="roundRect">
            <a:avLst>
              <a:gd name="adj" fmla="val 10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295144"/>
            <a:ext cx="4160520" cy="658368"/>
          </a:xfrm>
          <a:prstGeom prst="rect">
            <a:avLst/>
          </a:prstGeom>
          <a:noFill/>
        </p:spPr>
        <p:txBody>
          <a:bodyPr wrap="square" anchor="t">
            <a:spAutoFit/>
          </a:bodyPr>
          <a:lstStyle/>
          <a:p>
            <a:pPr algn="l">
              <a:lnSpc>
                <a:spcPct val="95000"/>
              </a:lnSpc>
              <a:spcAft>
                <a:spcPts val="600"/>
              </a:spcAft>
            </a:pPr>
            <a:r>
              <a:rPr sz="1050" b="1" i="1">
                <a:solidFill>
                  <a:srgbClr val="012169"/>
                </a:solidFill>
                <a:latin typeface="Roboto"/>
              </a:rPr>
              <a:t>“We already have Copilot / internal AI tools.”</a:t>
            </a:r>
          </a:p>
        </p:txBody>
      </p:sp>
      <p:sp>
        <p:nvSpPr>
          <p:cNvPr id="12" name="TextBox 11"/>
          <p:cNvSpPr txBox="1"/>
          <p:nvPr/>
        </p:nvSpPr>
        <p:spPr>
          <a:xfrm>
            <a:off x="5029200" y="2295144"/>
            <a:ext cx="6537960" cy="658368"/>
          </a:xfrm>
          <a:prstGeom prst="rect">
            <a:avLst/>
          </a:prstGeom>
          <a:noFill/>
        </p:spPr>
        <p:txBody>
          <a:bodyPr wrap="square" anchor="t">
            <a:spAutoFit/>
          </a:bodyPr>
          <a:lstStyle/>
          <a:p>
            <a:pPr algn="l">
              <a:lnSpc>
                <a:spcPct val="95000"/>
              </a:lnSpc>
              <a:spcAft>
                <a:spcPts val="600"/>
              </a:spcAft>
            </a:pPr>
            <a:r>
              <a:rPr sz="1000" b="0" i="0">
                <a:solidFill>
                  <a:srgbClr val="1C2430"/>
                </a:solidFill>
                <a:latin typeface="Roboto"/>
              </a:rPr>
              <a:t>Complementary, not competing. Copilot accelerates an engineer who's already assigned. Devin absorbs whole task categories nobody wants assigned — migrations, upgrades, test debt.</a:t>
            </a:r>
          </a:p>
        </p:txBody>
      </p:sp>
      <p:sp>
        <p:nvSpPr>
          <p:cNvPr id="13" name="Rounded Rectangle 12"/>
          <p:cNvSpPr/>
          <p:nvPr/>
        </p:nvSpPr>
        <p:spPr>
          <a:xfrm>
            <a:off x="502920" y="3063240"/>
            <a:ext cx="11201400" cy="749808"/>
          </a:xfrm>
          <a:prstGeom prst="roundRect">
            <a:avLst>
              <a:gd name="adj" fmla="val 10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118104"/>
            <a:ext cx="4160520" cy="658368"/>
          </a:xfrm>
          <a:prstGeom prst="rect">
            <a:avLst/>
          </a:prstGeom>
          <a:noFill/>
        </p:spPr>
        <p:txBody>
          <a:bodyPr wrap="square" anchor="t">
            <a:spAutoFit/>
          </a:bodyPr>
          <a:lstStyle/>
          <a:p>
            <a:pPr algn="l">
              <a:lnSpc>
                <a:spcPct val="95000"/>
              </a:lnSpc>
              <a:spcAft>
                <a:spcPts val="600"/>
              </a:spcAft>
            </a:pPr>
            <a:r>
              <a:rPr sz="1050" b="1" i="1">
                <a:solidFill>
                  <a:srgbClr val="012169"/>
                </a:solidFill>
                <a:latin typeface="Roboto"/>
              </a:rPr>
              <a:t>“Our codebase is far bigger and messier than any demo.”</a:t>
            </a:r>
          </a:p>
        </p:txBody>
      </p:sp>
      <p:sp>
        <p:nvSpPr>
          <p:cNvPr id="15" name="TextBox 14"/>
          <p:cNvSpPr txBox="1"/>
          <p:nvPr/>
        </p:nvSpPr>
        <p:spPr>
          <a:xfrm>
            <a:off x="5029200" y="3118104"/>
            <a:ext cx="6537960" cy="658368"/>
          </a:xfrm>
          <a:prstGeom prst="rect">
            <a:avLst/>
          </a:prstGeom>
          <a:noFill/>
        </p:spPr>
        <p:txBody>
          <a:bodyPr wrap="square" anchor="t">
            <a:spAutoFit/>
          </a:bodyPr>
          <a:lstStyle/>
          <a:p>
            <a:pPr algn="l">
              <a:lnSpc>
                <a:spcPct val="95000"/>
              </a:lnSpc>
              <a:spcAft>
                <a:spcPts val="600"/>
              </a:spcAft>
            </a:pPr>
            <a:r>
              <a:rPr sz="1000" b="0" i="0">
                <a:solidFill>
                  <a:srgbClr val="1C2430"/>
                </a:solidFill>
                <a:latin typeface="Roboto"/>
              </a:rPr>
              <a:t>Agreed — that's why the pilot is on your code, your criteria, in four weeks. Scale actually favors Devin: it parallelizes across repos; humans don't.</a:t>
            </a:r>
          </a:p>
        </p:txBody>
      </p:sp>
      <p:sp>
        <p:nvSpPr>
          <p:cNvPr id="16" name="Rounded Rectangle 15"/>
          <p:cNvSpPr/>
          <p:nvPr/>
        </p:nvSpPr>
        <p:spPr>
          <a:xfrm>
            <a:off x="502920" y="3886200"/>
            <a:ext cx="11201400" cy="749808"/>
          </a:xfrm>
          <a:prstGeom prst="roundRect">
            <a:avLst>
              <a:gd name="adj" fmla="val 10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941063"/>
            <a:ext cx="4160520" cy="658368"/>
          </a:xfrm>
          <a:prstGeom prst="rect">
            <a:avLst/>
          </a:prstGeom>
          <a:noFill/>
        </p:spPr>
        <p:txBody>
          <a:bodyPr wrap="square" anchor="t">
            <a:spAutoFit/>
          </a:bodyPr>
          <a:lstStyle/>
          <a:p>
            <a:pPr algn="l">
              <a:lnSpc>
                <a:spcPct val="95000"/>
              </a:lnSpc>
              <a:spcAft>
                <a:spcPts val="600"/>
              </a:spcAft>
            </a:pPr>
            <a:r>
              <a:rPr sz="1050" b="1" i="1">
                <a:solidFill>
                  <a:srgbClr val="012169"/>
                </a:solidFill>
                <a:latin typeface="Roboto"/>
              </a:rPr>
              <a:t>“What about hallucinations / wrong code?”</a:t>
            </a:r>
          </a:p>
        </p:txBody>
      </p:sp>
      <p:sp>
        <p:nvSpPr>
          <p:cNvPr id="18" name="TextBox 17"/>
          <p:cNvSpPr txBox="1"/>
          <p:nvPr/>
        </p:nvSpPr>
        <p:spPr>
          <a:xfrm>
            <a:off x="5029200" y="3941063"/>
            <a:ext cx="6537960" cy="658368"/>
          </a:xfrm>
          <a:prstGeom prst="rect">
            <a:avLst/>
          </a:prstGeom>
          <a:noFill/>
        </p:spPr>
        <p:txBody>
          <a:bodyPr wrap="square" anchor="t">
            <a:spAutoFit/>
          </a:bodyPr>
          <a:lstStyle/>
          <a:p>
            <a:pPr algn="l">
              <a:lnSpc>
                <a:spcPct val="95000"/>
              </a:lnSpc>
              <a:spcAft>
                <a:spcPts val="600"/>
              </a:spcAft>
            </a:pPr>
            <a:r>
              <a:rPr sz="1000" b="0" i="0">
                <a:solidFill>
                  <a:srgbClr val="1C2430"/>
                </a:solidFill>
                <a:latin typeface="Roboto"/>
              </a:rPr>
              <a:t>Devin executes what it writes — builds, tests, and iterates until green before opening a PR. Wrong code fails your test suite and never reaches a human's desk, let alone production.</a:t>
            </a:r>
          </a:p>
        </p:txBody>
      </p:sp>
      <p:sp>
        <p:nvSpPr>
          <p:cNvPr id="19" name="Rounded Rectangle 18"/>
          <p:cNvSpPr/>
          <p:nvPr/>
        </p:nvSpPr>
        <p:spPr>
          <a:xfrm>
            <a:off x="502920" y="4709160"/>
            <a:ext cx="11201400" cy="749808"/>
          </a:xfrm>
          <a:prstGeom prst="roundRect">
            <a:avLst>
              <a:gd name="adj" fmla="val 10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764024"/>
            <a:ext cx="4160520" cy="658368"/>
          </a:xfrm>
          <a:prstGeom prst="rect">
            <a:avLst/>
          </a:prstGeom>
          <a:noFill/>
        </p:spPr>
        <p:txBody>
          <a:bodyPr wrap="square" anchor="t">
            <a:spAutoFit/>
          </a:bodyPr>
          <a:lstStyle/>
          <a:p>
            <a:pPr algn="l">
              <a:lnSpc>
                <a:spcPct val="95000"/>
              </a:lnSpc>
              <a:spcAft>
                <a:spcPts val="600"/>
              </a:spcAft>
            </a:pPr>
            <a:r>
              <a:rPr sz="1050" b="1" i="1">
                <a:solidFill>
                  <a:srgbClr val="012169"/>
                </a:solidFill>
                <a:latin typeface="Roboto"/>
              </a:rPr>
              <a:t>“Is this going to replace my engineers?”</a:t>
            </a:r>
          </a:p>
        </p:txBody>
      </p:sp>
      <p:sp>
        <p:nvSpPr>
          <p:cNvPr id="21" name="TextBox 20"/>
          <p:cNvSpPr txBox="1"/>
          <p:nvPr/>
        </p:nvSpPr>
        <p:spPr>
          <a:xfrm>
            <a:off x="5029200" y="4764024"/>
            <a:ext cx="6537960" cy="658368"/>
          </a:xfrm>
          <a:prstGeom prst="rect">
            <a:avLst/>
          </a:prstGeom>
          <a:noFill/>
        </p:spPr>
        <p:txBody>
          <a:bodyPr wrap="square" anchor="t">
            <a:spAutoFit/>
          </a:bodyPr>
          <a:lstStyle/>
          <a:p>
            <a:pPr algn="l">
              <a:lnSpc>
                <a:spcPct val="95000"/>
              </a:lnSpc>
              <a:spcAft>
                <a:spcPts val="600"/>
              </a:spcAft>
            </a:pPr>
            <a:r>
              <a:rPr sz="1000" b="0" i="0">
                <a:solidFill>
                  <a:srgbClr val="1C2430"/>
                </a:solidFill>
                <a:latin typeface="Roboto"/>
              </a:rPr>
              <a:t>It replaces the work your engineers resent, not the engineers. The pitch to your team: nobody hand-migrates *ngFor loops anymore; everyone reviews, designs, and ships features.</a:t>
            </a:r>
          </a:p>
        </p:txBody>
      </p:sp>
      <p:sp>
        <p:nvSpPr>
          <p:cNvPr id="22" name="Rounded Rectangle 21"/>
          <p:cNvSpPr/>
          <p:nvPr/>
        </p:nvSpPr>
        <p:spPr>
          <a:xfrm>
            <a:off x="502920" y="5532120"/>
            <a:ext cx="11201400" cy="749808"/>
          </a:xfrm>
          <a:prstGeom prst="roundRect">
            <a:avLst>
              <a:gd name="adj" fmla="val 10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586984"/>
            <a:ext cx="4160520" cy="658368"/>
          </a:xfrm>
          <a:prstGeom prst="rect">
            <a:avLst/>
          </a:prstGeom>
          <a:noFill/>
        </p:spPr>
        <p:txBody>
          <a:bodyPr wrap="square" anchor="t">
            <a:spAutoFit/>
          </a:bodyPr>
          <a:lstStyle/>
          <a:p>
            <a:pPr algn="l">
              <a:lnSpc>
                <a:spcPct val="95000"/>
              </a:lnSpc>
              <a:spcAft>
                <a:spcPts val="600"/>
              </a:spcAft>
            </a:pPr>
            <a:r>
              <a:rPr sz="1050" b="1" i="1">
                <a:solidFill>
                  <a:srgbClr val="012169"/>
                </a:solidFill>
                <a:latin typeface="Roboto"/>
              </a:rPr>
              <a:t>“Where does our code go? Data security?”</a:t>
            </a:r>
          </a:p>
        </p:txBody>
      </p:sp>
      <p:sp>
        <p:nvSpPr>
          <p:cNvPr id="24" name="TextBox 23"/>
          <p:cNvSpPr txBox="1"/>
          <p:nvPr/>
        </p:nvSpPr>
        <p:spPr>
          <a:xfrm>
            <a:off x="5029200" y="5586984"/>
            <a:ext cx="6537960" cy="658368"/>
          </a:xfrm>
          <a:prstGeom prst="rect">
            <a:avLst/>
          </a:prstGeom>
          <a:noFill/>
        </p:spPr>
        <p:txBody>
          <a:bodyPr wrap="square" anchor="t">
            <a:spAutoFit/>
          </a:bodyPr>
          <a:lstStyle/>
          <a:p>
            <a:pPr algn="l">
              <a:lnSpc>
                <a:spcPct val="95000"/>
              </a:lnSpc>
              <a:spcAft>
                <a:spcPts val="600"/>
              </a:spcAft>
            </a:pPr>
            <a:r>
              <a:rPr sz="1000" b="0" i="0">
                <a:solidFill>
                  <a:srgbClr val="1C2430"/>
                </a:solidFill>
                <a:latin typeface="Roboto"/>
              </a:rPr>
              <a:t>Answered properly in the week-0 security review — enterprise deployment and data-isolation options exist. Don't accept a hand-wave from me; bring your security team.</a:t>
            </a:r>
          </a:p>
        </p:txBody>
      </p:sp>
      <p:sp>
        <p:nvSpPr>
          <p:cNvPr id="25" name="TextBox 24"/>
          <p:cNvSpPr txBox="1"/>
          <p:nvPr/>
        </p:nvSpPr>
        <p:spPr>
          <a:xfrm>
            <a:off x="502920" y="6473952"/>
            <a:ext cx="7315200" cy="292608"/>
          </a:xfrm>
          <a:prstGeom prst="rect">
            <a:avLst/>
          </a:prstGeom>
          <a:noFill/>
        </p:spPr>
        <p:txBody>
          <a:bodyPr wrap="square" anchor="t">
            <a:spAutoFit/>
          </a:bodyPr>
          <a:lstStyle/>
          <a:p>
            <a:pPr algn="l">
              <a:lnSpc>
                <a:spcPct val="100000"/>
              </a:lnSpc>
              <a:spcAft>
                <a:spcPts val="600"/>
              </a:spcAft>
            </a:pPr>
            <a:r>
              <a:rPr sz="900" b="0" i="0">
                <a:solidFill>
                  <a:srgbClr val="5A6472"/>
                </a:solidFill>
                <a:latin typeface="Roboto"/>
              </a:rPr>
              <a:t>Bank of America  ×  Cognition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70432"/>
          </a:xfrm>
          <a:prstGeom prst="rect">
            <a:avLst/>
          </a:prstGeom>
          <a:solidFill>
            <a:srgbClr val="012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50292"/>
          </a:xfrm>
          <a:prstGeom prst="rect">
            <a:avLst/>
          </a:prstGeom>
          <a:solidFill>
            <a:srgbClr val="E31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9601200" cy="320040"/>
          </a:xfrm>
          <a:prstGeom prst="rect">
            <a:avLst/>
          </a:prstGeom>
          <a:noFill/>
        </p:spPr>
        <p:txBody>
          <a:bodyPr wrap="square" anchor="t">
            <a:spAutoFit/>
          </a:bodyPr>
          <a:lstStyle/>
          <a:p>
            <a:pPr algn="l">
              <a:lnSpc>
                <a:spcPct val="100000"/>
              </a:lnSpc>
              <a:spcAft>
                <a:spcPts val="600"/>
              </a:spcAft>
            </a:pPr>
            <a:r>
              <a:rPr sz="1100" b="1" i="0">
                <a:solidFill>
                  <a:srgbClr val="9FB4E0"/>
                </a:solidFill>
                <a:latin typeface="Roboto"/>
              </a:rPr>
              <a:t>APPENDIX B</a:t>
            </a:r>
          </a:p>
        </p:txBody>
      </p:sp>
      <p:sp>
        <p:nvSpPr>
          <p:cNvPr id="5" name="TextBox 4"/>
          <p:cNvSpPr txBox="1"/>
          <p:nvPr/>
        </p:nvSpPr>
        <p:spPr>
          <a:xfrm>
            <a:off x="502920" y="384048"/>
            <a:ext cx="10424160" cy="731520"/>
          </a:xfrm>
          <a:prstGeom prst="rect">
            <a:avLst/>
          </a:prstGeom>
          <a:noFill/>
        </p:spPr>
        <p:txBody>
          <a:bodyPr wrap="square" anchor="ctr">
            <a:spAutoFit/>
          </a:bodyPr>
          <a:lstStyle/>
          <a:p>
            <a:pPr algn="l">
              <a:lnSpc>
                <a:spcPct val="100000"/>
              </a:lnSpc>
              <a:spcAft>
                <a:spcPts val="600"/>
              </a:spcAft>
            </a:pPr>
            <a:r>
              <a:rPr sz="2200" b="1" i="0">
                <a:solidFill>
                  <a:srgbClr val="FFFFFF"/>
                </a:solidFill>
                <a:latin typeface="Roboto"/>
              </a:rPr>
              <a:t>Pre-meeting research checklist (do before the room)</a:t>
            </a:r>
          </a:p>
        </p:txBody>
      </p:sp>
      <p:sp>
        <p:nvSpPr>
          <p:cNvPr id="6" name="TextBox 5"/>
          <p:cNvSpPr txBox="1"/>
          <p:nvPr/>
        </p:nvSpPr>
        <p:spPr>
          <a:xfrm>
            <a:off x="11247120" y="384048"/>
            <a:ext cx="640080" cy="731520"/>
          </a:xfrm>
          <a:prstGeom prst="rect">
            <a:avLst/>
          </a:prstGeom>
          <a:noFill/>
        </p:spPr>
        <p:txBody>
          <a:bodyPr wrap="square" anchor="t">
            <a:spAutoFit/>
          </a:bodyPr>
          <a:lstStyle/>
          <a:p>
            <a:pPr algn="r">
              <a:lnSpc>
                <a:spcPct val="100000"/>
              </a:lnSpc>
              <a:spcAft>
                <a:spcPts val="600"/>
              </a:spcAft>
            </a:pPr>
            <a:r>
              <a:rPr sz="1400" b="0" i="0">
                <a:solidFill>
                  <a:srgbClr val="9FB4E0"/>
                </a:solidFill>
                <a:latin typeface="Roboto"/>
              </a:rPr>
              <a:t>B</a:t>
            </a:r>
          </a:p>
        </p:txBody>
      </p:sp>
      <p:sp>
        <p:nvSpPr>
          <p:cNvPr id="7" name="Rounded Rectangle 6"/>
          <p:cNvSpPr/>
          <p:nvPr/>
        </p:nvSpPr>
        <p:spPr>
          <a:xfrm>
            <a:off x="502920" y="1481328"/>
            <a:ext cx="5486400" cy="4206240"/>
          </a:xfrm>
          <a:prstGeom prst="roundRect">
            <a:avLst>
              <a:gd name="adj" fmla="val 6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591056"/>
            <a:ext cx="54864" cy="3986783"/>
          </a:xfrm>
          <a:prstGeom prst="rect">
            <a:avLst/>
          </a:prstGeom>
          <a:solidFill>
            <a:srgbClr val="E31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591056"/>
            <a:ext cx="5120640" cy="365760"/>
          </a:xfrm>
          <a:prstGeom prst="rect">
            <a:avLst/>
          </a:prstGeom>
          <a:noFill/>
        </p:spPr>
        <p:txBody>
          <a:bodyPr wrap="square" anchor="t">
            <a:spAutoFit/>
          </a:bodyPr>
          <a:lstStyle/>
          <a:p>
            <a:pPr algn="l">
              <a:lnSpc>
                <a:spcPct val="100000"/>
              </a:lnSpc>
              <a:spcAft>
                <a:spcPts val="600"/>
              </a:spcAft>
            </a:pPr>
            <a:r>
              <a:rPr sz="1400" b="1" i="0">
                <a:solidFill>
                  <a:srgbClr val="012169"/>
                </a:solidFill>
                <a:latin typeface="Roboto"/>
              </a:rPr>
              <a:t>About Bank of America</a:t>
            </a:r>
          </a:p>
        </p:txBody>
      </p:sp>
      <p:sp>
        <p:nvSpPr>
          <p:cNvPr id="10" name="TextBox 9"/>
          <p:cNvSpPr txBox="1"/>
          <p:nvPr/>
        </p:nvSpPr>
        <p:spPr>
          <a:xfrm>
            <a:off x="704088" y="1956816"/>
            <a:ext cx="5120640" cy="3611879"/>
          </a:xfrm>
          <a:prstGeom prst="rect">
            <a:avLst/>
          </a:prstGeom>
          <a:noFill/>
        </p:spPr>
        <p:txBody>
          <a:bodyPr wrap="square" anchor="t">
            <a:spAutoFit/>
          </a:bodyPr>
          <a:lstStyle/>
          <a:p>
            <a:pPr algn="l">
              <a:lnSpc>
                <a:spcPct val="105000"/>
              </a:lnSpc>
              <a:spcAft>
                <a:spcPts val="500"/>
              </a:spcAft>
            </a:pPr>
            <a:r>
              <a:rPr sz="1150" b="0" i="0">
                <a:solidFill>
                  <a:srgbClr val="1C2430"/>
                </a:solidFill>
                <a:latin typeface="Roboto"/>
              </a:rPr>
              <a:t>BofA tech budget: verify latest figure (~$12–13B total, ~$3.5–4B new initiatives) from most recent earnings call.</a:t>
            </a:r>
          </a:p>
          <a:p>
            <a:pPr algn="l">
              <a:lnSpc>
                <a:spcPct val="105000"/>
              </a:lnSpc>
              <a:spcAft>
                <a:spcPts val="500"/>
              </a:spcAft>
            </a:pPr>
            <a:r>
              <a:rPr sz="1150" b="0" i="0">
                <a:solidFill>
                  <a:srgbClr val="1C2430"/>
                </a:solidFill>
                <a:latin typeface="Roboto"/>
              </a:rPr>
              <a:t>Erica + AI posture: current interaction stats, AI patent counts, exec quotes (Aditya Bhasin, Hari Gopalkrishnan) on GenAI for developers.</a:t>
            </a:r>
          </a:p>
          <a:p>
            <a:pPr algn="l">
              <a:lnSpc>
                <a:spcPct val="105000"/>
              </a:lnSpc>
              <a:spcAft>
                <a:spcPts val="500"/>
              </a:spcAft>
            </a:pPr>
            <a:r>
              <a:rPr sz="1150" b="0" i="0">
                <a:solidFill>
                  <a:srgbClr val="1C2430"/>
                </a:solidFill>
                <a:latin typeface="Roboto"/>
              </a:rPr>
              <a:t>Angular evidence: pull 2–3 live BofA job postings listing Angular for digital banking — grounds the 'your stack' claim.</a:t>
            </a:r>
          </a:p>
          <a:p>
            <a:pPr algn="l">
              <a:lnSpc>
                <a:spcPct val="105000"/>
              </a:lnSpc>
              <a:spcAft>
                <a:spcPts val="500"/>
              </a:spcAft>
            </a:pPr>
            <a:r>
              <a:rPr sz="1150" b="0" i="0">
                <a:solidFill>
                  <a:srgbClr val="1C2430"/>
                </a:solidFill>
                <a:latin typeface="Roboto"/>
              </a:rPr>
              <a:t>Angular 14 EOL specifics: community EOL Nov 2023; check if BofA uses extended LTS (HeroDevs NES etc.) — changes urgency framing.</a:t>
            </a:r>
          </a:p>
          <a:p>
            <a:pPr algn="l">
              <a:lnSpc>
                <a:spcPct val="105000"/>
              </a:lnSpc>
              <a:spcAft>
                <a:spcPts val="500"/>
              </a:spcAft>
            </a:pPr>
            <a:r>
              <a:rPr sz="1150" b="0" i="0">
                <a:solidFill>
                  <a:srgbClr val="1C2430"/>
                </a:solidFill>
                <a:latin typeface="Roboto"/>
              </a:rPr>
              <a:t>Attendees: names, LinkedIn backgrounds, org context for all three; adjust the personas slide phrasing to match.</a:t>
            </a:r>
          </a:p>
        </p:txBody>
      </p:sp>
      <p:sp>
        <p:nvSpPr>
          <p:cNvPr id="11" name="Rounded Rectangle 10"/>
          <p:cNvSpPr/>
          <p:nvPr/>
        </p:nvSpPr>
        <p:spPr>
          <a:xfrm>
            <a:off x="6217920" y="1481328"/>
            <a:ext cx="5486400" cy="4206240"/>
          </a:xfrm>
          <a:prstGeom prst="roundRect">
            <a:avLst>
              <a:gd name="adj" fmla="val 6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91056"/>
            <a:ext cx="54864" cy="3986783"/>
          </a:xfrm>
          <a:prstGeom prst="rect">
            <a:avLst/>
          </a:prstGeom>
          <a:solidFill>
            <a:srgbClr val="E31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088" y="1591056"/>
            <a:ext cx="5120640" cy="365760"/>
          </a:xfrm>
          <a:prstGeom prst="rect">
            <a:avLst/>
          </a:prstGeom>
          <a:noFill/>
        </p:spPr>
        <p:txBody>
          <a:bodyPr wrap="square" anchor="t">
            <a:spAutoFit/>
          </a:bodyPr>
          <a:lstStyle/>
          <a:p>
            <a:pPr algn="l">
              <a:lnSpc>
                <a:spcPct val="100000"/>
              </a:lnSpc>
              <a:spcAft>
                <a:spcPts val="600"/>
              </a:spcAft>
            </a:pPr>
            <a:r>
              <a:rPr sz="1400" b="1" i="0">
                <a:solidFill>
                  <a:srgbClr val="012169"/>
                </a:solidFill>
                <a:latin typeface="Roboto"/>
              </a:rPr>
              <a:t>About Cognition / logistics</a:t>
            </a:r>
          </a:p>
        </p:txBody>
      </p:sp>
      <p:sp>
        <p:nvSpPr>
          <p:cNvPr id="14" name="TextBox 13"/>
          <p:cNvSpPr txBox="1"/>
          <p:nvPr/>
        </p:nvSpPr>
        <p:spPr>
          <a:xfrm>
            <a:off x="6419088" y="1956816"/>
            <a:ext cx="5120640" cy="3611879"/>
          </a:xfrm>
          <a:prstGeom prst="rect">
            <a:avLst/>
          </a:prstGeom>
          <a:noFill/>
        </p:spPr>
        <p:txBody>
          <a:bodyPr wrap="square" anchor="t">
            <a:spAutoFit/>
          </a:bodyPr>
          <a:lstStyle/>
          <a:p>
            <a:pPr algn="l">
              <a:lnSpc>
                <a:spcPct val="105000"/>
              </a:lnSpc>
              <a:spcAft>
                <a:spcPts val="500"/>
              </a:spcAft>
            </a:pPr>
            <a:r>
              <a:rPr sz="1150" b="0" i="0">
                <a:solidFill>
                  <a:srgbClr val="1C2430"/>
                </a:solidFill>
                <a:latin typeface="Roboto"/>
              </a:rPr>
              <a:t>Cognition enterprise story: deployment options (VPC/isolation), data residency, SOC 2 / compliance posture — know it cold for security Qs.</a:t>
            </a:r>
          </a:p>
          <a:p>
            <a:pPr algn="l">
              <a:lnSpc>
                <a:spcPct val="105000"/>
              </a:lnSpc>
              <a:spcAft>
                <a:spcPts val="500"/>
              </a:spcAft>
            </a:pPr>
            <a:r>
              <a:rPr sz="1150" b="0" i="0">
                <a:solidFill>
                  <a:srgbClr val="1C2430"/>
                </a:solidFill>
                <a:latin typeface="Roboto"/>
              </a:rPr>
              <a:t>Public financial-services references or case studies you're allowed to cite (banks, regulated industries).</a:t>
            </a:r>
          </a:p>
          <a:p>
            <a:pPr algn="l">
              <a:lnSpc>
                <a:spcPct val="105000"/>
              </a:lnSpc>
              <a:spcAft>
                <a:spcPts val="500"/>
              </a:spcAft>
            </a:pPr>
            <a:r>
              <a:rPr sz="1150" b="0" i="0">
                <a:solidFill>
                  <a:srgbClr val="1C2430"/>
                </a:solidFill>
                <a:latin typeface="Roboto"/>
              </a:rPr>
              <a:t>BofA AI governance: their published responsible-AI framework language — mirror it when discussing oversight.</a:t>
            </a:r>
          </a:p>
          <a:p>
            <a:pPr algn="l">
              <a:lnSpc>
                <a:spcPct val="105000"/>
              </a:lnSpc>
              <a:spcAft>
                <a:spcPts val="500"/>
              </a:spcAft>
            </a:pPr>
            <a:r>
              <a:rPr sz="1150" b="0" i="0">
                <a:solidFill>
                  <a:srgbClr val="1C2430"/>
                </a:solidFill>
                <a:latin typeface="Roboto"/>
              </a:rPr>
              <a:t>Pricing/pilot structure: know the current pilot commercial model so 'what does it cost' gets a confident one-liner.</a:t>
            </a:r>
          </a:p>
          <a:p>
            <a:pPr algn="l">
              <a:lnSpc>
                <a:spcPct val="105000"/>
              </a:lnSpc>
              <a:spcAft>
                <a:spcPts val="500"/>
              </a:spcAft>
            </a:pPr>
            <a:r>
              <a:rPr sz="1150" b="0" i="0">
                <a:solidFill>
                  <a:srgbClr val="1C2430"/>
                </a:solidFill>
                <a:latin typeface="Roboto"/>
              </a:rPr>
              <a:t>Rehearse demo failure recovery: git reset branches + recorded backup run tested on the presentation machine.</a:t>
            </a:r>
          </a:p>
        </p:txBody>
      </p:sp>
      <p:sp>
        <p:nvSpPr>
          <p:cNvPr id="15" name="TextBox 14"/>
          <p:cNvSpPr txBox="1"/>
          <p:nvPr/>
        </p:nvSpPr>
        <p:spPr>
          <a:xfrm>
            <a:off x="502920" y="5806440"/>
            <a:ext cx="11201400" cy="457200"/>
          </a:xfrm>
          <a:prstGeom prst="rect">
            <a:avLst/>
          </a:prstGeom>
          <a:noFill/>
        </p:spPr>
        <p:txBody>
          <a:bodyPr wrap="square" anchor="t">
            <a:spAutoFit/>
          </a:bodyPr>
          <a:lstStyle/>
          <a:p>
            <a:pPr algn="l">
              <a:lnSpc>
                <a:spcPct val="100000"/>
              </a:lnSpc>
              <a:spcAft>
                <a:spcPts val="600"/>
              </a:spcAft>
            </a:pPr>
            <a:r>
              <a:rPr sz="1200" b="1" i="0">
                <a:solidFill>
                  <a:srgbClr val="E31837"/>
                </a:solidFill>
                <a:latin typeface="Roboto"/>
              </a:rPr>
              <a:t>Rule of thumb: </a:t>
            </a:r>
            <a:r>
              <a:rPr sz="1200" b="0" i="1">
                <a:solidFill>
                  <a:srgbClr val="1C2430"/>
                </a:solidFill>
                <a:latin typeface="Roboto"/>
              </a:rPr>
              <a:t>every number you say out loud in that room should have a source you checked within the last month.</a:t>
            </a:r>
          </a:p>
        </p:txBody>
      </p:sp>
      <p:sp>
        <p:nvSpPr>
          <p:cNvPr id="16" name="TextBox 15"/>
          <p:cNvSpPr txBox="1"/>
          <p:nvPr/>
        </p:nvSpPr>
        <p:spPr>
          <a:xfrm>
            <a:off x="502920" y="6473952"/>
            <a:ext cx="7315200" cy="292608"/>
          </a:xfrm>
          <a:prstGeom prst="rect">
            <a:avLst/>
          </a:prstGeom>
          <a:noFill/>
        </p:spPr>
        <p:txBody>
          <a:bodyPr wrap="square" anchor="t">
            <a:spAutoFit/>
          </a:bodyPr>
          <a:lstStyle/>
          <a:p>
            <a:pPr algn="l">
              <a:lnSpc>
                <a:spcPct val="100000"/>
              </a:lnSpc>
              <a:spcAft>
                <a:spcPts val="600"/>
              </a:spcAft>
            </a:pPr>
            <a:r>
              <a:rPr sz="900" b="0" i="0">
                <a:solidFill>
                  <a:srgbClr val="5A6472"/>
                </a:solidFill>
                <a:latin typeface="Roboto"/>
              </a:rPr>
              <a:t>Bank of America  ×  Cognition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