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(~$12–13B cited publicly; ~$3.5–4B on new initiatives) from their most recent earnings call.</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The "run the bank" number is your credibility anchor — deliver it slowly: "Consistent with industry benchmarks — McKinsey and Gartner both put it here — roughly 70% of a major bank's IT budget goes to 'run the bank' operational maintenance, leaving limited capacity for the work that actually differentiates you. Applied to your own public numbers — $13.5B in tech spend, $4B+ on new initiatives — that maintenance baseline is on the order of $9.5B a year. That is exactly the category of work Devin takes on."</a:t>
            </a:r>
          </a:p>
          <a:p/>
          <a:p>
            <a:r>
              <a:t>McKinsey quote if they want the source verbatim: "'run the bank' and 'mandatory change' spending often represents up to 70 percent of technology budgets... leaving only limited capacity for investments that can drive competitive differentiation."</a:t>
            </a:r>
          </a:p>
          <a:p/>
          <a:p>
            <a:r>
              <a:t>SOURCES (have these open in a tab):</a:t>
            </a:r>
          </a:p>
          <a:p>
            <a:r>
              <a:t>- BofA Fast Facts — $13.5B tech, $4B+ new initiatives: https://newsroom.bankofamerica.com/content/newsroom/company-overview/bank-of-america-fast-facts.html</a:t>
            </a:r>
          </a:p>
          <a:p>
            <a:r>
              <a:t>- McKinsey, "Unlocking value from technology in banking": https://www.mckinsey.com/industries/financial-services/our-insights/unlocking-value-from-technology-in-banking-an-investor-lens</a:t>
            </a:r>
          </a:p>
          <a:p>
            <a:r>
              <a:t>Be clear the ~$9.5B is your own illustrative math (70% of $13.5B), not a figure BofA published — present it as "on the order of," not a hard number, in case someone checks.</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Adoption / "easy to pick up" point (land it on the VP Eng and Architect): "There's almost no new tool for your engineers to learn. Devin works through the same GitHub, the same pull requests, the same CI you already run. Your team's day-to-day changes from writing migrations by hand to reviewing PRs — something every engineer here already does all day. Onboarding is measured in hours, not a training program."</a:t>
            </a:r>
          </a:p>
          <a:p/>
          <a:p>
            <a:r>
              <a:t>Similar customers (social proof): "And you wouldn't be the first regulated enterprise to do this — [name the specific comparable customers/logos Cognition is cleared to reference here]." Only say names you are 100% authorized to share; if you can't name any, keep it general ("large regulated enterprises") rather than implying more than you can back up.</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a:p>
            <a:r>
              <a:t>- Confirm which comparable enterprise/financial-services customers Cognition is cleared to name out loud, and have 1–2 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"Here's what I'd propose. First, we sit down together and pick three use cases — the natural starting points are work like what you just watched: framework upgrades, migrations, test-coverage debt — but you know your backlog; whatever you'd never staff greenfield engineers on is a candidate. Then a security and data review so your team is comfortable. Then we run a pilot on ONE of the three — a real repo, four weeks, measured against criteria you define. If it earns its keep, we scale to the other two. If it doesn't, you've spent almost nothing finding out."</a:t>
            </a:r>
          </a:p>
          <a:p/>
          <a:p>
            <a:r>
              <a:t>Why 3 use cases but 1 pilot: picking three gets them mentally invested in a roadmap (not a one-off experiment), while piloting one keeps the ask small enough to say yes to today.</a:t>
            </a:r>
          </a:p>
          <a:p/>
          <a:p>
            <a:r>
              <a:t>Assign ownership live: use-case shortlist → VP Eng (it's their backlog); security review → Security Engineer; pilot repo + success criteria → Chief Architect.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1234440"/>
          </a:xfrm>
          <a:prstGeom prst="roundRect">
            <a:avLst>
              <a:gd name="adj" fmla="val 9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2468880" cy="868680"/>
          </a:xfrm>
          <a:prstGeom prst="rect">
            <a:avLst/>
          </a:prstGeom>
          <a:noFill/>
        </p:spPr>
        <p:txBody>
          <a:bodyPr wrap="square" anchor="ctr">
            <a:spAutoFit/>
          </a:bodyPr>
          <a:lstStyle/>
          <a:p>
            <a:pPr algn="l">
              <a:lnSpc>
                <a:spcPct val="100000"/>
              </a:lnSpc>
              <a:spcAft>
                <a:spcPts val="600"/>
              </a:spcAft>
            </a:pPr>
            <a:r>
              <a:rPr sz="4200" b="1" i="0">
                <a:solidFill>
                  <a:srgbClr val="E31837"/>
                </a:solidFill>
                <a:latin typeface="Roboto"/>
              </a:rPr>
              <a:t>~70%</a:t>
            </a:r>
          </a:p>
        </p:txBody>
      </p:sp>
      <p:sp>
        <p:nvSpPr>
          <p:cNvPr id="22" name="TextBox 21"/>
          <p:cNvSpPr txBox="1"/>
          <p:nvPr/>
        </p:nvSpPr>
        <p:spPr>
          <a:xfrm>
            <a:off x="3200400" y="4736592"/>
            <a:ext cx="8229600" cy="868680"/>
          </a:xfrm>
          <a:prstGeom prst="rect">
            <a:avLst/>
          </a:prstGeom>
          <a:noFill/>
        </p:spPr>
        <p:txBody>
          <a:bodyPr wrap="square" anchor="ctr">
            <a:spAutoFit/>
          </a:bodyPr>
          <a:lstStyle/>
          <a:p>
            <a:pPr algn="l">
              <a:lnSpc>
                <a:spcPct val="100000"/>
              </a:lnSpc>
              <a:spcAft>
                <a:spcPts val="600"/>
              </a:spcAft>
            </a:pPr>
            <a:r>
              <a:rPr sz="1500" b="1" i="0">
                <a:solidFill>
                  <a:srgbClr val="FFFFFF"/>
                </a:solidFill>
                <a:latin typeface="Roboto"/>
              </a:rPr>
              <a:t>of a major bank's tech budget goes to “running the bank,” not building it.</a:t>
            </a:r>
          </a:p>
          <a:p>
            <a:pPr algn="l">
              <a:lnSpc>
                <a:spcPct val="100000"/>
              </a:lnSpc>
              <a:spcAft>
                <a:spcPts val="600"/>
              </a:spcAft>
            </a:pPr>
            <a:r>
              <a:rPr sz="1250" b="0" i="0">
                <a:solidFill>
                  <a:srgbClr val="C9D4EC"/>
                </a:solidFill>
                <a:latin typeface="Roboto"/>
              </a:rPr>
              <a:t>For BofA that's ~$9.5B of $13.5B — the exact work Devin absorbs.</a:t>
            </a:r>
          </a:p>
        </p:txBody>
      </p:sp>
      <p:sp>
        <p:nvSpPr>
          <p:cNvPr id="23" name="TextBox 2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~$13.5B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fit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Engineers keep their GitHub + PR flow</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Low switching cost — and already proven at large, regulated enterprises.</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82496"/>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755648"/>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1</a:t>
            </a:r>
          </a:p>
        </p:txBody>
      </p:sp>
      <p:sp>
        <p:nvSpPr>
          <p:cNvPr id="10" name="TextBox 9"/>
          <p:cNvSpPr txBox="1"/>
          <p:nvPr/>
        </p:nvSpPr>
        <p:spPr>
          <a:xfrm>
            <a:off x="1417320" y="1591056"/>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This week</a:t>
            </a:r>
          </a:p>
        </p:txBody>
      </p:sp>
      <p:sp>
        <p:nvSpPr>
          <p:cNvPr id="11" name="TextBox 10"/>
          <p:cNvSpPr txBox="1"/>
          <p:nvPr/>
        </p:nvSpPr>
        <p:spPr>
          <a:xfrm>
            <a:off x="2834640" y="1591056"/>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Pick 3 use cases together</a:t>
            </a:r>
          </a:p>
        </p:txBody>
      </p:sp>
      <p:sp>
        <p:nvSpPr>
          <p:cNvPr id="12" name="TextBox 11"/>
          <p:cNvSpPr txBox="1"/>
          <p:nvPr/>
        </p:nvSpPr>
        <p:spPr>
          <a:xfrm>
            <a:off x="2834640" y="1938528"/>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Start with work like today's demo — upgrades, migrations, test debt</a:t>
            </a:r>
          </a:p>
        </p:txBody>
      </p:sp>
      <p:sp>
        <p:nvSpPr>
          <p:cNvPr id="13" name="Rounded Rectangle 12"/>
          <p:cNvSpPr/>
          <p:nvPr/>
        </p:nvSpPr>
        <p:spPr>
          <a:xfrm>
            <a:off x="502920" y="2505456"/>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706624"/>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779776"/>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2</a:t>
            </a:r>
          </a:p>
        </p:txBody>
      </p:sp>
      <p:sp>
        <p:nvSpPr>
          <p:cNvPr id="16" name="TextBox 15"/>
          <p:cNvSpPr txBox="1"/>
          <p:nvPr/>
        </p:nvSpPr>
        <p:spPr>
          <a:xfrm>
            <a:off x="1417320" y="2615184"/>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Next week</a:t>
            </a:r>
          </a:p>
        </p:txBody>
      </p:sp>
      <p:sp>
        <p:nvSpPr>
          <p:cNvPr id="17" name="TextBox 16"/>
          <p:cNvSpPr txBox="1"/>
          <p:nvPr/>
        </p:nvSpPr>
        <p:spPr>
          <a:xfrm>
            <a:off x="2834640" y="2615184"/>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Security &amp; data review</a:t>
            </a:r>
          </a:p>
        </p:txBody>
      </p:sp>
      <p:sp>
        <p:nvSpPr>
          <p:cNvPr id="18" name="TextBox 17"/>
          <p:cNvSpPr txBox="1"/>
          <p:nvPr/>
        </p:nvSpPr>
        <p:spPr>
          <a:xfrm>
            <a:off x="2834640" y="2962656"/>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Your security team + ours · define success criteria</a:t>
            </a:r>
          </a:p>
        </p:txBody>
      </p:sp>
      <p:sp>
        <p:nvSpPr>
          <p:cNvPr id="19" name="Rounded Rectangle 18"/>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730752"/>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03904"/>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3</a:t>
            </a:r>
          </a:p>
        </p:txBody>
      </p:sp>
      <p:sp>
        <p:nvSpPr>
          <p:cNvPr id="22" name="TextBox 21"/>
          <p:cNvSpPr txBox="1"/>
          <p:nvPr/>
        </p:nvSpPr>
        <p:spPr>
          <a:xfrm>
            <a:off x="1417320" y="3639312"/>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Weeks 2–4</a:t>
            </a:r>
          </a:p>
        </p:txBody>
      </p:sp>
      <p:sp>
        <p:nvSpPr>
          <p:cNvPr id="23" name="TextBox 22"/>
          <p:cNvSpPr txBox="1"/>
          <p:nvPr/>
        </p:nvSpPr>
        <p:spPr>
          <a:xfrm>
            <a:off x="2834640" y="3639312"/>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Run a pilot for you</a:t>
            </a:r>
          </a:p>
        </p:txBody>
      </p:sp>
      <p:sp>
        <p:nvSpPr>
          <p:cNvPr id="24" name="TextBox 23"/>
          <p:cNvSpPr txBox="1"/>
          <p:nvPr/>
        </p:nvSpPr>
        <p:spPr>
          <a:xfrm>
            <a:off x="2834640" y="3986784"/>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Devin works one real use case; your engineers review; we measure</a:t>
            </a:r>
          </a:p>
        </p:txBody>
      </p:sp>
      <p:sp>
        <p:nvSpPr>
          <p:cNvPr id="25" name="Rounded Rectangle 24"/>
          <p:cNvSpPr/>
          <p:nvPr/>
        </p:nvSpPr>
        <p:spPr>
          <a:xfrm>
            <a:off x="502920" y="4553712"/>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754880"/>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28032"/>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4</a:t>
            </a:r>
          </a:p>
        </p:txBody>
      </p:sp>
      <p:sp>
        <p:nvSpPr>
          <p:cNvPr id="28" name="TextBox 27"/>
          <p:cNvSpPr txBox="1"/>
          <p:nvPr/>
        </p:nvSpPr>
        <p:spPr>
          <a:xfrm>
            <a:off x="1417320" y="4663440"/>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 4</a:t>
            </a:r>
          </a:p>
        </p:txBody>
      </p:sp>
      <p:sp>
        <p:nvSpPr>
          <p:cNvPr id="29" name="TextBox 28"/>
          <p:cNvSpPr txBox="1"/>
          <p:nvPr/>
        </p:nvSpPr>
        <p:spPr>
          <a:xfrm>
            <a:off x="2834640" y="4663440"/>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Go / no-go readout</a:t>
            </a:r>
          </a:p>
        </p:txBody>
      </p:sp>
      <p:sp>
        <p:nvSpPr>
          <p:cNvPr id="30" name="TextBox 29"/>
          <p:cNvSpPr txBox="1"/>
          <p:nvPr/>
        </p:nvSpPr>
        <p:spPr>
          <a:xfrm>
            <a:off x="2834640" y="5010912"/>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Results in front of this room — then scale to the other two</a:t>
            </a:r>
          </a:p>
        </p:txBody>
      </p:sp>
      <p:sp>
        <p:nvSpPr>
          <p:cNvPr id="31" name="TextBox 30"/>
          <p:cNvSpPr txBox="1"/>
          <p:nvPr/>
        </p:nvSpPr>
        <p:spPr>
          <a:xfrm>
            <a:off x="502920" y="5715000"/>
            <a:ext cx="11201400" cy="548640"/>
          </a:xfrm>
          <a:prstGeom prst="rect">
            <a:avLst/>
          </a:prstGeom>
          <a:noFill/>
        </p:spPr>
        <p:txBody>
          <a:bodyPr wrap="square" anchor="t">
            <a:spAutoFit/>
          </a:bodyPr>
          <a:lstStyle/>
          <a:p>
            <a:pPr algn="l">
              <a:lnSpc>
                <a:spcPct val="100000"/>
              </a:lnSpc>
              <a:spcAft>
                <a:spcPts val="600"/>
              </a:spcAft>
            </a:pPr>
            <a:r>
              <a:rPr sz="1400" b="1" i="0">
                <a:solidFill>
                  <a:srgbClr val="E31837"/>
                </a:solidFill>
                <a:latin typeface="Roboto"/>
              </a:rPr>
              <a:t>The ask:  </a:t>
            </a:r>
            <a:r>
              <a:rPr sz="1400" b="1" i="0">
                <a:solidFill>
                  <a:srgbClr val="012169"/>
                </a:solidFill>
                <a:latin typeface="Roboto"/>
              </a:rPr>
              <a:t>three use cases, one pilot, four weeks, your success criteria.</a:t>
            </a:r>
          </a:p>
        </p:txBody>
      </p:sp>
      <p:sp>
        <p:nvSpPr>
          <p:cNvPr id="32" name="TextBox 3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(~$12–13B total, ~$3.5–4B new initiatives) from most recent earnings call.</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